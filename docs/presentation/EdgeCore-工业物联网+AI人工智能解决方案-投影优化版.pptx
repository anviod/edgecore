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0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notesSlides/notesSlide25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13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notesSlides/notesSlide16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p15="http://schemas.microsoft.com/office/powerpoint/2012/main" xmlns:r="http://schemas.openxmlformats.org/officeDocument/2006/relationships" xmlns:a="http://schemas.openxmlformats.org/drawingml/2006/main" xmlns:mc="http://schemas.openxmlformats.org/markup-compatibility/2006" firstSlideNum="1" mc:Ignorable="p15">
  <p:sldMasterIdLst>
    <p:sldMasterId id="2147483648" r:id="rId0"/>
  </p:sldMasterIdLst>
  <p:notesMasterIdLst>
    <p:notesMasterId r:id="rId3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2" Type="http://schemas.openxmlformats.org/officeDocument/2006/relationships/slide" Target="slides/slide22.xml" /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33" Type="http://schemas.openxmlformats.org/officeDocument/2006/relationships/viewProps" Target="viewProps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32" Type="http://schemas.openxmlformats.org/officeDocument/2006/relationships/tableStyles" Target="tableStyles.xml" /><Relationship Id="rId21" Type="http://schemas.openxmlformats.org/officeDocument/2006/relationships/slide" Target="slides/slide21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9" Type="http://schemas.openxmlformats.org/officeDocument/2006/relationships/slide" Target="slides/slide9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6" Type="http://schemas.openxmlformats.org/officeDocument/2006/relationships/slide" Target="slides/slide6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30" Type="http://schemas.openxmlformats.org/officeDocument/2006/relationships/notesMaster" Target="notesMasters/notesMaster1.xml" /><Relationship Id="rId8" Type="http://schemas.openxmlformats.org/officeDocument/2006/relationships/slide" Target="slides/slide8.xml" /><Relationship Id="rId31" Type="http://schemas.openxmlformats.org/officeDocument/2006/relationships/presProps" Target="pres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0F89C1C7-3DCD-1040-A9CF-14679D8B5DDD}" type="datetimeFigureOut">
              <a:rPr lang="en-US" smtClean="0"/>
              <a:t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BB5E49A5-4136-284D-997B-48E1D791AD67}" type="slidenum">
              <a:rPr lang="en-US" smtClean="0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<Relationships xmlns="http://schemas.openxmlformats.org/package/2006/relationships"><Relationship Id="rId0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4.xml.rels><?xml version="1.0" encoding="UTF-8" standalone="yes"?><Relationships xmlns="http://schemas.openxmlformats.org/package/2006/relationships"><Relationship Id="rId0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<Relationships xmlns="http://schemas.openxmlformats.org/package/2006/relationships"><Relationship Id="rId0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<Relationships xmlns="http://schemas.openxmlformats.org/package/2006/relationships"><Relationship Id="rId0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<Relationships xmlns="http://schemas.openxmlformats.org/package/2006/relationships"><Relationship Id="rId0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5.xml" /></Relationships>
</file>

<file path=ppt/notesSlides/_rels/notesSlide19.xml.rels><?xml version="1.0" encoding="UTF-8" standalone="yes"?><Relationships xmlns="http://schemas.openxmlformats.org/package/2006/relationships"><Relationship Id="rId0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<Relationships xmlns="http://schemas.openxmlformats.org/package/2006/relationships"><Relationship Id="rId0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<Relationships xmlns="http://schemas.openxmlformats.org/package/2006/relationships"><Relationship Id="rId0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<Relationships xmlns="http://schemas.openxmlformats.org/package/2006/relationships"><Relationship Id="rId0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24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27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EdgeCore 是一套面向工厂的工业物联网边缘计算方案。核心价值是把工厂里各种品牌、各种协议的设备数据统一采集上来，让管理人员在电脑或手机上实时看到设备状态，不再依赖人工巡检。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Go 1.25+ + Vue 3，单二进制 CGO_ENABLED=0，128MB/1GB，x86_64/ARM64/ARMv7。13 种协议覆盖 85% 工业场景。双库：config.db + runtime.db。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ShadowCore 状态模型：实时数据库，读延迟&lt;5ms，比直接读 PLC 快约 4.3 倍。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COW 快照原子切换，无锁读&lt;5ms，ShadowIngress 4096 环形 8ms flush。10k tag apply 约 952k tags/sec。虚拟影子支持跨设备公式。</a:t>
            </a:r>
            <a:endParaRPr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实测数据：万 Tag P95=1.56ms，零丢失，128MB 可运行，13 协议全通过。有压测报告和 Soak 长稳验证。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P95=1.56ms(SLA≤100ms)，drift avg=0.00ms，miss=0，GC max=0.10ms，吞吐 9823 pts/s。Soak：failure 0.143%，lag P95=1.66ms。</a:t>
            </a:r>
            <a:endParaRPr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第三节：EdgeOS 协调平台管多台网关——全局发现、跨网关调用、事件路由、AI 协同。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四层：治理(ACL/审计/Metrics)→编排(AI Planner/Scheduler/Lock)→核心(Discovery/Invoke/Event)→高可用(双母皇/MQTT+NATS)。N+2，切换&lt;5s。</a:t>
            </a:r>
            <a:endParaRPr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EdgeOS 架构：权限审计→编排层→核心服务→高可用。N+2 双母皇主备切换&lt;5s。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ACL 多租户+全程审计。AI Planner 工作流+优先级重试+资源锁。Discovery/Invoke/Event 全局索引。MQTT v5+NATS 2.x 双传输。</a:t>
            </a:r>
            <a:endParaRPr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EAN 2.0：网关间的"对讲机"。12 台 7.5 万 Tag 实测通过，34 项端到端测试全通过。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五要素：Agent(心跳60s)→Capability(63原生/7统一MCP)→Discovery→Invoke→Event。MQTT v5+NATS 2.x。Discovery P99=48ms，Invoke P99=112ms。</a:t>
            </a:r>
            <a:endParaRPr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AI+工业设备：MCP 标准协议让 AI 看懂工厂设备。支持 Claude Desktop/Cursor/Windsurf。写操作须人工确认。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33 Tool(8只读+1写+24全功能)+6 Resource+13 Prompt，JSON-RPC 2.0/HTTP·SSE。writeGate 门控+审计日志。协议逆向 2 天→30 分钟。</a:t>
            </a:r>
            <a:endParaRPr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AI+工业设备：MCP 标准协议让 AI 看懂工厂设备。支持 Claude Desktop/Cursor/Windsurf。写操作须人工确认。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33 Tool(8只读+1写+24全功能)+6 Resource+13 Prompt，JSON-RPC 2.0/HTTP·SSE。writeGate 门控+审计日志。协议逆向 2 天→30 分钟。</a:t>
            </a:r>
            <a:endParaRPr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EdgeOS 架构：权限审计→编排层→核心服务→高可用。N+2 双母皇主备切换&lt;5s。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ACL 多租户+全程审计。AI Planner 工作流+优先级重试+资源锁。Discovery/Invoke/Event 全局索引。MQTT v5+NATS 2.x 双传输。</a:t>
            </a:r>
            <a:endParaRPr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第四节：压铸机、注塑机、五轴加工三个详细案例，含协议、采集点、规则。还有楼宇、能源等更多场景。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压铸(Modbus+OPC UA)、注塑(Modbus+OPC UA+Euromap 77)、五轴(OPC UA+MTConnect+Modbus)。产品说明 20 类场景，18 类已配数据流图。</a:t>
            </a:r>
            <a:endParaRPr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压铸机案例：实时采集，温度超限告警，压力曲线异常标记，AI 模具保养建议。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Modbus TCP+OPC UA。采集：压射压力/合模力/铝液温度/模具温度/循环次数/保压时间。规则：温度告警/压力标记/计数累加。MQTT→MES+OPC UA→SCADA。</a:t>
            </a:r>
            <a:endParaRPr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五个部分：设备接入问题 → EdgeCore 产品 → 多网关协同和 AI → 工厂案例 → 数字孪生未来。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万 Tag P95=1.56ms，0 miss，吞吐 9823 pts/s。ShadowCore COW 约 4.3× 加速。EdgeOS 12 网关 7.5 万 Tag：Discovery P99=48ms。</a:t>
            </a:r>
            <a:endParaRPr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注塑机案例：20-50 台多品牌统一接入，OEE 自动计算，识别瓶颈设备。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Modbus TCP+OPC UA+SPI/Euromap 77。采集：熔体温度/注射压力/保压/循环时间/射胶量。OEE 实时计算+良品率+能耗分项。MQTT→MES/OPC UA→SCADA/BACnet→楼宇。</a:t>
            </a:r>
            <a:endParaRPr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五轴加工案例：振动超限停机保护，刀具寿命按实切时间计算，AI 振动频谱分析。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OPC UA+MTConnect+Modbus TCP。采集：转速/进给/功率/振动/温度/刀具号。规则：振动停机/刀具预警/热补偿。read_points+get_diagnostics。</a:t>
            </a:r>
            <a:endParaRPr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楼宇：BACnet/KNXnet 接入暖通照明窗帘，温度联动空调。能源：DL/T645+IEC 104+Modbus，分项计量。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BACnet Who-Is/I-Am+COV 订阅+KNXnet 网关发现。DL/T645 电表+IEC 104 遥测+Modbus 水气热表。虚拟影子计算功率因数+峰谷平标记。</a:t>
            </a:r>
            <a:endParaRPr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更多场景：CNC、冲压、热处理、空压机、AGV、环境监测、光伏、网络设备等。配置方式类似，不需额外开发。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8 类扩展：CNC(Modbus/OPC UA)、冲压(Modbus)、热处理(Modbus RTU)、空压机(Modbus/SNMP)、AGV(TCP/Modbus)、光伏(Modbus)、网络(SNMP v2c/v3)。</a:t>
            </a:r>
            <a:endParaRPr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6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更多场景：CNC、冲压、热处理、空压机、AGV、环境监测、光伏、网络设备等。配置方式类似，不需额外开发。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8 类扩展：CNC(Modbus/OPC UA)、冲压(Modbus)、热处理(Modbus RTU)、空压机(Modbus/SNMP)、AGV(TCP/Modbus)、光伏(Modbus)、网络(SNMP v2c/v3)。</a:t>
            </a:r>
            <a:endParaRPr/>
          </a:p>
        </p:txBody>
      </p:sp>
      <p:sp>
        <p:nvSpPr>
          <p:cNvPr id="6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7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第五节：EdgeStark 数字孪生——VR 走进虚拟工厂，AR 叠加设备状态，还有物理仿真。3 个场景已试点。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闭源授权。订阅 100+ 网关/1000+ 设备/10 万+ 点位。四端渲染+五层架构+Rapier 物理引擎。P99&lt;200ms。</a:t>
            </a:r>
            <a:endParaRPr/>
          </a:p>
        </p:txBody>
      </p:sp>
      <p:sp>
        <p:nvSpPr>
          <p:cNvPr id="7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7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EdgeStark 四端渲染：桌面/VR/AR/全息。五层架构确保大数据量流畅。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桌面 60FPS/10K，VR 90FPS/5K，AR 巡检，全息座舱。五层：Metadata Cache→Twin Runtime→Scene Runtime→Render Runtime(Rapier WASM)→Holographic Runtime。</a:t>
            </a:r>
            <a:endParaRPr/>
          </a:p>
        </p:txBody>
      </p:sp>
      <p:sp>
        <p:nvSpPr>
          <p:cNvPr id="7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7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路线图：2026 Q3 EdgeCore 稳定+13 协议+MCP 33 工具。Q4 EdgeOS 增强。2027 H1 EdgeStark 量产。最终工业 AI 助手生态。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NOW：ScanEngine 稳定+22/22 驱动+CI 五 gate+MCP 33 工具。NEXT：集群联邦+72h Soak+AI 自主处置。LATER：数字孪生模板+VR/AR 验证。VISION：多助手协同+AI 自愈。</a:t>
            </a:r>
            <a:endParaRPr/>
          </a:p>
        </p:txBody>
      </p:sp>
      <p:sp>
        <p:nvSpPr>
          <p:cNvPr id="8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总结：EdgeCore 解决数据上来（13 协议/128MB/&lt;5ms），EdgeOS 管多网关（12 台/7.5 万 Tag），EdgeStark 数字孪生（四端渲染）。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13 协议 85% 覆盖。ShadowCore COW&lt;5ms，P95=1.56ms，吞吐 9823 pts/s。MCP 33 Tool+7 统一。EdgeOS Discovery P99=48ms，Invoke P99=112ms。EdgeStark 10 万+ 点位 60FPS。</a:t>
            </a:r>
            <a:endParaRPr/>
          </a:p>
        </p:txBody>
      </p:sp>
      <p:sp>
        <p:nvSpPr>
          <p:cNvPr id="8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感谢时间。EdgeCore→数据上来，EdgeOS→多网关管理，EdgeStark→数据好看好用。核心差异：统一影子真源+统计 SLA+轻量部署。欢迎提问参观。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可提供 ARM64 deb 包现场部署演示。PoC&lt;2k 直接上线；2k-10k 完成 Phase A+B 验收。联系方式：anviod 工业物联网边缘计算。</a:t>
            </a:r>
            <a:endParaRPr/>
          </a:p>
        </p:txBody>
      </p:sp>
      <p:sp>
        <p:nvSpPr>
          <p:cNvPr id="8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9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第一节讲问题：协议太杂、小设备跑不动重系统、数据各读各的、AI 看不懂机器在说什么。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传统微服务+容器+DB 栈在 ARM 设备 OOM。驱动自治导致资源竞争。业务直读 PLC 强耦合。工业数据封装在私有逻辑中。</a:t>
            </a:r>
            <a:endParaRPr/>
          </a:p>
        </p:txBody>
      </p:sp>
      <p:sp>
        <p:nvSpPr>
          <p:cNvPr id="9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9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四个问题：十几种协议并存要单独开发驱动；128MB 跑不动微服务；业务系统直接读设备互相干扰；AI 看不懂工厂数据。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edgeCore 解法：单二进制 + ScanEngine 集中调度 + ShadowCore 统一数据真源 + MCP 标准协议向 AI 开放。</a:t>
            </a:r>
            <a:endParaRPr/>
          </a:p>
        </p:txBody>
      </p:sp>
      <p:sp>
        <p:nvSpPr>
          <p:cNvPr id="9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9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EdgeCore 轻量工业网关，128MB 就能跑，免费开源。vs Kepware（无影子真源）vs Ignition（重量级）vs Node-RED（无 SLA 门控）。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ShadowCore 统一 SoT + ScanEngine 统计 SLA + 单二进制轻量部署。配置化：图形界面完成点位映射、规则编写与通道绑定。</a:t>
            </a:r>
            <a:endParaRPr/>
          </a:p>
        </p:txBody>
      </p:sp>
      <p:sp>
        <p:nvSpPr>
          <p:cNvPr id="10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0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第二节：五层架构，数据存在内存影子里，谁要看都从影子里读。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南向采集→ShadowCore→UI/虚拟影子/边缘计算/持久化/北向。Protocol 仅报文解析。EDF 调度+四级优先级+三级令牌背压。北向 6 通道。</a:t>
            </a:r>
            <a:endParaRPr/>
          </a:p>
        </p:txBody>
      </p:sp>
      <p:sp>
        <p:nvSpPr>
          <p:cNvPr id="10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0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整体架构：底层连设备→调度引擎→状态模型→业务逻辑→AI 接口。每层各管各的事。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Protocol→ScanEngine(EDF+背压)→ShadowCore(COW&lt;5ms)→Business(虚拟影子+expr规则)→AI/MCP。北向 6 通道：MQTT/Sparkplug B/OPC UA/BACnet/HTTP/EdgeOS。</a:t>
            </a:r>
            <a:endParaRPr/>
          </a:p>
        </p:txBody>
      </p:sp>
      <p:sp>
        <p:nvSpPr>
          <p:cNvPr id="10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1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13 种工业协议统一接入，从 Modbus 到 BACnet、IEC 104、EtherCAT，覆盖工厂各种设备。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Modbus(Serial+冷却)、OPC UA(Parallel+Browse)、BACnet(Limited)、S7/200-1500、EtherCAT(PDO+SDO)。三档执行模式。</a:t>
            </a:r>
            <a:endParaRPr/>
          </a:p>
        </p:txBody>
      </p:sp>
      <p:sp>
        <p:nvSpPr>
          <p:cNvPr id="11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1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ScanEngine 调度引擎：交通警察指挥采集任务，不堵车不丢数据。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10ms Tick+EDF(d=r+50ms)，四级优先级(miss+2/success+1/fail-1)，goroutine 2048，三级令牌背压，GC STW 降速。</a:t>
            </a:r>
            <a:endParaRPr/>
          </a:p>
        </p:txBody>
      </p:sp>
      <p:sp>
        <p:nvSpPr>
          <p:cNvPr id="11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2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3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4.xml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8.png" /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5.xml" /><Relationship Id="rId4" Type="http://schemas.openxmlformats.org/officeDocument/2006/relationships/image" Target="media/image5.png" /><Relationship Id="rId2" Type="http://schemas.openxmlformats.org/officeDocument/2006/relationships/image" Target="media/image7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6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8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9.xml" /><Relationship Id="rId2" Type="http://schemas.openxmlformats.org/officeDocument/2006/relationships/image" Target="media/image9.png" /><Relationship Id="rId3" Type="http://schemas.openxmlformats.org/officeDocument/2006/relationships/image" Target="media/image10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.xml" /><Relationship Id="rId2" Type="http://schemas.openxmlformats.org/officeDocument/2006/relationships/image" Target="media/image1.png" /><Relationship Id="rId3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5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6.xml" /><Relationship Id="rId2" Type="http://schemas.openxmlformats.org/officeDocument/2006/relationships/image" Target="media/image3.png" /><Relationship Id="rId3" Type="http://schemas.openxmlformats.org/officeDocument/2006/relationships/image" Target="media/image4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7.xml" /><Relationship Id="rId2" Type="http://schemas.openxmlformats.org/officeDocument/2006/relationships/image" Target="media/image5.png" /><Relationship Id="rId3" Type="http://schemas.openxmlformats.org/officeDocument/2006/relationships/image" Target="media/image6.png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8.xml" /><Relationship Id="rId3" Type="http://schemas.openxmlformats.org/officeDocument/2006/relationships/image" Target="media/image6.pn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9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0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3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4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5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6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7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8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7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0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2.xml" 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400"/>
              <a:t>工业物联网 · 边缘计算 · 人工智能</a:t>
            </a:r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8229600" y="640080"/>
            <a:ext cx="34747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2400"/>
              <a:t>EdgeCore Solution</a:t>
            </a:r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1A2238"/>
          </a:solidFill>
          <a:ln w="9525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工业物联网</a:t>
            </a:r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2560320" y="1645920"/>
            <a:ext cx="1577975" cy="292100"/>
          </a:xfrm>
          <a:prstGeom prst="roundRect">
            <a:avLst>
              <a:gd name="adj" fmla="val 30000"/>
            </a:avLst>
          </a:prstGeom>
          <a:solidFill>
            <a:srgbClr val="1A2238"/>
          </a:solidFill>
          <a:ln w="9525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AI 人工智能</a:t>
            </a:r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4206240" y="164592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1A2238"/>
          </a:solidFill>
          <a:ln w="9525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边缘计算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  <a:defRPr sz="3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800"/>
              <a:t>EdgeCore</a:t>
            </a:r>
            <a:endParaRPr sz="2800"/>
          </a:p>
          <a:p>
            <a:pPr algn="l">
              <a:lnSpc>
                <a:spcPct val="110000"/>
              </a:lnSpc>
              <a:spcAft>
                <a:spcPts val="100"/>
              </a:spcAft>
              <a:defRPr sz="3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800"/>
              <a:t>工业物联网 + AI 人工智能解决方案</a:t>
            </a:r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914400" y="3931920"/>
            <a:ext cx="3200400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82296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800" b="0">
                <a:solidFill>
                  <a:srgbClr val="F4D03F"/>
                </a:solidFill>
                <a:latin typeface="微软雅黑" panose="020B0503020204020204" charset="-122"/>
              </a:defRPr>
            </a:pPr>
            <a:r>
              <a:rPr sz="2200"/>
              <a:t>设备连接 · 实时状态 · 智能协同</a:t>
            </a:r>
            <a:endParaRPr sz="2200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77724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2000"/>
              <a:t>13 种工业协议统一接入 / 单二进制部署 / 128MB 内存可运行 / AI MCP 标准化能力开放</a:t>
            </a:r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5486400" cy="191135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anviod</a:t>
            </a:r>
            <a:r>
              <a:rPr lang="en-US" sz="1600"/>
              <a:t>@aliyun.com  </a:t>
            </a:r>
            <a:r>
              <a:rPr sz="1600"/>
              <a:t>·</a:t>
            </a:r>
            <a:r>
              <a:rPr lang="en-US" sz="1600"/>
              <a:t> </a:t>
            </a:r>
            <a:r>
              <a:rPr sz="1600"/>
              <a:t> 2026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1 / 29</a:t>
            </a:r>
            <a:endParaRPr sz="1000"/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3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342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目录</a:t>
            </a:r>
            <a:endParaRPr sz="1100"/>
          </a:p>
        </p:txBody>
      </p:sp>
      <p:sp>
        <p:nvSpPr>
          <p:cNvPr id="343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Contents · 目录</a:t>
            </a:r>
            <a:endParaRPr sz="2000"/>
          </a:p>
        </p:txBody>
      </p:sp>
      <p:sp>
        <p:nvSpPr>
          <p:cNvPr id="345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内容概览</a:t>
            </a:r>
            <a:endParaRPr sz="2600"/>
          </a:p>
        </p:txBody>
      </p:sp>
      <p:sp>
        <p:nvSpPr>
          <p:cNvPr id="346" name="Rounded Rectangle 6"/>
          <p:cNvSpPr/>
          <p:nvPr/>
        </p:nvSpPr>
        <p:spPr>
          <a:xfrm>
            <a:off x="457200" y="155448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7"/>
          <p:cNvSpPr txBox="1"/>
          <p:nvPr/>
        </p:nvSpPr>
        <p:spPr>
          <a:xfrm>
            <a:off x="640080" y="1691639"/>
            <a:ext cx="64008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8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600"/>
              <a:t>01</a:t>
            </a:r>
            <a:endParaRPr sz="1600"/>
          </a:p>
        </p:txBody>
      </p:sp>
      <p:sp>
        <p:nvSpPr>
          <p:cNvPr id="348" name="TextBox 8"/>
          <p:cNvSpPr txBox="1"/>
          <p:nvPr/>
        </p:nvSpPr>
        <p:spPr>
          <a:xfrm>
            <a:off x="1371600" y="1737360"/>
            <a:ext cx="411480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技术背景与产品定位</a:t>
            </a:r>
            <a:endParaRPr sz="1600"/>
          </a:p>
        </p:txBody>
      </p:sp>
      <p:sp>
        <p:nvSpPr>
          <p:cNvPr id="349" name="TextBox 9"/>
          <p:cNvSpPr txBox="1"/>
          <p:nvPr/>
        </p:nvSpPr>
        <p:spPr>
          <a:xfrm>
            <a:off x="1371600" y="2103120"/>
            <a:ext cx="41148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工业设备接入的技术挑战 / EdgeCore 核心能力</a:t>
            </a:r>
            <a:endParaRPr sz="1800"/>
          </a:p>
        </p:txBody>
      </p:sp>
      <p:sp>
        <p:nvSpPr>
          <p:cNvPr id="350" name="Rounded Rectangle 10"/>
          <p:cNvSpPr/>
          <p:nvPr/>
        </p:nvSpPr>
        <p:spPr>
          <a:xfrm>
            <a:off x="6217920" y="155448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11"/>
          <p:cNvSpPr txBox="1"/>
          <p:nvPr/>
        </p:nvSpPr>
        <p:spPr>
          <a:xfrm>
            <a:off x="6400800" y="1691639"/>
            <a:ext cx="64008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8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600"/>
              <a:t>02</a:t>
            </a:r>
            <a:endParaRPr sz="1600"/>
          </a:p>
        </p:txBody>
      </p:sp>
      <p:sp>
        <p:nvSpPr>
          <p:cNvPr id="352" name="TextBox 12"/>
          <p:cNvSpPr txBox="1"/>
          <p:nvPr/>
        </p:nvSpPr>
        <p:spPr>
          <a:xfrm>
            <a:off x="7132320" y="1737360"/>
            <a:ext cx="411480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系统架构与核心技术</a:t>
            </a:r>
            <a:endParaRPr sz="1600"/>
          </a:p>
        </p:txBody>
      </p:sp>
      <p:sp>
        <p:nvSpPr>
          <p:cNvPr id="353" name="TextBox 13"/>
          <p:cNvSpPr txBox="1"/>
          <p:nvPr/>
        </p:nvSpPr>
        <p:spPr>
          <a:xfrm>
            <a:off x="7132320" y="2103120"/>
            <a:ext cx="41148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五层架构 / 13 种协议 / 调度引擎 / 状态模型</a:t>
            </a:r>
            <a:endParaRPr sz="1800"/>
          </a:p>
        </p:txBody>
      </p:sp>
      <p:sp>
        <p:nvSpPr>
          <p:cNvPr id="354" name="Rounded Rectangle 14"/>
          <p:cNvSpPr/>
          <p:nvPr/>
        </p:nvSpPr>
        <p:spPr>
          <a:xfrm>
            <a:off x="457200" y="301752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15"/>
          <p:cNvSpPr txBox="1"/>
          <p:nvPr/>
        </p:nvSpPr>
        <p:spPr>
          <a:xfrm>
            <a:off x="640080" y="3154679"/>
            <a:ext cx="64008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8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600"/>
              <a:t>03</a:t>
            </a:r>
            <a:endParaRPr sz="1600"/>
          </a:p>
        </p:txBody>
      </p:sp>
      <p:sp>
        <p:nvSpPr>
          <p:cNvPr id="356" name="TextBox 16"/>
          <p:cNvSpPr txBox="1"/>
          <p:nvPr/>
        </p:nvSpPr>
        <p:spPr>
          <a:xfrm>
            <a:off x="1371600" y="3200400"/>
            <a:ext cx="411480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EdgeOS 协调平台与 AI 协同</a:t>
            </a:r>
            <a:endParaRPr sz="1600"/>
          </a:p>
        </p:txBody>
      </p:sp>
      <p:sp>
        <p:nvSpPr>
          <p:cNvPr id="357" name="TextBox 17"/>
          <p:cNvSpPr txBox="1"/>
          <p:nvPr/>
        </p:nvSpPr>
        <p:spPr>
          <a:xfrm>
            <a:off x="1371600" y="3566160"/>
            <a:ext cx="41148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多网关协同 / EAN 2.0 / AI MCP 能力开放</a:t>
            </a:r>
            <a:endParaRPr sz="1800"/>
          </a:p>
        </p:txBody>
      </p:sp>
      <p:sp>
        <p:nvSpPr>
          <p:cNvPr id="358" name="Rounded Rectangle 18"/>
          <p:cNvSpPr/>
          <p:nvPr/>
        </p:nvSpPr>
        <p:spPr>
          <a:xfrm>
            <a:off x="6217920" y="301752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19"/>
          <p:cNvSpPr txBox="1"/>
          <p:nvPr/>
        </p:nvSpPr>
        <p:spPr>
          <a:xfrm>
            <a:off x="6400800" y="3154679"/>
            <a:ext cx="64008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8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600"/>
              <a:t>04</a:t>
            </a:r>
            <a:endParaRPr sz="1600"/>
          </a:p>
        </p:txBody>
      </p:sp>
      <p:sp>
        <p:nvSpPr>
          <p:cNvPr id="360" name="TextBox 20"/>
          <p:cNvSpPr txBox="1"/>
          <p:nvPr/>
        </p:nvSpPr>
        <p:spPr>
          <a:xfrm>
            <a:off x="7132320" y="3200400"/>
            <a:ext cx="411480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工厂落地场景</a:t>
            </a:r>
            <a:endParaRPr sz="1600"/>
          </a:p>
        </p:txBody>
      </p:sp>
      <p:sp>
        <p:nvSpPr>
          <p:cNvPr id="361" name="TextBox 21"/>
          <p:cNvSpPr txBox="1"/>
          <p:nvPr/>
        </p:nvSpPr>
        <p:spPr>
          <a:xfrm>
            <a:off x="7132320" y="3566160"/>
            <a:ext cx="41148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压铸机 / 注塑机 / 五轴加工 / 楼宇 / 能源</a:t>
            </a:r>
            <a:endParaRPr sz="1800"/>
          </a:p>
        </p:txBody>
      </p:sp>
      <p:sp>
        <p:nvSpPr>
          <p:cNvPr id="362" name="Rounded Rectangle 22"/>
          <p:cNvSpPr/>
          <p:nvPr/>
        </p:nvSpPr>
        <p:spPr>
          <a:xfrm>
            <a:off x="457200" y="448056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23"/>
          <p:cNvSpPr txBox="1"/>
          <p:nvPr/>
        </p:nvSpPr>
        <p:spPr>
          <a:xfrm>
            <a:off x="640080" y="4617720"/>
            <a:ext cx="64008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8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600"/>
              <a:t>05</a:t>
            </a:r>
            <a:endParaRPr sz="1600"/>
          </a:p>
        </p:txBody>
      </p:sp>
      <p:sp>
        <p:nvSpPr>
          <p:cNvPr id="364" name="TextBox 24"/>
          <p:cNvSpPr txBox="1"/>
          <p:nvPr/>
        </p:nvSpPr>
        <p:spPr>
          <a:xfrm>
            <a:off x="1371600" y="4663440"/>
            <a:ext cx="411480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EdgeStark 数字孪生与落地试点</a:t>
            </a:r>
            <a:endParaRPr sz="1600"/>
          </a:p>
        </p:txBody>
      </p:sp>
      <p:sp>
        <p:nvSpPr>
          <p:cNvPr id="365" name="TextBox 25"/>
          <p:cNvSpPr txBox="1"/>
          <p:nvPr/>
        </p:nvSpPr>
        <p:spPr>
          <a:xfrm>
            <a:off x="1371600" y="5029200"/>
            <a:ext cx="41148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数字孪生 / 物理仿真 / 四端渲染 / 9 场景试点</a:t>
            </a:r>
            <a:endParaRPr sz="1800"/>
          </a:p>
        </p:txBody>
      </p:sp>
      <p:sp>
        <p:nvSpPr>
          <p:cNvPr id="366" name="TextBox 26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2 / 29</a:t>
            </a:r>
            <a:endParaRPr sz="1000"/>
          </a:p>
        </p:txBody>
      </p:sp>
      <p:sp>
        <p:nvSpPr>
          <p:cNvPr id="3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36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7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TextBox 1"/>
          <p:cNvSpPr txBox="1"/>
          <p:nvPr/>
        </p:nvSpPr>
        <p:spPr>
          <a:xfrm>
            <a:off x="731520" y="1188720"/>
            <a:ext cx="4572000" cy="22860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0" b="1">
                <a:solidFill>
                  <a:srgbClr val="12182A"/>
                </a:solidFill>
                <a:latin typeface="宋体" panose="02010600030101010101" pitchFamily="2" charset="-122"/>
              </a:defRPr>
            </a:pPr>
            <a:r>
              <a:rPr sz="4800"/>
              <a:t>01</a:t>
            </a:r>
            <a:endParaRPr sz="4800"/>
          </a:p>
        </p:txBody>
      </p:sp>
      <p:sp>
        <p:nvSpPr>
          <p:cNvPr id="754" name="TextBox 2"/>
          <p:cNvSpPr txBox="1"/>
          <p:nvPr/>
        </p:nvSpPr>
        <p:spPr>
          <a:xfrm>
            <a:off x="731520" y="1920240"/>
            <a:ext cx="5486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Section · 01</a:t>
            </a:r>
            <a:endParaRPr sz="2000"/>
          </a:p>
        </p:txBody>
      </p:sp>
      <p:sp>
        <p:nvSpPr>
          <p:cNvPr id="755" name="TextBox 3"/>
          <p:cNvSpPr txBox="1"/>
          <p:nvPr/>
        </p:nvSpPr>
        <p:spPr>
          <a:xfrm>
            <a:off x="731520" y="2286000"/>
            <a:ext cx="7315200" cy="70231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  <a:defRPr sz="40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000"/>
              <a:t>技术背景与产品定位</a:t>
            </a:r>
            <a:endParaRPr sz="2000"/>
          </a:p>
        </p:txBody>
      </p:sp>
      <p:sp>
        <p:nvSpPr>
          <p:cNvPr id="756" name="TextBox 4"/>
          <p:cNvSpPr txBox="1"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2000"/>
              <a:t>Technical Background &amp; Product Positioning</a:t>
            </a:r>
            <a:endParaRPr sz="2000"/>
          </a:p>
        </p:txBody>
      </p:sp>
      <p:sp>
        <p:nvSpPr>
          <p:cNvPr id="757" name="Rectangle 5"/>
          <p:cNvSpPr/>
          <p:nvPr/>
        </p:nvSpPr>
        <p:spPr>
          <a:xfrm>
            <a:off x="731520" y="3794760"/>
            <a:ext cx="2286000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8" name="TextBox 6"/>
          <p:cNvSpPr txBox="1"/>
          <p:nvPr/>
        </p:nvSpPr>
        <p:spPr>
          <a:xfrm>
            <a:off x="731520" y="3977639"/>
            <a:ext cx="73152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2000"/>
              <a:t>工厂设备接入面临协议太杂、小设备跑不动、数据封闭等难题</a:t>
            </a:r>
            <a:endParaRPr sz="2000"/>
          </a:p>
        </p:txBody>
      </p:sp>
      <p:sp>
        <p:nvSpPr>
          <p:cNvPr id="759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3 / 29</a:t>
            </a:r>
            <a:endParaRPr sz="1000"/>
          </a:p>
        </p:txBody>
      </p:sp>
      <p:sp>
        <p:nvSpPr>
          <p:cNvPr id="76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7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7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764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技术挑战</a:t>
            </a:r>
            <a:endParaRPr sz="1100"/>
          </a:p>
        </p:txBody>
      </p:sp>
      <p:sp>
        <p:nvSpPr>
          <p:cNvPr id="765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6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Challenge · 四个难题</a:t>
            </a:r>
            <a:endParaRPr sz="2000"/>
          </a:p>
        </p:txBody>
      </p:sp>
      <p:sp>
        <p:nvSpPr>
          <p:cNvPr id="767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工厂设备接不上来的四个原因</a:t>
            </a:r>
            <a:endParaRPr sz="2600"/>
          </a:p>
        </p:txBody>
      </p:sp>
      <p:sp>
        <p:nvSpPr>
          <p:cNvPr id="768" name="Rounded Rectangle 6"/>
          <p:cNvSpPr/>
          <p:nvPr/>
        </p:nvSpPr>
        <p:spPr>
          <a:xfrm>
            <a:off x="457200" y="155448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9" name="Oval 7"/>
          <p:cNvSpPr/>
          <p:nvPr/>
        </p:nvSpPr>
        <p:spPr>
          <a:xfrm>
            <a:off x="685800" y="1783080"/>
            <a:ext cx="411480" cy="41148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1</a:t>
            </a:r>
            <a:endParaRPr sz="1600"/>
          </a:p>
        </p:txBody>
      </p:sp>
      <p:sp>
        <p:nvSpPr>
          <p:cNvPr id="770" name="TextBox 8"/>
          <p:cNvSpPr txBox="1"/>
          <p:nvPr/>
        </p:nvSpPr>
        <p:spPr>
          <a:xfrm>
            <a:off x="1234440" y="1810512"/>
            <a:ext cx="411480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设备协议太杂</a:t>
            </a:r>
            <a:endParaRPr sz="1600"/>
          </a:p>
        </p:txBody>
      </p:sp>
      <p:sp>
        <p:nvSpPr>
          <p:cNvPr id="771" name="TextBox 9"/>
          <p:cNvSpPr txBox="1"/>
          <p:nvPr/>
        </p:nvSpPr>
        <p:spPr>
          <a:xfrm>
            <a:off x="731520" y="2331720"/>
            <a:ext cx="4663440" cy="11887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工厂里有 Modbus、OPC UA、BACnet、S7 等十几种协议并存，每种地址模型、数据类型、通信方式都不一样。传统做法要为每种协议单独开发驱动，维护又贵又累。</a:t>
            </a:r>
            <a:endParaRPr sz="1800"/>
          </a:p>
        </p:txBody>
      </p:sp>
      <p:sp>
        <p:nvSpPr>
          <p:cNvPr id="772" name="Rounded Rectangle 10"/>
          <p:cNvSpPr/>
          <p:nvPr/>
        </p:nvSpPr>
        <p:spPr>
          <a:xfrm>
            <a:off x="6126480" y="155448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3" name="Oval 11"/>
          <p:cNvSpPr/>
          <p:nvPr/>
        </p:nvSpPr>
        <p:spPr>
          <a:xfrm>
            <a:off x="6355080" y="1783080"/>
            <a:ext cx="411480" cy="41148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2</a:t>
            </a:r>
            <a:endParaRPr sz="1600"/>
          </a:p>
        </p:txBody>
      </p:sp>
      <p:sp>
        <p:nvSpPr>
          <p:cNvPr id="774" name="TextBox 12"/>
          <p:cNvSpPr txBox="1"/>
          <p:nvPr/>
        </p:nvSpPr>
        <p:spPr>
          <a:xfrm>
            <a:off x="6903720" y="1810512"/>
            <a:ext cx="411480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小设备跑不动重系统</a:t>
            </a:r>
            <a:endParaRPr sz="1600"/>
          </a:p>
        </p:txBody>
      </p:sp>
      <p:sp>
        <p:nvSpPr>
          <p:cNvPr id="775" name="TextBox 13"/>
          <p:cNvSpPr txBox="1"/>
          <p:nvPr/>
        </p:nvSpPr>
        <p:spPr>
          <a:xfrm>
            <a:off x="6400800" y="2331720"/>
            <a:ext cx="4663440" cy="11887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工厂的边缘网关大多是 ARM 小盒子，内存 128-512MB。微服务、容器、数据库那套重技术栈，在这种小设备上跑不动、也跑不稳。</a:t>
            </a:r>
            <a:endParaRPr sz="1800"/>
          </a:p>
        </p:txBody>
      </p:sp>
      <p:sp>
        <p:nvSpPr>
          <p:cNvPr id="776" name="Rounded Rectangle 14"/>
          <p:cNvSpPr/>
          <p:nvPr/>
        </p:nvSpPr>
        <p:spPr>
          <a:xfrm>
            <a:off x="457200" y="402336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7" name="Oval 15"/>
          <p:cNvSpPr/>
          <p:nvPr/>
        </p:nvSpPr>
        <p:spPr>
          <a:xfrm>
            <a:off x="685800" y="4251960"/>
            <a:ext cx="411480" cy="41148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3</a:t>
            </a:r>
            <a:endParaRPr sz="1600"/>
          </a:p>
        </p:txBody>
      </p:sp>
      <p:sp>
        <p:nvSpPr>
          <p:cNvPr id="778" name="TextBox 16"/>
          <p:cNvSpPr txBox="1"/>
          <p:nvPr/>
        </p:nvSpPr>
        <p:spPr>
          <a:xfrm>
            <a:off x="1234440" y="4279392"/>
            <a:ext cx="411480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数据各读各的，互相打架</a:t>
            </a:r>
            <a:endParaRPr sz="1600"/>
          </a:p>
        </p:txBody>
      </p:sp>
      <p:sp>
        <p:nvSpPr>
          <p:cNvPr id="779" name="TextBox 17"/>
          <p:cNvSpPr txBox="1"/>
          <p:nvPr/>
        </p:nvSpPr>
        <p:spPr>
          <a:xfrm>
            <a:off x="731520" y="4800600"/>
            <a:ext cx="4663440" cy="11887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各个业务系统都直接去读 PLC 寄存器，采集和消费搅在一起。多个系统同时访问同一台设备，通信线路压力大、响应也慢。</a:t>
            </a:r>
            <a:endParaRPr sz="1800"/>
          </a:p>
        </p:txBody>
      </p:sp>
      <p:sp>
        <p:nvSpPr>
          <p:cNvPr id="780" name="Rounded Rectangle 18"/>
          <p:cNvSpPr/>
          <p:nvPr/>
        </p:nvSpPr>
        <p:spPr>
          <a:xfrm>
            <a:off x="6126480" y="402336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1" name="Oval 19"/>
          <p:cNvSpPr/>
          <p:nvPr/>
        </p:nvSpPr>
        <p:spPr>
          <a:xfrm>
            <a:off x="6355080" y="4251960"/>
            <a:ext cx="411480" cy="41148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4</a:t>
            </a:r>
            <a:endParaRPr sz="1600"/>
          </a:p>
        </p:txBody>
      </p:sp>
      <p:sp>
        <p:nvSpPr>
          <p:cNvPr id="782" name="TextBox 20"/>
          <p:cNvSpPr txBox="1"/>
          <p:nvPr/>
        </p:nvSpPr>
        <p:spPr>
          <a:xfrm>
            <a:off x="6903720" y="4279392"/>
            <a:ext cx="411480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AI 看不懂机器在说什么</a:t>
            </a:r>
            <a:endParaRPr sz="1600"/>
          </a:p>
        </p:txBody>
      </p:sp>
      <p:sp>
        <p:nvSpPr>
          <p:cNvPr id="783" name="TextBox 21"/>
          <p:cNvSpPr txBox="1"/>
          <p:nvPr/>
        </p:nvSpPr>
        <p:spPr>
          <a:xfrm>
            <a:off x="6400800" y="4800600"/>
            <a:ext cx="4663440" cy="11887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设备的点位、状态、能做什么操作，都锁在各自的私有程序里。AI 大模型根本无从知道设备有哪些数据、当前什么状态、能执行什么操作。</a:t>
            </a:r>
            <a:endParaRPr sz="1800"/>
          </a:p>
        </p:txBody>
      </p:sp>
      <p:sp>
        <p:nvSpPr>
          <p:cNvPr id="784" name="TextBox 22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4 / 29</a:t>
            </a:r>
            <a:endParaRPr sz="1000"/>
          </a:p>
        </p:txBody>
      </p:sp>
      <p:sp>
        <p:nvSpPr>
          <p:cNvPr id="78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78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7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789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产品定位</a:t>
            </a:r>
            <a:endParaRPr sz="1100"/>
          </a:p>
        </p:txBody>
      </p:sp>
      <p:sp>
        <p:nvSpPr>
          <p:cNvPr id="790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1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Product · 产品定位</a:t>
            </a:r>
            <a:endParaRPr sz="2000"/>
          </a:p>
        </p:txBody>
      </p:sp>
      <p:sp>
        <p:nvSpPr>
          <p:cNvPr id="792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EdgeCore 是什么</a:t>
            </a:r>
            <a:endParaRPr sz="2600"/>
          </a:p>
        </p:txBody>
      </p:sp>
      <p:sp>
        <p:nvSpPr>
          <p:cNvPr id="793" name="Rounded Rectangle 6"/>
          <p:cNvSpPr/>
          <p:nvPr/>
        </p:nvSpPr>
        <p:spPr>
          <a:xfrm>
            <a:off x="457200" y="1554480"/>
            <a:ext cx="530352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4" name="TextBox 7"/>
          <p:cNvSpPr txBox="1"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一句话描述</a:t>
            </a:r>
            <a:endParaRPr sz="1600"/>
          </a:p>
        </p:txBody>
      </p:sp>
      <p:sp>
        <p:nvSpPr>
          <p:cNvPr id="795" name="TextBox 8"/>
          <p:cNvSpPr txBox="1"/>
          <p:nvPr/>
        </p:nvSpPr>
        <p:spPr>
          <a:xfrm>
            <a:off x="640080" y="2011680"/>
            <a:ext cx="4937760" cy="7442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2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轻量化工业边缘计算网关，支持 13 种工业协议统一接入，内置 AI MCP 能力开放接口。</a:t>
            </a:r>
            <a:endParaRPr sz="1800"/>
          </a:p>
        </p:txBody>
      </p:sp>
      <p:sp>
        <p:nvSpPr>
          <p:cNvPr id="796" name="TextBox 9"/>
          <p:cNvSpPr txBox="1"/>
          <p:nvPr/>
        </p:nvSpPr>
        <p:spPr>
          <a:xfrm>
            <a:off x="640080" y="28346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核心特征</a:t>
            </a:r>
            <a:endParaRPr sz="1600"/>
          </a:p>
        </p:txBody>
      </p:sp>
      <p:sp>
        <p:nvSpPr>
          <p:cNvPr id="797" name="TextBox 10"/>
          <p:cNvSpPr txBox="1"/>
          <p:nvPr/>
        </p:nvSpPr>
        <p:spPr>
          <a:xfrm>
            <a:off x="777240" y="320040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798" name="TextBox 11"/>
          <p:cNvSpPr txBox="1"/>
          <p:nvPr/>
        </p:nvSpPr>
        <p:spPr>
          <a:xfrm>
            <a:off x="960120" y="3200400"/>
            <a:ext cx="4754880" cy="20955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单二进制静态编译，无外部依赖</a:t>
            </a:r>
            <a:endParaRPr sz="1600"/>
          </a:p>
        </p:txBody>
      </p:sp>
      <p:sp>
        <p:nvSpPr>
          <p:cNvPr id="799" name="TextBox 12"/>
          <p:cNvSpPr txBox="1"/>
          <p:nvPr/>
        </p:nvSpPr>
        <p:spPr>
          <a:xfrm>
            <a:off x="777240" y="3639312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800" name="TextBox 13"/>
          <p:cNvSpPr txBox="1"/>
          <p:nvPr/>
        </p:nvSpPr>
        <p:spPr>
          <a:xfrm>
            <a:off x="960120" y="3639312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最低 128 MB 内存可运行，支持 x86_64 / ARM64 / ARMv7</a:t>
            </a:r>
            <a:endParaRPr sz="1600"/>
          </a:p>
        </p:txBody>
      </p:sp>
      <p:sp>
        <p:nvSpPr>
          <p:cNvPr id="801" name="TextBox 14"/>
          <p:cNvSpPr txBox="1"/>
          <p:nvPr/>
        </p:nvSpPr>
        <p:spPr>
          <a:xfrm>
            <a:off x="777240" y="4078224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802" name="TextBox 15"/>
          <p:cNvSpPr txBox="1"/>
          <p:nvPr/>
        </p:nvSpPr>
        <p:spPr>
          <a:xfrm>
            <a:off x="960120" y="411480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13 种工业协议：Modbus / OPC UA / BACnet / S7 / EtherCAT 等</a:t>
            </a:r>
            <a:endParaRPr sz="1600"/>
          </a:p>
        </p:txBody>
      </p:sp>
      <p:sp>
        <p:nvSpPr>
          <p:cNvPr id="803" name="TextBox 16"/>
          <p:cNvSpPr txBox="1"/>
          <p:nvPr/>
        </p:nvSpPr>
        <p:spPr>
          <a:xfrm>
            <a:off x="777240" y="4517136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804" name="TextBox 17"/>
          <p:cNvSpPr txBox="1"/>
          <p:nvPr/>
        </p:nvSpPr>
        <p:spPr>
          <a:xfrm>
            <a:off x="960120" y="4590288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ShadowCore 内存状态模型，读延迟 &lt; 5ms</a:t>
            </a:r>
            <a:endParaRPr sz="1600"/>
          </a:p>
        </p:txBody>
      </p:sp>
      <p:sp>
        <p:nvSpPr>
          <p:cNvPr id="805" name="TextBox 18"/>
          <p:cNvSpPr txBox="1"/>
          <p:nvPr/>
        </p:nvSpPr>
        <p:spPr>
          <a:xfrm>
            <a:off x="777240" y="4956048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806" name="TextBox 19"/>
          <p:cNvSpPr txBox="1"/>
          <p:nvPr/>
        </p:nvSpPr>
        <p:spPr>
          <a:xfrm>
            <a:off x="960120" y="5047488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ScanEngine EDF 调度，万 Tag P95 = 1.56ms</a:t>
            </a:r>
            <a:endParaRPr sz="1600"/>
          </a:p>
        </p:txBody>
      </p:sp>
      <p:sp>
        <p:nvSpPr>
          <p:cNvPr id="807" name="TextBox 20"/>
          <p:cNvSpPr txBox="1"/>
          <p:nvPr/>
        </p:nvSpPr>
        <p:spPr>
          <a:xfrm>
            <a:off x="777240" y="539496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808" name="TextBox 21"/>
          <p:cNvSpPr txBox="1"/>
          <p:nvPr/>
        </p:nvSpPr>
        <p:spPr>
          <a:xfrm>
            <a:off x="960120" y="5504688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MCP 标准协议向 AI Agent 开放工业能力</a:t>
            </a:r>
            <a:endParaRPr sz="1600"/>
          </a:p>
        </p:txBody>
      </p:sp>
      <p:sp>
        <p:nvSpPr>
          <p:cNvPr id="809" name="TextBox 22"/>
          <p:cNvSpPr txBox="1"/>
          <p:nvPr/>
        </p:nvSpPr>
        <p:spPr>
          <a:xfrm>
            <a:off x="777240" y="5833872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810" name="TextBox 23"/>
          <p:cNvSpPr txBox="1"/>
          <p:nvPr/>
        </p:nvSpPr>
        <p:spPr>
          <a:xfrm>
            <a:off x="960120" y="594360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deb / rpm / tar.gz / systemd 安装方式</a:t>
            </a:r>
            <a:endParaRPr sz="1600"/>
          </a:p>
        </p:txBody>
      </p:sp>
      <p:sp>
        <p:nvSpPr>
          <p:cNvPr id="811" name="Rounded Rectangle 24"/>
          <p:cNvSpPr/>
          <p:nvPr/>
        </p:nvSpPr>
        <p:spPr>
          <a:xfrm>
            <a:off x="5989320" y="1508760"/>
            <a:ext cx="5760720" cy="320040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2" name="Picture 25" descr="首页监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30020"/>
            <a:ext cx="5742305" cy="3324860"/>
          </a:xfrm>
          <a:prstGeom prst="rect">
            <a:avLst/>
          </a:prstGeom>
        </p:spPr>
      </p:pic>
      <p:sp>
        <p:nvSpPr>
          <p:cNvPr id="813" name="TextBox 26"/>
          <p:cNvSpPr txBox="1"/>
          <p:nvPr/>
        </p:nvSpPr>
        <p:spPr>
          <a:xfrm>
            <a:off x="6035040" y="4754880"/>
            <a:ext cx="56692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EdgeCore Web 管理界面 — 首页监控仪表盘</a:t>
            </a:r>
            <a:endParaRPr sz="1600"/>
          </a:p>
        </p:txBody>
      </p:sp>
      <p:sp>
        <p:nvSpPr>
          <p:cNvPr id="814" name="Rounded Rectangle 27"/>
          <p:cNvSpPr/>
          <p:nvPr/>
        </p:nvSpPr>
        <p:spPr>
          <a:xfrm>
            <a:off x="5989320" y="5074920"/>
            <a:ext cx="2834640" cy="137160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5" name="Picture 28" descr="南向通道驱动列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871" y="5120640"/>
            <a:ext cx="2049536" cy="1280160"/>
          </a:xfrm>
          <a:prstGeom prst="rect">
            <a:avLst/>
          </a:prstGeom>
        </p:spPr>
      </p:pic>
      <p:sp>
        <p:nvSpPr>
          <p:cNvPr id="816" name="Rounded Rectangle 29"/>
          <p:cNvSpPr/>
          <p:nvPr/>
        </p:nvSpPr>
        <p:spPr>
          <a:xfrm>
            <a:off x="8915400" y="5074920"/>
            <a:ext cx="2834640" cy="137160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7" name="Picture 30" descr="AI助手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4249" y="5120640"/>
            <a:ext cx="2456941" cy="1280160"/>
          </a:xfrm>
          <a:prstGeom prst="rect">
            <a:avLst/>
          </a:prstGeom>
        </p:spPr>
      </p:pic>
      <p:sp>
        <p:nvSpPr>
          <p:cNvPr id="818" name="TextBox 31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5 / 29</a:t>
            </a:r>
            <a:endParaRPr sz="1000"/>
          </a:p>
        </p:txBody>
      </p:sp>
      <p:sp>
        <p:nvSpPr>
          <p:cNvPr id="81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82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8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TextBox 1"/>
          <p:cNvSpPr txBox="1"/>
          <p:nvPr/>
        </p:nvSpPr>
        <p:spPr>
          <a:xfrm>
            <a:off x="731520" y="1188720"/>
            <a:ext cx="4572000" cy="22860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0" b="1">
                <a:solidFill>
                  <a:srgbClr val="12182A"/>
                </a:solidFill>
                <a:latin typeface="宋体" panose="02010600030101010101" pitchFamily="2" charset="-122"/>
              </a:defRPr>
            </a:pPr>
            <a:r>
              <a:rPr sz="4800"/>
              <a:t>02</a:t>
            </a:r>
            <a:endParaRPr sz="4800"/>
          </a:p>
        </p:txBody>
      </p:sp>
      <p:sp>
        <p:nvSpPr>
          <p:cNvPr id="823" name="TextBox 2"/>
          <p:cNvSpPr txBox="1"/>
          <p:nvPr/>
        </p:nvSpPr>
        <p:spPr>
          <a:xfrm>
            <a:off x="731520" y="1920240"/>
            <a:ext cx="5486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Section · 02</a:t>
            </a:r>
            <a:endParaRPr sz="2000"/>
          </a:p>
        </p:txBody>
      </p:sp>
      <p:sp>
        <p:nvSpPr>
          <p:cNvPr id="824" name="TextBox 3"/>
          <p:cNvSpPr txBox="1"/>
          <p:nvPr/>
        </p:nvSpPr>
        <p:spPr>
          <a:xfrm>
            <a:off x="731520" y="2286000"/>
            <a:ext cx="7315200" cy="70231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  <a:defRPr sz="40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000"/>
              <a:t>系统架构与核心技术</a:t>
            </a:r>
            <a:endParaRPr sz="2000"/>
          </a:p>
        </p:txBody>
      </p:sp>
      <p:sp>
        <p:nvSpPr>
          <p:cNvPr id="825" name="TextBox 4"/>
          <p:cNvSpPr txBox="1"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2000"/>
              <a:t>Architecture &amp; Core Technology</a:t>
            </a:r>
            <a:endParaRPr sz="2000"/>
          </a:p>
        </p:txBody>
      </p:sp>
      <p:sp>
        <p:nvSpPr>
          <p:cNvPr id="826" name="Rectangle 5"/>
          <p:cNvSpPr/>
          <p:nvPr/>
        </p:nvSpPr>
        <p:spPr>
          <a:xfrm>
            <a:off x="731520" y="3794760"/>
            <a:ext cx="2286000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7" name="TextBox 6"/>
          <p:cNvSpPr txBox="1"/>
          <p:nvPr/>
        </p:nvSpPr>
        <p:spPr>
          <a:xfrm>
            <a:off x="731520" y="3977639"/>
            <a:ext cx="73152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2000"/>
              <a:t>五层架构 / 13 种协议 / ScanEngine 调度引擎 / ShadowCore 状态模型</a:t>
            </a:r>
            <a:endParaRPr sz="2000"/>
          </a:p>
        </p:txBody>
      </p:sp>
      <p:sp>
        <p:nvSpPr>
          <p:cNvPr id="82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6 / 29</a:t>
            </a:r>
            <a:endParaRPr sz="1000"/>
          </a:p>
        </p:txBody>
      </p:sp>
      <p:sp>
        <p:nvSpPr>
          <p:cNvPr id="82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8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8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833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系统架构</a:t>
            </a:r>
            <a:endParaRPr sz="1100"/>
          </a:p>
        </p:txBody>
      </p:sp>
      <p:sp>
        <p:nvSpPr>
          <p:cNvPr id="834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5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Architecture · 总体架构</a:t>
            </a:r>
            <a:endParaRPr sz="2000"/>
          </a:p>
        </p:txBody>
      </p:sp>
      <p:sp>
        <p:nvSpPr>
          <p:cNvPr id="836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五层架构模型</a:t>
            </a:r>
            <a:endParaRPr sz="2600"/>
          </a:p>
        </p:txBody>
      </p:sp>
      <p:sp>
        <p:nvSpPr>
          <p:cNvPr id="837" name="Rounded Rectangle 6"/>
          <p:cNvSpPr/>
          <p:nvPr/>
        </p:nvSpPr>
        <p:spPr>
          <a:xfrm>
            <a:off x="457200" y="1508760"/>
            <a:ext cx="1371600" cy="749808"/>
          </a:xfrm>
          <a:prstGeom prst="roundRect">
            <a:avLst>
              <a:gd name="adj" fmla="val 7000"/>
            </a:avLst>
          </a:prstGeom>
          <a:solidFill>
            <a:srgbClr val="1A2238"/>
          </a:solidFill>
          <a:ln w="9525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AI / MCP</a:t>
            </a:r>
            <a:endParaRPr sz="1600"/>
          </a:p>
          <a:p>
            <a:pPr algn="ctr">
              <a:lnSpc>
                <a:spcPct val="110000"/>
              </a:lnSpc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能力开放</a:t>
            </a:r>
            <a:endParaRPr sz="1600"/>
          </a:p>
        </p:txBody>
      </p:sp>
      <p:sp>
        <p:nvSpPr>
          <p:cNvPr id="838" name="Rounded Rectangle 7"/>
          <p:cNvSpPr/>
          <p:nvPr/>
        </p:nvSpPr>
        <p:spPr>
          <a:xfrm>
            <a:off x="2011680" y="1508760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9" name="TextBox 8"/>
          <p:cNvSpPr txBox="1"/>
          <p:nvPr/>
        </p:nvSpPr>
        <p:spPr>
          <a:xfrm>
            <a:off x="2103120" y="1581912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MCP Server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JSON-RPC / HTTP·SSE</a:t>
            </a:r>
            <a:endParaRPr sz="1800"/>
          </a:p>
        </p:txBody>
      </p:sp>
      <p:sp>
        <p:nvSpPr>
          <p:cNvPr id="840" name="Rounded Rectangle 9"/>
          <p:cNvSpPr/>
          <p:nvPr/>
        </p:nvSpPr>
        <p:spPr>
          <a:xfrm>
            <a:off x="5239512" y="1508760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1" name="TextBox 10"/>
          <p:cNvSpPr txBox="1"/>
          <p:nvPr/>
        </p:nvSpPr>
        <p:spPr>
          <a:xfrm>
            <a:off x="5330952" y="1581912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EAN 2.0 Agent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能力发现 / 调用</a:t>
            </a:r>
            <a:endParaRPr sz="1800"/>
          </a:p>
        </p:txBody>
      </p:sp>
      <p:sp>
        <p:nvSpPr>
          <p:cNvPr id="842" name="Rounded Rectangle 11"/>
          <p:cNvSpPr/>
          <p:nvPr/>
        </p:nvSpPr>
        <p:spPr>
          <a:xfrm>
            <a:off x="8467344" y="1508760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3" name="TextBox 12"/>
          <p:cNvSpPr txBox="1"/>
          <p:nvPr/>
        </p:nvSpPr>
        <p:spPr>
          <a:xfrm>
            <a:off x="8558784" y="1581912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AI Copilot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协议逆向 / 诊断</a:t>
            </a:r>
            <a:endParaRPr sz="1800"/>
          </a:p>
        </p:txBody>
      </p:sp>
      <p:sp>
        <p:nvSpPr>
          <p:cNvPr id="844" name="Rounded Rectangle 13"/>
          <p:cNvSpPr/>
          <p:nvPr/>
        </p:nvSpPr>
        <p:spPr>
          <a:xfrm>
            <a:off x="457200" y="2350008"/>
            <a:ext cx="1371600" cy="749808"/>
          </a:xfrm>
          <a:prstGeom prst="roundRect">
            <a:avLst>
              <a:gd name="adj" fmla="val 7000"/>
            </a:avLst>
          </a:prstGeom>
          <a:solidFill>
            <a:srgbClr val="101628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Business</a:t>
            </a:r>
            <a:endParaRPr sz="1600"/>
          </a:p>
          <a:p>
            <a:pPr algn="ctr">
              <a:lnSpc>
                <a:spcPct val="110000"/>
              </a:lnSpc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边缘业务</a:t>
            </a:r>
            <a:endParaRPr sz="1600"/>
          </a:p>
        </p:txBody>
      </p:sp>
      <p:sp>
        <p:nvSpPr>
          <p:cNvPr id="845" name="Rounded Rectangle 14"/>
          <p:cNvSpPr/>
          <p:nvPr/>
        </p:nvSpPr>
        <p:spPr>
          <a:xfrm>
            <a:off x="2011680" y="2350008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6" name="TextBox 15"/>
          <p:cNvSpPr txBox="1"/>
          <p:nvPr/>
        </p:nvSpPr>
        <p:spPr>
          <a:xfrm>
            <a:off x="2103120" y="2423160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虚拟影子设备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跨设备公式计算</a:t>
            </a:r>
            <a:endParaRPr sz="1800"/>
          </a:p>
        </p:txBody>
      </p:sp>
      <p:sp>
        <p:nvSpPr>
          <p:cNvPr id="847" name="Rounded Rectangle 16"/>
          <p:cNvSpPr/>
          <p:nvPr/>
        </p:nvSpPr>
        <p:spPr>
          <a:xfrm>
            <a:off x="5239512" y="2350008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8" name="TextBox 17"/>
          <p:cNvSpPr txBox="1"/>
          <p:nvPr/>
        </p:nvSpPr>
        <p:spPr>
          <a:xfrm>
            <a:off x="5330952" y="2423160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边缘规则引擎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expr + RMW</a:t>
            </a:r>
            <a:endParaRPr sz="1800"/>
          </a:p>
        </p:txBody>
      </p:sp>
      <p:sp>
        <p:nvSpPr>
          <p:cNvPr id="849" name="Rounded Rectangle 18"/>
          <p:cNvSpPr/>
          <p:nvPr/>
        </p:nvSpPr>
        <p:spPr>
          <a:xfrm>
            <a:off x="8467344" y="2350008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0" name="TextBox 19"/>
          <p:cNvSpPr txBox="1"/>
          <p:nvPr/>
        </p:nvSpPr>
        <p:spPr>
          <a:xfrm>
            <a:off x="8558784" y="2423160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北向通道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MQTT / Sparkplug B / OPC UA / BACnet</a:t>
            </a:r>
            <a:endParaRPr sz="1800"/>
          </a:p>
        </p:txBody>
      </p:sp>
      <p:sp>
        <p:nvSpPr>
          <p:cNvPr id="851" name="Rounded Rectangle 20"/>
          <p:cNvSpPr/>
          <p:nvPr/>
        </p:nvSpPr>
        <p:spPr>
          <a:xfrm>
            <a:off x="457200" y="3191256"/>
            <a:ext cx="1371600" cy="749808"/>
          </a:xfrm>
          <a:prstGeom prst="roundRect">
            <a:avLst>
              <a:gd name="adj" fmla="val 7000"/>
            </a:avLst>
          </a:prstGeom>
          <a:solidFill>
            <a:srgbClr val="1A2238"/>
          </a:solidFill>
          <a:ln w="9525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ShadowCore</a:t>
            </a:r>
            <a:endParaRPr sz="1600"/>
          </a:p>
          <a:p>
            <a:pPr algn="ctr">
              <a:lnSpc>
                <a:spcPct val="110000"/>
              </a:lnSpc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状态真源</a:t>
            </a:r>
            <a:endParaRPr sz="1600"/>
          </a:p>
        </p:txBody>
      </p:sp>
      <p:sp>
        <p:nvSpPr>
          <p:cNvPr id="852" name="Rounded Rectangle 21"/>
          <p:cNvSpPr/>
          <p:nvPr/>
        </p:nvSpPr>
        <p:spPr>
          <a:xfrm>
            <a:off x="2011680" y="3191256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3" name="TextBox 22"/>
          <p:cNvSpPr txBox="1"/>
          <p:nvPr/>
        </p:nvSpPr>
        <p:spPr>
          <a:xfrm>
            <a:off x="2103120" y="3264408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COW 快照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版本化内存态</a:t>
            </a:r>
            <a:endParaRPr sz="1800"/>
          </a:p>
        </p:txBody>
      </p:sp>
      <p:sp>
        <p:nvSpPr>
          <p:cNvPr id="854" name="Rounded Rectangle 23"/>
          <p:cNvSpPr/>
          <p:nvPr/>
        </p:nvSpPr>
        <p:spPr>
          <a:xfrm>
            <a:off x="5239512" y="3191256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5" name="TextBox 24"/>
          <p:cNvSpPr txBox="1"/>
          <p:nvPr/>
        </p:nvSpPr>
        <p:spPr>
          <a:xfrm>
            <a:off x="5330952" y="3264408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无锁读路径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&lt; 5ms 响应</a:t>
            </a:r>
            <a:endParaRPr sz="1800"/>
          </a:p>
        </p:txBody>
      </p:sp>
      <p:sp>
        <p:nvSpPr>
          <p:cNvPr id="856" name="Rounded Rectangle 25"/>
          <p:cNvSpPr/>
          <p:nvPr/>
        </p:nvSpPr>
        <p:spPr>
          <a:xfrm>
            <a:off x="8467344" y="3191256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7" name="TextBox 26"/>
          <p:cNvSpPr txBox="1"/>
          <p:nvPr/>
        </p:nvSpPr>
        <p:spPr>
          <a:xfrm>
            <a:off x="8558784" y="3264408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通信画像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RTT / 稳定性评分</a:t>
            </a:r>
            <a:endParaRPr sz="1800"/>
          </a:p>
        </p:txBody>
      </p:sp>
      <p:sp>
        <p:nvSpPr>
          <p:cNvPr id="858" name="Rounded Rectangle 27"/>
          <p:cNvSpPr/>
          <p:nvPr/>
        </p:nvSpPr>
        <p:spPr>
          <a:xfrm>
            <a:off x="457200" y="4032504"/>
            <a:ext cx="1371600" cy="749808"/>
          </a:xfrm>
          <a:prstGeom prst="roundRect">
            <a:avLst>
              <a:gd name="adj" fmla="val 7000"/>
            </a:avLst>
          </a:prstGeom>
          <a:solidFill>
            <a:srgbClr val="101628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ScanEngine</a:t>
            </a:r>
            <a:endParaRPr sz="1600"/>
          </a:p>
          <a:p>
            <a:pPr algn="ctr">
              <a:lnSpc>
                <a:spcPct val="110000"/>
              </a:lnSpc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调度内核</a:t>
            </a:r>
            <a:endParaRPr sz="1600"/>
          </a:p>
        </p:txBody>
      </p:sp>
      <p:sp>
        <p:nvSpPr>
          <p:cNvPr id="859" name="Rounded Rectangle 28"/>
          <p:cNvSpPr/>
          <p:nvPr/>
        </p:nvSpPr>
        <p:spPr>
          <a:xfrm>
            <a:off x="2011680" y="4032504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0" name="TextBox 29"/>
          <p:cNvSpPr txBox="1"/>
          <p:nvPr/>
        </p:nvSpPr>
        <p:spPr>
          <a:xfrm>
            <a:off x="2103120" y="4105656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EDF 调度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最早截止优先</a:t>
            </a:r>
            <a:endParaRPr sz="1800"/>
          </a:p>
        </p:txBody>
      </p:sp>
      <p:sp>
        <p:nvSpPr>
          <p:cNvPr id="861" name="Rounded Rectangle 30"/>
          <p:cNvSpPr/>
          <p:nvPr/>
        </p:nvSpPr>
        <p:spPr>
          <a:xfrm>
            <a:off x="5239512" y="4032504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2" name="TextBox 31"/>
          <p:cNvSpPr txBox="1"/>
          <p:nvPr/>
        </p:nvSpPr>
        <p:spPr>
          <a:xfrm>
            <a:off x="5330952" y="4105656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资源配额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限流 / 熔断</a:t>
            </a:r>
            <a:endParaRPr sz="1800"/>
          </a:p>
        </p:txBody>
      </p:sp>
      <p:sp>
        <p:nvSpPr>
          <p:cNvPr id="863" name="Rounded Rectangle 32"/>
          <p:cNvSpPr/>
          <p:nvPr/>
        </p:nvSpPr>
        <p:spPr>
          <a:xfrm>
            <a:off x="8467344" y="4032504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4" name="TextBox 33"/>
          <p:cNvSpPr txBox="1"/>
          <p:nvPr/>
        </p:nvSpPr>
        <p:spPr>
          <a:xfrm>
            <a:off x="8558784" y="4105656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自适应退避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失败恢复</a:t>
            </a:r>
            <a:endParaRPr sz="1800"/>
          </a:p>
        </p:txBody>
      </p:sp>
      <p:sp>
        <p:nvSpPr>
          <p:cNvPr id="865" name="Rounded Rectangle 34"/>
          <p:cNvSpPr/>
          <p:nvPr/>
        </p:nvSpPr>
        <p:spPr>
          <a:xfrm>
            <a:off x="457200" y="4873752"/>
            <a:ext cx="1371600" cy="749808"/>
          </a:xfrm>
          <a:prstGeom prst="roundRect">
            <a:avLst>
              <a:gd name="adj" fmla="val 7000"/>
            </a:avLst>
          </a:prstGeom>
          <a:solidFill>
            <a:srgbClr val="101628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Protocol</a:t>
            </a:r>
            <a:endParaRPr sz="1600"/>
          </a:p>
          <a:p>
            <a:pPr algn="ctr">
              <a:lnSpc>
                <a:spcPct val="110000"/>
              </a:lnSpc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协议驱动</a:t>
            </a:r>
            <a:endParaRPr sz="1600"/>
          </a:p>
        </p:txBody>
      </p:sp>
      <p:sp>
        <p:nvSpPr>
          <p:cNvPr id="866" name="Rounded Rectangle 35"/>
          <p:cNvSpPr/>
          <p:nvPr/>
        </p:nvSpPr>
        <p:spPr>
          <a:xfrm>
            <a:off x="2011680" y="4873752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7" name="TextBox 36"/>
          <p:cNvSpPr txBox="1"/>
          <p:nvPr/>
        </p:nvSpPr>
        <p:spPr>
          <a:xfrm>
            <a:off x="2103120" y="4946904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Driver Execute Only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仅报文解析</a:t>
            </a:r>
            <a:endParaRPr sz="1800"/>
          </a:p>
        </p:txBody>
      </p:sp>
      <p:sp>
        <p:nvSpPr>
          <p:cNvPr id="868" name="Rounded Rectangle 37"/>
          <p:cNvSpPr/>
          <p:nvPr/>
        </p:nvSpPr>
        <p:spPr>
          <a:xfrm>
            <a:off x="5239512" y="4873752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9" name="TextBox 38"/>
          <p:cNvSpPr txBox="1"/>
          <p:nvPr/>
        </p:nvSpPr>
        <p:spPr>
          <a:xfrm>
            <a:off x="5330952" y="4946904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13 种协议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Modbus / S7 / OPC UA...</a:t>
            </a:r>
            <a:endParaRPr sz="1800"/>
          </a:p>
        </p:txBody>
      </p:sp>
      <p:sp>
        <p:nvSpPr>
          <p:cNvPr id="870" name="Rounded Rectangle 39"/>
          <p:cNvSpPr/>
          <p:nvPr/>
        </p:nvSpPr>
        <p:spPr>
          <a:xfrm>
            <a:off x="8467344" y="4873752"/>
            <a:ext cx="3154680" cy="74980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1" name="TextBox 40"/>
          <p:cNvSpPr txBox="1"/>
          <p:nvPr/>
        </p:nvSpPr>
        <p:spPr>
          <a:xfrm>
            <a:off x="8558784" y="4946904"/>
            <a:ext cx="2971800" cy="6035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ConnectionManager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统一连接治理</a:t>
            </a:r>
            <a:endParaRPr sz="1800"/>
          </a:p>
        </p:txBody>
      </p:sp>
      <p:sp>
        <p:nvSpPr>
          <p:cNvPr id="872" name="TextBox 41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7 / 29</a:t>
            </a:r>
            <a:endParaRPr sz="1000"/>
          </a:p>
        </p:txBody>
      </p:sp>
      <p:sp>
        <p:nvSpPr>
          <p:cNvPr id="87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87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8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877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协议支持</a:t>
            </a:r>
            <a:endParaRPr sz="1100"/>
          </a:p>
        </p:txBody>
      </p:sp>
      <p:sp>
        <p:nvSpPr>
          <p:cNvPr id="878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9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Protocols · 工业协议</a:t>
            </a:r>
            <a:endParaRPr sz="2000"/>
          </a:p>
        </p:txBody>
      </p:sp>
      <p:sp>
        <p:nvSpPr>
          <p:cNvPr id="880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13 种工业协议统一接入</a:t>
            </a:r>
            <a:endParaRPr sz="2600"/>
          </a:p>
        </p:txBody>
      </p:sp>
      <p:sp>
        <p:nvSpPr>
          <p:cNvPr id="881" name="Rounded Rectangle 6"/>
          <p:cNvSpPr/>
          <p:nvPr/>
        </p:nvSpPr>
        <p:spPr>
          <a:xfrm>
            <a:off x="457200" y="1463040"/>
            <a:ext cx="2743200" cy="36576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2" name="TextBox 7"/>
          <p:cNvSpPr txBox="1"/>
          <p:nvPr/>
        </p:nvSpPr>
        <p:spPr>
          <a:xfrm>
            <a:off x="548640" y="1508760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协议名称</a:t>
            </a:r>
            <a:endParaRPr sz="1400"/>
          </a:p>
        </p:txBody>
      </p:sp>
      <p:sp>
        <p:nvSpPr>
          <p:cNvPr id="883" name="Rounded Rectangle 8"/>
          <p:cNvSpPr/>
          <p:nvPr/>
        </p:nvSpPr>
        <p:spPr>
          <a:xfrm>
            <a:off x="3200400" y="1463040"/>
            <a:ext cx="2468880" cy="36576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4" name="TextBox 9"/>
          <p:cNvSpPr txBox="1"/>
          <p:nvPr/>
        </p:nvSpPr>
        <p:spPr>
          <a:xfrm>
            <a:off x="3291840" y="1508760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注册标识</a:t>
            </a:r>
            <a:endParaRPr sz="1400"/>
          </a:p>
        </p:txBody>
      </p:sp>
      <p:sp>
        <p:nvSpPr>
          <p:cNvPr id="885" name="Rounded Rectangle 10"/>
          <p:cNvSpPr/>
          <p:nvPr/>
        </p:nvSpPr>
        <p:spPr>
          <a:xfrm>
            <a:off x="5669280" y="1463040"/>
            <a:ext cx="2103120" cy="36576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6" name="TextBox 11"/>
          <p:cNvSpPr txBox="1"/>
          <p:nvPr/>
        </p:nvSpPr>
        <p:spPr>
          <a:xfrm>
            <a:off x="5760720" y="1508760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测试覆盖</a:t>
            </a:r>
            <a:endParaRPr sz="1400"/>
          </a:p>
        </p:txBody>
      </p:sp>
      <p:sp>
        <p:nvSpPr>
          <p:cNvPr id="887" name="Rounded Rectangle 12"/>
          <p:cNvSpPr/>
          <p:nvPr/>
        </p:nvSpPr>
        <p:spPr>
          <a:xfrm>
            <a:off x="7772400" y="1463040"/>
            <a:ext cx="3931920" cy="36576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8" name="TextBox 13"/>
          <p:cNvSpPr txBox="1"/>
          <p:nvPr/>
        </p:nvSpPr>
        <p:spPr>
          <a:xfrm>
            <a:off x="7863840" y="1508760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典型设备</a:t>
            </a:r>
            <a:endParaRPr sz="1400"/>
          </a:p>
        </p:txBody>
      </p:sp>
      <p:sp>
        <p:nvSpPr>
          <p:cNvPr id="889" name="Rounded Rectangle 14"/>
          <p:cNvSpPr/>
          <p:nvPr/>
        </p:nvSpPr>
        <p:spPr>
          <a:xfrm>
            <a:off x="457200" y="1874520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" name="TextBox 15"/>
          <p:cNvSpPr txBox="1"/>
          <p:nvPr/>
        </p:nvSpPr>
        <p:spPr>
          <a:xfrm>
            <a:off x="548640" y="1901952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Modbus TCP/RTU</a:t>
            </a:r>
            <a:endParaRPr sz="1400"/>
          </a:p>
        </p:txBody>
      </p:sp>
      <p:sp>
        <p:nvSpPr>
          <p:cNvPr id="891" name="Rounded Rectangle 16"/>
          <p:cNvSpPr/>
          <p:nvPr/>
        </p:nvSpPr>
        <p:spPr>
          <a:xfrm>
            <a:off x="3200400" y="1874520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" name="TextBox 17"/>
          <p:cNvSpPr txBox="1"/>
          <p:nvPr/>
        </p:nvSpPr>
        <p:spPr>
          <a:xfrm>
            <a:off x="3291840" y="1901952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modbus-tcp</a:t>
            </a:r>
            <a:endParaRPr sz="1400"/>
          </a:p>
        </p:txBody>
      </p:sp>
      <p:sp>
        <p:nvSpPr>
          <p:cNvPr id="893" name="Rounded Rectangle 18"/>
          <p:cNvSpPr/>
          <p:nvPr/>
        </p:nvSpPr>
        <p:spPr>
          <a:xfrm>
            <a:off x="5669280" y="1874520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4" name="TextBox 19"/>
          <p:cNvSpPr txBox="1"/>
          <p:nvPr/>
        </p:nvSpPr>
        <p:spPr>
          <a:xfrm>
            <a:off x="5760720" y="1901952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65.9%</a:t>
            </a:r>
            <a:endParaRPr sz="1400"/>
          </a:p>
        </p:txBody>
      </p:sp>
      <p:sp>
        <p:nvSpPr>
          <p:cNvPr id="895" name="Rounded Rectangle 20"/>
          <p:cNvSpPr/>
          <p:nvPr/>
        </p:nvSpPr>
        <p:spPr>
          <a:xfrm>
            <a:off x="7772400" y="1874520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" name="TextBox 21"/>
          <p:cNvSpPr txBox="1"/>
          <p:nvPr/>
        </p:nvSpPr>
        <p:spPr>
          <a:xfrm>
            <a:off x="7863840" y="1901952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PLC / 仪表 / 变频器</a:t>
            </a:r>
            <a:endParaRPr sz="1400"/>
          </a:p>
        </p:txBody>
      </p:sp>
      <p:sp>
        <p:nvSpPr>
          <p:cNvPr id="897" name="Rounded Rectangle 22"/>
          <p:cNvSpPr/>
          <p:nvPr/>
        </p:nvSpPr>
        <p:spPr>
          <a:xfrm>
            <a:off x="457200" y="2203704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8" name="TextBox 23"/>
          <p:cNvSpPr txBox="1"/>
          <p:nvPr/>
        </p:nvSpPr>
        <p:spPr>
          <a:xfrm>
            <a:off x="548640" y="2231136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OPC UA</a:t>
            </a:r>
            <a:endParaRPr sz="1400"/>
          </a:p>
        </p:txBody>
      </p:sp>
      <p:sp>
        <p:nvSpPr>
          <p:cNvPr id="899" name="Rounded Rectangle 24"/>
          <p:cNvSpPr/>
          <p:nvPr/>
        </p:nvSpPr>
        <p:spPr>
          <a:xfrm>
            <a:off x="3200400" y="2203704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" name="TextBox 25"/>
          <p:cNvSpPr txBox="1"/>
          <p:nvPr/>
        </p:nvSpPr>
        <p:spPr>
          <a:xfrm>
            <a:off x="3291840" y="2231136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opc-ua</a:t>
            </a:r>
            <a:endParaRPr sz="1400"/>
          </a:p>
        </p:txBody>
      </p:sp>
      <p:sp>
        <p:nvSpPr>
          <p:cNvPr id="901" name="Rounded Rectangle 26"/>
          <p:cNvSpPr/>
          <p:nvPr/>
        </p:nvSpPr>
        <p:spPr>
          <a:xfrm>
            <a:off x="5669280" y="2203704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" name="TextBox 27"/>
          <p:cNvSpPr txBox="1"/>
          <p:nvPr/>
        </p:nvSpPr>
        <p:spPr>
          <a:xfrm>
            <a:off x="5760720" y="2231136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47.9%</a:t>
            </a:r>
            <a:endParaRPr sz="1400"/>
          </a:p>
        </p:txBody>
      </p:sp>
      <p:sp>
        <p:nvSpPr>
          <p:cNvPr id="903" name="Rounded Rectangle 28"/>
          <p:cNvSpPr/>
          <p:nvPr/>
        </p:nvSpPr>
        <p:spPr>
          <a:xfrm>
            <a:off x="7772400" y="2203704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extBox 29"/>
          <p:cNvSpPr txBox="1"/>
          <p:nvPr/>
        </p:nvSpPr>
        <p:spPr>
          <a:xfrm>
            <a:off x="7863840" y="2231136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西门子 / 罗克韦尔</a:t>
            </a:r>
            <a:endParaRPr sz="1400"/>
          </a:p>
        </p:txBody>
      </p:sp>
      <p:sp>
        <p:nvSpPr>
          <p:cNvPr id="905" name="Rounded Rectangle 30"/>
          <p:cNvSpPr/>
          <p:nvPr/>
        </p:nvSpPr>
        <p:spPr>
          <a:xfrm>
            <a:off x="457200" y="2532888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" name="TextBox 31"/>
          <p:cNvSpPr txBox="1"/>
          <p:nvPr/>
        </p:nvSpPr>
        <p:spPr>
          <a:xfrm>
            <a:off x="548640" y="2560320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BACnet IP</a:t>
            </a:r>
            <a:endParaRPr sz="1400"/>
          </a:p>
        </p:txBody>
      </p:sp>
      <p:sp>
        <p:nvSpPr>
          <p:cNvPr id="907" name="Rounded Rectangle 32"/>
          <p:cNvSpPr/>
          <p:nvPr/>
        </p:nvSpPr>
        <p:spPr>
          <a:xfrm>
            <a:off x="3200400" y="2532888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33"/>
          <p:cNvSpPr txBox="1"/>
          <p:nvPr/>
        </p:nvSpPr>
        <p:spPr>
          <a:xfrm>
            <a:off x="3291840" y="2560320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bacnet-ip</a:t>
            </a:r>
            <a:endParaRPr sz="1400"/>
          </a:p>
        </p:txBody>
      </p:sp>
      <p:sp>
        <p:nvSpPr>
          <p:cNvPr id="909" name="Rounded Rectangle 34"/>
          <p:cNvSpPr/>
          <p:nvPr/>
        </p:nvSpPr>
        <p:spPr>
          <a:xfrm>
            <a:off x="5669280" y="2532888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" name="TextBox 35"/>
          <p:cNvSpPr txBox="1"/>
          <p:nvPr/>
        </p:nvSpPr>
        <p:spPr>
          <a:xfrm>
            <a:off x="5760720" y="2560320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66.1%</a:t>
            </a:r>
            <a:endParaRPr sz="1400"/>
          </a:p>
        </p:txBody>
      </p:sp>
      <p:sp>
        <p:nvSpPr>
          <p:cNvPr id="911" name="Rounded Rectangle 36"/>
          <p:cNvSpPr/>
          <p:nvPr/>
        </p:nvSpPr>
        <p:spPr>
          <a:xfrm>
            <a:off x="7772400" y="2532888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2" name="TextBox 37"/>
          <p:cNvSpPr txBox="1"/>
          <p:nvPr/>
        </p:nvSpPr>
        <p:spPr>
          <a:xfrm>
            <a:off x="7863840" y="2560320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楼宇暖通 / 消防</a:t>
            </a:r>
            <a:endParaRPr sz="1400"/>
          </a:p>
        </p:txBody>
      </p:sp>
      <p:sp>
        <p:nvSpPr>
          <p:cNvPr id="913" name="Rounded Rectangle 38"/>
          <p:cNvSpPr/>
          <p:nvPr/>
        </p:nvSpPr>
        <p:spPr>
          <a:xfrm>
            <a:off x="457200" y="2862072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4" name="TextBox 39"/>
          <p:cNvSpPr txBox="1"/>
          <p:nvPr/>
        </p:nvSpPr>
        <p:spPr>
          <a:xfrm>
            <a:off x="548640" y="2889504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Siemens S7</a:t>
            </a:r>
            <a:endParaRPr sz="1400"/>
          </a:p>
        </p:txBody>
      </p:sp>
      <p:sp>
        <p:nvSpPr>
          <p:cNvPr id="915" name="Rounded Rectangle 40"/>
          <p:cNvSpPr/>
          <p:nvPr/>
        </p:nvSpPr>
        <p:spPr>
          <a:xfrm>
            <a:off x="3200400" y="2862072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6" name="TextBox 41"/>
          <p:cNvSpPr txBox="1"/>
          <p:nvPr/>
        </p:nvSpPr>
        <p:spPr>
          <a:xfrm>
            <a:off x="3291840" y="2889504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s7</a:t>
            </a:r>
            <a:endParaRPr sz="1400"/>
          </a:p>
        </p:txBody>
      </p:sp>
      <p:sp>
        <p:nvSpPr>
          <p:cNvPr id="917" name="Rounded Rectangle 42"/>
          <p:cNvSpPr/>
          <p:nvPr/>
        </p:nvSpPr>
        <p:spPr>
          <a:xfrm>
            <a:off x="5669280" y="2862072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8" name="TextBox 43"/>
          <p:cNvSpPr txBox="1"/>
          <p:nvPr/>
        </p:nvSpPr>
        <p:spPr>
          <a:xfrm>
            <a:off x="5760720" y="2889504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61.3%</a:t>
            </a:r>
            <a:endParaRPr sz="1400"/>
          </a:p>
        </p:txBody>
      </p:sp>
      <p:sp>
        <p:nvSpPr>
          <p:cNvPr id="919" name="Rounded Rectangle 44"/>
          <p:cNvSpPr/>
          <p:nvPr/>
        </p:nvSpPr>
        <p:spPr>
          <a:xfrm>
            <a:off x="7772400" y="2862072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TextBox 45"/>
          <p:cNvSpPr txBox="1"/>
          <p:nvPr/>
        </p:nvSpPr>
        <p:spPr>
          <a:xfrm>
            <a:off x="7863840" y="2889504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S7-200/300/400/1200/1500</a:t>
            </a:r>
            <a:endParaRPr sz="1400"/>
          </a:p>
        </p:txBody>
      </p:sp>
      <p:sp>
        <p:nvSpPr>
          <p:cNvPr id="921" name="Rounded Rectangle 46"/>
          <p:cNvSpPr/>
          <p:nvPr/>
        </p:nvSpPr>
        <p:spPr>
          <a:xfrm>
            <a:off x="457200" y="3191256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2" name="TextBox 47"/>
          <p:cNvSpPr txBox="1"/>
          <p:nvPr/>
        </p:nvSpPr>
        <p:spPr>
          <a:xfrm>
            <a:off x="548640" y="3218688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EtherNet/IP</a:t>
            </a:r>
            <a:endParaRPr sz="1400"/>
          </a:p>
        </p:txBody>
      </p:sp>
      <p:sp>
        <p:nvSpPr>
          <p:cNvPr id="923" name="Rounded Rectangle 48"/>
          <p:cNvSpPr/>
          <p:nvPr/>
        </p:nvSpPr>
        <p:spPr>
          <a:xfrm>
            <a:off x="3200400" y="3191256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4" name="TextBox 49"/>
          <p:cNvSpPr txBox="1"/>
          <p:nvPr/>
        </p:nvSpPr>
        <p:spPr>
          <a:xfrm>
            <a:off x="3291840" y="3218688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ethernet-ip</a:t>
            </a:r>
            <a:endParaRPr sz="1400"/>
          </a:p>
        </p:txBody>
      </p:sp>
      <p:sp>
        <p:nvSpPr>
          <p:cNvPr id="925" name="Rounded Rectangle 50"/>
          <p:cNvSpPr/>
          <p:nvPr/>
        </p:nvSpPr>
        <p:spPr>
          <a:xfrm>
            <a:off x="5669280" y="3191256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6" name="TextBox 51"/>
          <p:cNvSpPr txBox="1"/>
          <p:nvPr/>
        </p:nvSpPr>
        <p:spPr>
          <a:xfrm>
            <a:off x="5760720" y="3218688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62.2%</a:t>
            </a:r>
            <a:endParaRPr sz="1400"/>
          </a:p>
        </p:txBody>
      </p:sp>
      <p:sp>
        <p:nvSpPr>
          <p:cNvPr id="927" name="Rounded Rectangle 52"/>
          <p:cNvSpPr/>
          <p:nvPr/>
        </p:nvSpPr>
        <p:spPr>
          <a:xfrm>
            <a:off x="7772400" y="3191256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8" name="TextBox 53"/>
          <p:cNvSpPr txBox="1"/>
          <p:nvPr/>
        </p:nvSpPr>
        <p:spPr>
          <a:xfrm>
            <a:off x="7863840" y="3218688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AB / 罗克韦尔 PLC</a:t>
            </a:r>
            <a:endParaRPr sz="1400"/>
          </a:p>
        </p:txBody>
      </p:sp>
      <p:sp>
        <p:nvSpPr>
          <p:cNvPr id="929" name="Rounded Rectangle 54"/>
          <p:cNvSpPr/>
          <p:nvPr/>
        </p:nvSpPr>
        <p:spPr>
          <a:xfrm>
            <a:off x="457200" y="3520440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0" name="TextBox 55"/>
          <p:cNvSpPr txBox="1"/>
          <p:nvPr/>
        </p:nvSpPr>
        <p:spPr>
          <a:xfrm>
            <a:off x="548640" y="3547872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Omron FINS</a:t>
            </a:r>
            <a:endParaRPr sz="1400"/>
          </a:p>
        </p:txBody>
      </p:sp>
      <p:sp>
        <p:nvSpPr>
          <p:cNvPr id="931" name="Rounded Rectangle 56"/>
          <p:cNvSpPr/>
          <p:nvPr/>
        </p:nvSpPr>
        <p:spPr>
          <a:xfrm>
            <a:off x="3200400" y="3520440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2" name="TextBox 57"/>
          <p:cNvSpPr txBox="1"/>
          <p:nvPr/>
        </p:nvSpPr>
        <p:spPr>
          <a:xfrm>
            <a:off x="3291840" y="3547872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omron-fins</a:t>
            </a:r>
            <a:endParaRPr sz="1400"/>
          </a:p>
        </p:txBody>
      </p:sp>
      <p:sp>
        <p:nvSpPr>
          <p:cNvPr id="933" name="Rounded Rectangle 58"/>
          <p:cNvSpPr/>
          <p:nvPr/>
        </p:nvSpPr>
        <p:spPr>
          <a:xfrm>
            <a:off x="5669280" y="3520440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4" name="TextBox 59"/>
          <p:cNvSpPr txBox="1"/>
          <p:nvPr/>
        </p:nvSpPr>
        <p:spPr>
          <a:xfrm>
            <a:off x="5760720" y="3547872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43.3%</a:t>
            </a:r>
            <a:endParaRPr sz="1400"/>
          </a:p>
        </p:txBody>
      </p:sp>
      <p:sp>
        <p:nvSpPr>
          <p:cNvPr id="935" name="Rounded Rectangle 60"/>
          <p:cNvSpPr/>
          <p:nvPr/>
        </p:nvSpPr>
        <p:spPr>
          <a:xfrm>
            <a:off x="7772400" y="3520440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6" name="TextBox 61"/>
          <p:cNvSpPr txBox="1"/>
          <p:nvPr/>
        </p:nvSpPr>
        <p:spPr>
          <a:xfrm>
            <a:off x="7863840" y="3547872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欧姆龙 CJ/CP 系列</a:t>
            </a:r>
            <a:endParaRPr sz="1400"/>
          </a:p>
        </p:txBody>
      </p:sp>
      <p:sp>
        <p:nvSpPr>
          <p:cNvPr id="937" name="Rounded Rectangle 62"/>
          <p:cNvSpPr/>
          <p:nvPr/>
        </p:nvSpPr>
        <p:spPr>
          <a:xfrm>
            <a:off x="457200" y="3849624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8" name="TextBox 63"/>
          <p:cNvSpPr txBox="1"/>
          <p:nvPr/>
        </p:nvSpPr>
        <p:spPr>
          <a:xfrm>
            <a:off x="548640" y="3877056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SNMP v2c/v3</a:t>
            </a:r>
            <a:endParaRPr sz="1400"/>
          </a:p>
        </p:txBody>
      </p:sp>
      <p:sp>
        <p:nvSpPr>
          <p:cNvPr id="939" name="Rounded Rectangle 64"/>
          <p:cNvSpPr/>
          <p:nvPr/>
        </p:nvSpPr>
        <p:spPr>
          <a:xfrm>
            <a:off x="3200400" y="3849624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0" name="TextBox 65"/>
          <p:cNvSpPr txBox="1"/>
          <p:nvPr/>
        </p:nvSpPr>
        <p:spPr>
          <a:xfrm>
            <a:off x="3291840" y="3877056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snmp</a:t>
            </a:r>
            <a:endParaRPr sz="1400"/>
          </a:p>
        </p:txBody>
      </p:sp>
      <p:sp>
        <p:nvSpPr>
          <p:cNvPr id="941" name="Rounded Rectangle 66"/>
          <p:cNvSpPr/>
          <p:nvPr/>
        </p:nvSpPr>
        <p:spPr>
          <a:xfrm>
            <a:off x="5669280" y="3849624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2" name="TextBox 67"/>
          <p:cNvSpPr txBox="1"/>
          <p:nvPr/>
        </p:nvSpPr>
        <p:spPr>
          <a:xfrm>
            <a:off x="5760720" y="3877056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63.7%</a:t>
            </a:r>
            <a:endParaRPr sz="1400"/>
          </a:p>
        </p:txBody>
      </p:sp>
      <p:sp>
        <p:nvSpPr>
          <p:cNvPr id="943" name="Rounded Rectangle 68"/>
          <p:cNvSpPr/>
          <p:nvPr/>
        </p:nvSpPr>
        <p:spPr>
          <a:xfrm>
            <a:off x="7772400" y="3849624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4" name="TextBox 69"/>
          <p:cNvSpPr txBox="1"/>
          <p:nvPr/>
        </p:nvSpPr>
        <p:spPr>
          <a:xfrm>
            <a:off x="7863840" y="3877056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交换机 / 路由器 / UPS</a:t>
            </a:r>
            <a:endParaRPr sz="1400"/>
          </a:p>
        </p:txBody>
      </p:sp>
      <p:sp>
        <p:nvSpPr>
          <p:cNvPr id="945" name="Rounded Rectangle 70"/>
          <p:cNvSpPr/>
          <p:nvPr/>
        </p:nvSpPr>
        <p:spPr>
          <a:xfrm>
            <a:off x="457200" y="4178808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6" name="TextBox 71"/>
          <p:cNvSpPr txBox="1"/>
          <p:nvPr/>
        </p:nvSpPr>
        <p:spPr>
          <a:xfrm>
            <a:off x="548640" y="4206240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IEC 60870-5-104</a:t>
            </a:r>
            <a:endParaRPr sz="1400"/>
          </a:p>
        </p:txBody>
      </p:sp>
      <p:sp>
        <p:nvSpPr>
          <p:cNvPr id="947" name="Rounded Rectangle 72"/>
          <p:cNvSpPr/>
          <p:nvPr/>
        </p:nvSpPr>
        <p:spPr>
          <a:xfrm>
            <a:off x="3200400" y="4178808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8" name="TextBox 73"/>
          <p:cNvSpPr txBox="1"/>
          <p:nvPr/>
        </p:nvSpPr>
        <p:spPr>
          <a:xfrm>
            <a:off x="3291840" y="4206240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iec-104</a:t>
            </a:r>
            <a:endParaRPr sz="1400"/>
          </a:p>
        </p:txBody>
      </p:sp>
      <p:sp>
        <p:nvSpPr>
          <p:cNvPr id="949" name="Rounded Rectangle 74"/>
          <p:cNvSpPr/>
          <p:nvPr/>
        </p:nvSpPr>
        <p:spPr>
          <a:xfrm>
            <a:off x="5669280" y="4178808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0" name="TextBox 75"/>
          <p:cNvSpPr txBox="1"/>
          <p:nvPr/>
        </p:nvSpPr>
        <p:spPr>
          <a:xfrm>
            <a:off x="5760720" y="4206240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60.2%</a:t>
            </a:r>
            <a:endParaRPr sz="1400"/>
          </a:p>
        </p:txBody>
      </p:sp>
      <p:sp>
        <p:nvSpPr>
          <p:cNvPr id="951" name="Rounded Rectangle 76"/>
          <p:cNvSpPr/>
          <p:nvPr/>
        </p:nvSpPr>
        <p:spPr>
          <a:xfrm>
            <a:off x="7772400" y="4178808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2" name="TextBox 77"/>
          <p:cNvSpPr txBox="1"/>
          <p:nvPr/>
        </p:nvSpPr>
        <p:spPr>
          <a:xfrm>
            <a:off x="7863840" y="4206240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电力远动 / 配电</a:t>
            </a:r>
            <a:endParaRPr sz="1400"/>
          </a:p>
        </p:txBody>
      </p:sp>
      <p:sp>
        <p:nvSpPr>
          <p:cNvPr id="953" name="Rounded Rectangle 78"/>
          <p:cNvSpPr/>
          <p:nvPr/>
        </p:nvSpPr>
        <p:spPr>
          <a:xfrm>
            <a:off x="457200" y="4507992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4" name="TextBox 79"/>
          <p:cNvSpPr txBox="1"/>
          <p:nvPr/>
        </p:nvSpPr>
        <p:spPr>
          <a:xfrm>
            <a:off x="548640" y="4535424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DL/T645-2007</a:t>
            </a:r>
            <a:endParaRPr sz="1400"/>
          </a:p>
        </p:txBody>
      </p:sp>
      <p:sp>
        <p:nvSpPr>
          <p:cNvPr id="955" name="Rounded Rectangle 80"/>
          <p:cNvSpPr/>
          <p:nvPr/>
        </p:nvSpPr>
        <p:spPr>
          <a:xfrm>
            <a:off x="3200400" y="4507992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6" name="TextBox 81"/>
          <p:cNvSpPr txBox="1"/>
          <p:nvPr/>
        </p:nvSpPr>
        <p:spPr>
          <a:xfrm>
            <a:off x="3291840" y="4535424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dlt645</a:t>
            </a:r>
            <a:endParaRPr sz="1400"/>
          </a:p>
        </p:txBody>
      </p:sp>
      <p:sp>
        <p:nvSpPr>
          <p:cNvPr id="957" name="Rounded Rectangle 82"/>
          <p:cNvSpPr/>
          <p:nvPr/>
        </p:nvSpPr>
        <p:spPr>
          <a:xfrm>
            <a:off x="5669280" y="4507992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8" name="TextBox 83"/>
          <p:cNvSpPr txBox="1"/>
          <p:nvPr/>
        </p:nvSpPr>
        <p:spPr>
          <a:xfrm>
            <a:off x="5760720" y="4535424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76.5%</a:t>
            </a:r>
            <a:endParaRPr sz="1400"/>
          </a:p>
        </p:txBody>
      </p:sp>
      <p:sp>
        <p:nvSpPr>
          <p:cNvPr id="959" name="Rounded Rectangle 84"/>
          <p:cNvSpPr/>
          <p:nvPr/>
        </p:nvSpPr>
        <p:spPr>
          <a:xfrm>
            <a:off x="7772400" y="4507992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0" name="TextBox 85"/>
          <p:cNvSpPr txBox="1"/>
          <p:nvPr/>
        </p:nvSpPr>
        <p:spPr>
          <a:xfrm>
            <a:off x="7863840" y="4535424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电能表 / 水气热表</a:t>
            </a:r>
            <a:endParaRPr sz="1400"/>
          </a:p>
        </p:txBody>
      </p:sp>
      <p:sp>
        <p:nvSpPr>
          <p:cNvPr id="961" name="Rounded Rectangle 86"/>
          <p:cNvSpPr/>
          <p:nvPr/>
        </p:nvSpPr>
        <p:spPr>
          <a:xfrm>
            <a:off x="457200" y="4837176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2" name="TextBox 87"/>
          <p:cNvSpPr txBox="1"/>
          <p:nvPr/>
        </p:nvSpPr>
        <p:spPr>
          <a:xfrm>
            <a:off x="548640" y="4864608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Mitsubishi SLMP</a:t>
            </a:r>
            <a:endParaRPr sz="1400"/>
          </a:p>
        </p:txBody>
      </p:sp>
      <p:sp>
        <p:nvSpPr>
          <p:cNvPr id="963" name="Rounded Rectangle 88"/>
          <p:cNvSpPr/>
          <p:nvPr/>
        </p:nvSpPr>
        <p:spPr>
          <a:xfrm>
            <a:off x="3200400" y="4837176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4" name="TextBox 89"/>
          <p:cNvSpPr txBox="1"/>
          <p:nvPr/>
        </p:nvSpPr>
        <p:spPr>
          <a:xfrm>
            <a:off x="3291840" y="4864608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mitsubishi-slmp</a:t>
            </a:r>
            <a:endParaRPr sz="1400"/>
          </a:p>
        </p:txBody>
      </p:sp>
      <p:sp>
        <p:nvSpPr>
          <p:cNvPr id="965" name="Rounded Rectangle 90"/>
          <p:cNvSpPr/>
          <p:nvPr/>
        </p:nvSpPr>
        <p:spPr>
          <a:xfrm>
            <a:off x="5669280" y="4837176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6" name="TextBox 91"/>
          <p:cNvSpPr txBox="1"/>
          <p:nvPr/>
        </p:nvSpPr>
        <p:spPr>
          <a:xfrm>
            <a:off x="5760720" y="4864608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70.7%</a:t>
            </a:r>
            <a:endParaRPr sz="1400"/>
          </a:p>
        </p:txBody>
      </p:sp>
      <p:sp>
        <p:nvSpPr>
          <p:cNvPr id="967" name="Rounded Rectangle 92"/>
          <p:cNvSpPr/>
          <p:nvPr/>
        </p:nvSpPr>
        <p:spPr>
          <a:xfrm>
            <a:off x="7772400" y="4837176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8" name="TextBox 93"/>
          <p:cNvSpPr txBox="1"/>
          <p:nvPr/>
        </p:nvSpPr>
        <p:spPr>
          <a:xfrm>
            <a:off x="7863840" y="4864608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三菱 Q/L 系列 PLC</a:t>
            </a:r>
            <a:endParaRPr sz="1400"/>
          </a:p>
        </p:txBody>
      </p:sp>
      <p:sp>
        <p:nvSpPr>
          <p:cNvPr id="969" name="Rounded Rectangle 94"/>
          <p:cNvSpPr/>
          <p:nvPr/>
        </p:nvSpPr>
        <p:spPr>
          <a:xfrm>
            <a:off x="457200" y="5166360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0" name="TextBox 95"/>
          <p:cNvSpPr txBox="1"/>
          <p:nvPr/>
        </p:nvSpPr>
        <p:spPr>
          <a:xfrm>
            <a:off x="548640" y="5193792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Profinet IO</a:t>
            </a:r>
            <a:endParaRPr sz="1400"/>
          </a:p>
        </p:txBody>
      </p:sp>
      <p:sp>
        <p:nvSpPr>
          <p:cNvPr id="971" name="Rounded Rectangle 96"/>
          <p:cNvSpPr/>
          <p:nvPr/>
        </p:nvSpPr>
        <p:spPr>
          <a:xfrm>
            <a:off x="3200400" y="5166360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2" name="TextBox 97"/>
          <p:cNvSpPr txBox="1"/>
          <p:nvPr/>
        </p:nvSpPr>
        <p:spPr>
          <a:xfrm>
            <a:off x="3291840" y="5193792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profinet-io</a:t>
            </a:r>
            <a:endParaRPr sz="1400"/>
          </a:p>
        </p:txBody>
      </p:sp>
      <p:sp>
        <p:nvSpPr>
          <p:cNvPr id="973" name="Rounded Rectangle 98"/>
          <p:cNvSpPr/>
          <p:nvPr/>
        </p:nvSpPr>
        <p:spPr>
          <a:xfrm>
            <a:off x="5669280" y="5166360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4" name="TextBox 99"/>
          <p:cNvSpPr txBox="1"/>
          <p:nvPr/>
        </p:nvSpPr>
        <p:spPr>
          <a:xfrm>
            <a:off x="5760720" y="5193792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55.9%</a:t>
            </a:r>
            <a:endParaRPr sz="1400"/>
          </a:p>
        </p:txBody>
      </p:sp>
      <p:sp>
        <p:nvSpPr>
          <p:cNvPr id="975" name="Rounded Rectangle 100"/>
          <p:cNvSpPr/>
          <p:nvPr/>
        </p:nvSpPr>
        <p:spPr>
          <a:xfrm>
            <a:off x="7772400" y="5166360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6" name="TextBox 101"/>
          <p:cNvSpPr txBox="1"/>
          <p:nvPr/>
        </p:nvSpPr>
        <p:spPr>
          <a:xfrm>
            <a:off x="7863840" y="5193792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西门子 ET200 / S7</a:t>
            </a:r>
            <a:endParaRPr sz="1400"/>
          </a:p>
        </p:txBody>
      </p:sp>
      <p:sp>
        <p:nvSpPr>
          <p:cNvPr id="977" name="Rounded Rectangle 102"/>
          <p:cNvSpPr/>
          <p:nvPr/>
        </p:nvSpPr>
        <p:spPr>
          <a:xfrm>
            <a:off x="457200" y="5495544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8" name="TextBox 103"/>
          <p:cNvSpPr txBox="1"/>
          <p:nvPr/>
        </p:nvSpPr>
        <p:spPr>
          <a:xfrm>
            <a:off x="548640" y="5522976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KNXnet/IP</a:t>
            </a:r>
            <a:endParaRPr sz="1400"/>
          </a:p>
        </p:txBody>
      </p:sp>
      <p:sp>
        <p:nvSpPr>
          <p:cNvPr id="979" name="Rounded Rectangle 104"/>
          <p:cNvSpPr/>
          <p:nvPr/>
        </p:nvSpPr>
        <p:spPr>
          <a:xfrm>
            <a:off x="3200400" y="5495544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0" name="TextBox 105"/>
          <p:cNvSpPr txBox="1"/>
          <p:nvPr/>
        </p:nvSpPr>
        <p:spPr>
          <a:xfrm>
            <a:off x="3291840" y="5522976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knxnet-ip</a:t>
            </a:r>
            <a:endParaRPr sz="1400"/>
          </a:p>
        </p:txBody>
      </p:sp>
      <p:sp>
        <p:nvSpPr>
          <p:cNvPr id="981" name="Rounded Rectangle 106"/>
          <p:cNvSpPr/>
          <p:nvPr/>
        </p:nvSpPr>
        <p:spPr>
          <a:xfrm>
            <a:off x="5669280" y="5495544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2" name="TextBox 107"/>
          <p:cNvSpPr txBox="1"/>
          <p:nvPr/>
        </p:nvSpPr>
        <p:spPr>
          <a:xfrm>
            <a:off x="5760720" y="5522976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77.2%</a:t>
            </a:r>
            <a:endParaRPr sz="1400"/>
          </a:p>
        </p:txBody>
      </p:sp>
      <p:sp>
        <p:nvSpPr>
          <p:cNvPr id="983" name="Rounded Rectangle 108"/>
          <p:cNvSpPr/>
          <p:nvPr/>
        </p:nvSpPr>
        <p:spPr>
          <a:xfrm>
            <a:off x="7772400" y="5495544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01628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4" name="TextBox 109"/>
          <p:cNvSpPr txBox="1"/>
          <p:nvPr/>
        </p:nvSpPr>
        <p:spPr>
          <a:xfrm>
            <a:off x="7863840" y="5522976"/>
            <a:ext cx="37490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智能照明 / 窗帘</a:t>
            </a:r>
            <a:endParaRPr sz="1400"/>
          </a:p>
        </p:txBody>
      </p:sp>
      <p:sp>
        <p:nvSpPr>
          <p:cNvPr id="985" name="Rounded Rectangle 110"/>
          <p:cNvSpPr/>
          <p:nvPr/>
        </p:nvSpPr>
        <p:spPr>
          <a:xfrm>
            <a:off x="457200" y="5824728"/>
            <a:ext cx="274320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6" name="TextBox 111"/>
          <p:cNvSpPr txBox="1"/>
          <p:nvPr/>
        </p:nvSpPr>
        <p:spPr>
          <a:xfrm>
            <a:off x="548640" y="5852160"/>
            <a:ext cx="25603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400"/>
              <a:t>EtherCAT</a:t>
            </a:r>
            <a:endParaRPr sz="1400"/>
          </a:p>
        </p:txBody>
      </p:sp>
      <p:sp>
        <p:nvSpPr>
          <p:cNvPr id="987" name="Rounded Rectangle 112"/>
          <p:cNvSpPr/>
          <p:nvPr/>
        </p:nvSpPr>
        <p:spPr>
          <a:xfrm>
            <a:off x="3200400" y="5824728"/>
            <a:ext cx="246888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8" name="TextBox 113"/>
          <p:cNvSpPr txBox="1"/>
          <p:nvPr/>
        </p:nvSpPr>
        <p:spPr>
          <a:xfrm>
            <a:off x="3291840" y="5852160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ethercat</a:t>
            </a:r>
            <a:endParaRPr sz="1400"/>
          </a:p>
        </p:txBody>
      </p:sp>
      <p:sp>
        <p:nvSpPr>
          <p:cNvPr id="989" name="Rounded Rectangle 114"/>
          <p:cNvSpPr/>
          <p:nvPr/>
        </p:nvSpPr>
        <p:spPr>
          <a:xfrm>
            <a:off x="5669280" y="5824728"/>
            <a:ext cx="21031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0" name="TextBox 115"/>
          <p:cNvSpPr txBox="1"/>
          <p:nvPr/>
        </p:nvSpPr>
        <p:spPr>
          <a:xfrm>
            <a:off x="5760720" y="5852160"/>
            <a:ext cx="1920239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400"/>
              <a:t>87.8%</a:t>
            </a:r>
            <a:endParaRPr sz="1400"/>
          </a:p>
        </p:txBody>
      </p:sp>
      <p:sp>
        <p:nvSpPr>
          <p:cNvPr id="991" name="Rounded Rectangle 116"/>
          <p:cNvSpPr/>
          <p:nvPr/>
        </p:nvSpPr>
        <p:spPr>
          <a:xfrm>
            <a:off x="7772400" y="5824728"/>
            <a:ext cx="3931920" cy="320040"/>
          </a:xfrm>
          <a:prstGeom prst="roundRect">
            <a:avLst>
              <a:gd name="adj" fmla="val 2000"/>
            </a:avLst>
          </a:prstGeom>
          <a:solidFill>
            <a:srgbClr val="12182A"/>
          </a:solidFill>
          <a:ln w="381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2" name="TextBox 117"/>
          <p:cNvSpPr txBox="1"/>
          <p:nvPr/>
        </p:nvSpPr>
        <p:spPr>
          <a:xfrm>
            <a:off x="7863840" y="5893753"/>
            <a:ext cx="3749039" cy="19113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400"/>
              <a:t>伺服</a:t>
            </a:r>
            <a:r>
              <a:rPr lang="zh-CN" sz="1400"/>
              <a:t>电机</a:t>
            </a:r>
            <a:r>
              <a:rPr sz="1400"/>
              <a:t> / 运动控制</a:t>
            </a:r>
            <a:endParaRPr sz="1400"/>
          </a:p>
        </p:txBody>
      </p:sp>
      <p:sp>
        <p:nvSpPr>
          <p:cNvPr id="993" name="TextBox 118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8 / 29</a:t>
            </a:r>
            <a:endParaRPr sz="1000"/>
          </a:p>
        </p:txBody>
      </p:sp>
      <p:sp>
        <p:nvSpPr>
          <p:cNvPr id="99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99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9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998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调度引擎</a:t>
            </a:r>
            <a:endParaRPr sz="1100"/>
          </a:p>
        </p:txBody>
      </p:sp>
      <p:sp>
        <p:nvSpPr>
          <p:cNvPr id="999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0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ScanEngine · 统一调度</a:t>
            </a:r>
            <a:endParaRPr sz="2000"/>
          </a:p>
        </p:txBody>
      </p:sp>
      <p:sp>
        <p:nvSpPr>
          <p:cNvPr id="1001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ScanEngine 调度引擎</a:t>
            </a:r>
            <a:endParaRPr sz="2600"/>
          </a:p>
        </p:txBody>
      </p:sp>
      <p:sp>
        <p:nvSpPr>
          <p:cNvPr id="1002" name="Rounded Rectangle 6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TextBox 7"/>
          <p:cNvSpPr txBox="1"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设计原理</a:t>
            </a:r>
            <a:endParaRPr sz="1600"/>
          </a:p>
        </p:txBody>
      </p:sp>
      <p:sp>
        <p:nvSpPr>
          <p:cNvPr id="1004" name="TextBox 8"/>
          <p:cNvSpPr txBox="1"/>
          <p:nvPr/>
        </p:nvSpPr>
        <p:spPr>
          <a:xfrm>
            <a:off x="640080" y="2011680"/>
            <a:ext cx="512064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所有设备的采集任务由单一调度内核集中编排。协议驱动仅负责报文解析（Driver Execute Only），不维护定时器、重连逻辑或线程缓存。调度决策、资源分配、失败恢复全部集中处理。</a:t>
            </a:r>
            <a:endParaRPr sz="1800"/>
          </a:p>
        </p:txBody>
      </p:sp>
      <p:sp>
        <p:nvSpPr>
          <p:cNvPr id="1005" name="TextBox 9"/>
          <p:cNvSpPr txBox="1"/>
          <p:nvPr/>
        </p:nvSpPr>
        <p:spPr>
          <a:xfrm>
            <a:off x="640080" y="301752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核心机制</a:t>
            </a:r>
            <a:endParaRPr sz="1600"/>
          </a:p>
        </p:txBody>
      </p:sp>
      <p:sp>
        <p:nvSpPr>
          <p:cNvPr id="1006" name="TextBox 10"/>
          <p:cNvSpPr txBox="1"/>
          <p:nvPr/>
        </p:nvSpPr>
        <p:spPr>
          <a:xfrm>
            <a:off x="777240" y="338328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1007" name="TextBox 11"/>
          <p:cNvSpPr txBox="1"/>
          <p:nvPr/>
        </p:nvSpPr>
        <p:spPr>
          <a:xfrm>
            <a:off x="960120" y="3474720"/>
            <a:ext cx="49377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EDF 调度算法：最早截止优先，常数松弛 d = r + 50ms</a:t>
            </a:r>
            <a:endParaRPr sz="1600"/>
          </a:p>
        </p:txBody>
      </p:sp>
      <p:sp>
        <p:nvSpPr>
          <p:cNvPr id="1008" name="TextBox 12"/>
          <p:cNvSpPr txBox="1"/>
          <p:nvPr/>
        </p:nvSpPr>
        <p:spPr>
          <a:xfrm>
            <a:off x="777240" y="3858768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1009" name="TextBox 13"/>
          <p:cNvSpPr txBox="1"/>
          <p:nvPr/>
        </p:nvSpPr>
        <p:spPr>
          <a:xfrm>
            <a:off x="960120" y="3858768"/>
            <a:ext cx="49377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四级优先级：miss +2 / success +1 / fail -1 / starvation 硬置</a:t>
            </a:r>
            <a:endParaRPr sz="1600"/>
          </a:p>
        </p:txBody>
      </p:sp>
      <p:sp>
        <p:nvSpPr>
          <p:cNvPr id="1010" name="TextBox 14"/>
          <p:cNvSpPr txBox="1"/>
          <p:nvPr/>
        </p:nvSpPr>
        <p:spPr>
          <a:xfrm>
            <a:off x="777240" y="4334256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1011" name="TextBox 15"/>
          <p:cNvSpPr txBox="1"/>
          <p:nvPr/>
        </p:nvSpPr>
        <p:spPr>
          <a:xfrm>
            <a:off x="960120" y="4334256"/>
            <a:ext cx="49377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资源配额准入：goroutine 上限 2048 / 连接上限 500</a:t>
            </a:r>
            <a:endParaRPr sz="1600"/>
          </a:p>
        </p:txBody>
      </p:sp>
      <p:sp>
        <p:nvSpPr>
          <p:cNvPr id="1012" name="TextBox 16"/>
          <p:cNvSpPr txBox="1"/>
          <p:nvPr/>
        </p:nvSpPr>
        <p:spPr>
          <a:xfrm>
            <a:off x="777240" y="4809744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1013" name="TextBox 17"/>
          <p:cNvSpPr txBox="1"/>
          <p:nvPr/>
        </p:nvSpPr>
        <p:spPr>
          <a:xfrm>
            <a:off x="960120" y="4809744"/>
            <a:ext cx="49377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三级令牌背压：全局 + 设备 + 协议 三层令牌桶</a:t>
            </a:r>
            <a:endParaRPr sz="1600"/>
          </a:p>
        </p:txBody>
      </p:sp>
      <p:sp>
        <p:nvSpPr>
          <p:cNvPr id="1014" name="TextBox 18"/>
          <p:cNvSpPr txBox="1"/>
          <p:nvPr/>
        </p:nvSpPr>
        <p:spPr>
          <a:xfrm>
            <a:off x="777240" y="5285232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1015" name="TextBox 19"/>
          <p:cNvSpPr txBox="1"/>
          <p:nvPr/>
        </p:nvSpPr>
        <p:spPr>
          <a:xfrm>
            <a:off x="960120" y="5285232"/>
            <a:ext cx="49377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GC 联动降速：GC 触发时自动降低采集频率</a:t>
            </a:r>
            <a:endParaRPr sz="1600"/>
          </a:p>
        </p:txBody>
      </p:sp>
      <p:sp>
        <p:nvSpPr>
          <p:cNvPr id="1016" name="TextBox 20"/>
          <p:cNvSpPr txBox="1"/>
          <p:nvPr/>
        </p:nvSpPr>
        <p:spPr>
          <a:xfrm>
            <a:off x="777240" y="576072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1017" name="TextBox 21"/>
          <p:cNvSpPr txBox="1"/>
          <p:nvPr/>
        </p:nvSpPr>
        <p:spPr>
          <a:xfrm>
            <a:off x="960120" y="5760720"/>
            <a:ext cx="49377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设备级熔断：连续失败 3 次触发熔断，冷却后重试</a:t>
            </a:r>
            <a:endParaRPr sz="1600"/>
          </a:p>
        </p:txBody>
      </p:sp>
      <p:sp>
        <p:nvSpPr>
          <p:cNvPr id="1018" name="Rounded Rectangle 22"/>
          <p:cNvSpPr/>
          <p:nvPr/>
        </p:nvSpPr>
        <p:spPr>
          <a:xfrm>
            <a:off x="6172200" y="1508760"/>
            <a:ext cx="5577840" cy="301752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19" name="Picture 23" descr="通道监控指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792" y="1554480"/>
            <a:ext cx="4684655" cy="2926080"/>
          </a:xfrm>
          <a:prstGeom prst="rect">
            <a:avLst/>
          </a:prstGeom>
        </p:spPr>
      </p:pic>
      <p:sp>
        <p:nvSpPr>
          <p:cNvPr id="1020" name="TextBox 24"/>
          <p:cNvSpPr txBox="1"/>
          <p:nvPr/>
        </p:nvSpPr>
        <p:spPr>
          <a:xfrm>
            <a:off x="6217920" y="4572000"/>
            <a:ext cx="5486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通道监控指标 — 实时调度状态可视化</a:t>
            </a:r>
            <a:endParaRPr sz="1600"/>
          </a:p>
        </p:txBody>
      </p:sp>
      <p:sp>
        <p:nvSpPr>
          <p:cNvPr id="1021" name="Rounded Rectangle 25"/>
          <p:cNvSpPr/>
          <p:nvPr/>
        </p:nvSpPr>
        <p:spPr>
          <a:xfrm>
            <a:off x="6172200" y="4892040"/>
            <a:ext cx="5577840" cy="146304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2" name="Picture 26" descr="边缘计算监控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264" y="4937760"/>
            <a:ext cx="2573711" cy="1371600"/>
          </a:xfrm>
          <a:prstGeom prst="rect">
            <a:avLst/>
          </a:prstGeom>
        </p:spPr>
      </p:pic>
      <p:sp>
        <p:nvSpPr>
          <p:cNvPr id="1023" name="TextBox 2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9 / 29</a:t>
            </a:r>
            <a:endParaRPr sz="1000"/>
          </a:p>
        </p:txBody>
      </p:sp>
      <p:sp>
        <p:nvSpPr>
          <p:cNvPr id="102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102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18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状态模型</a:t>
            </a:r>
            <a:endParaRPr sz="1100"/>
          </a:p>
        </p:txBody>
      </p:sp>
      <p:sp>
        <p:nvSpPr>
          <p:cNvPr id="19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ShadowCore · 状态真源</a:t>
            </a:r>
            <a:endParaRPr sz="2000"/>
          </a:p>
        </p:txBody>
      </p:sp>
      <p:sp>
        <p:nvSpPr>
          <p:cNvPr id="21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ShadowCore 实时状态模型</a:t>
            </a:r>
            <a:endParaRPr sz="2600"/>
          </a:p>
        </p:txBody>
      </p:sp>
      <p:sp>
        <p:nvSpPr>
          <p:cNvPr id="22" name="Rounded Rectangle 6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7"/>
          <p:cNvSpPr txBox="1"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设计原理</a:t>
            </a:r>
            <a:endParaRPr sz="1600"/>
          </a:p>
        </p:txBody>
      </p:sp>
      <p:sp>
        <p:nvSpPr>
          <p:cNvPr id="24" name="TextBox 8"/>
          <p:cNvSpPr txBox="1"/>
          <p:nvPr/>
        </p:nvSpPr>
        <p:spPr>
          <a:xfrm>
            <a:off x="640080" y="2011680"/>
            <a:ext cx="512064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以版本化 COW（Copy-On-Write）内存快照作为唯一数据真源。南向采集写入快照，北向消费读取快照，读写解耦。读路径无锁，UI、OPC UA、北向通道、AI 查询共享同一份数据。</a:t>
            </a:r>
            <a:endParaRPr sz="1800"/>
          </a:p>
        </p:txBody>
      </p:sp>
      <p:sp>
        <p:nvSpPr>
          <p:cNvPr id="25" name="TextBox 9"/>
          <p:cNvSpPr txBox="1"/>
          <p:nvPr/>
        </p:nvSpPr>
        <p:spPr>
          <a:xfrm>
            <a:off x="640080" y="301752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核心机制</a:t>
            </a:r>
            <a:endParaRPr sz="1600"/>
          </a:p>
        </p:txBody>
      </p:sp>
      <p:sp>
        <p:nvSpPr>
          <p:cNvPr id="26" name="TextBox 10"/>
          <p:cNvSpPr txBox="1"/>
          <p:nvPr/>
        </p:nvSpPr>
        <p:spPr>
          <a:xfrm>
            <a:off x="777240" y="338328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27" name="TextBox 11"/>
          <p:cNvSpPr txBox="1"/>
          <p:nvPr/>
        </p:nvSpPr>
        <p:spPr>
          <a:xfrm>
            <a:off x="960120" y="3474720"/>
            <a:ext cx="49377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写时复制快照：单锁批量写入 + COW 原子切换</a:t>
            </a:r>
            <a:endParaRPr sz="1600"/>
          </a:p>
        </p:txBody>
      </p:sp>
      <p:sp>
        <p:nvSpPr>
          <p:cNvPr id="28" name="TextBox 12"/>
          <p:cNvSpPr txBox="1"/>
          <p:nvPr/>
        </p:nvSpPr>
        <p:spPr>
          <a:xfrm>
            <a:off x="777240" y="3858768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29" name="TextBox 13"/>
          <p:cNvSpPr txBox="1"/>
          <p:nvPr/>
        </p:nvSpPr>
        <p:spPr>
          <a:xfrm>
            <a:off x="960120" y="3858768"/>
            <a:ext cx="49377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无锁读路径：读取不阻塞写入，响应 &lt; 5ms</a:t>
            </a:r>
            <a:endParaRPr sz="1600"/>
          </a:p>
        </p:txBody>
      </p:sp>
      <p:sp>
        <p:nvSpPr>
          <p:cNvPr id="30" name="TextBox 14"/>
          <p:cNvSpPr txBox="1"/>
          <p:nvPr/>
        </p:nvSpPr>
        <p:spPr>
          <a:xfrm>
            <a:off x="777240" y="4334256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31" name="TextBox 15"/>
          <p:cNvSpPr txBox="1"/>
          <p:nvPr/>
        </p:nvSpPr>
        <p:spPr>
          <a:xfrm>
            <a:off x="960120" y="4334256"/>
            <a:ext cx="49377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ShadowIngress：4096 环形缓冲 + 8ms 批量 flush</a:t>
            </a:r>
            <a:endParaRPr sz="1600"/>
          </a:p>
        </p:txBody>
      </p:sp>
      <p:sp>
        <p:nvSpPr>
          <p:cNvPr id="32" name="TextBox 16"/>
          <p:cNvSpPr txBox="1"/>
          <p:nvPr/>
        </p:nvSpPr>
        <p:spPr>
          <a:xfrm>
            <a:off x="777240" y="4809744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33" name="TextBox 17"/>
          <p:cNvSpPr txBox="1"/>
          <p:nvPr/>
        </p:nvSpPr>
        <p:spPr>
          <a:xfrm>
            <a:off x="960120" y="4809744"/>
            <a:ext cx="49377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虚拟影子设备：跨设备公式衍生计算（如效率 = 产量/工时）</a:t>
            </a:r>
            <a:endParaRPr sz="1600"/>
          </a:p>
        </p:txBody>
      </p:sp>
      <p:sp>
        <p:nvSpPr>
          <p:cNvPr id="34" name="TextBox 18"/>
          <p:cNvSpPr txBox="1"/>
          <p:nvPr/>
        </p:nvSpPr>
        <p:spPr>
          <a:xfrm>
            <a:off x="777240" y="5285232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35" name="TextBox 19"/>
          <p:cNvSpPr txBox="1"/>
          <p:nvPr/>
        </p:nvSpPr>
        <p:spPr>
          <a:xfrm>
            <a:off x="960120" y="5285232"/>
            <a:ext cx="49377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边缘规则引擎：expr 表达式 + RMW 位操作</a:t>
            </a:r>
            <a:endParaRPr sz="1600"/>
          </a:p>
        </p:txBody>
      </p:sp>
      <p:sp>
        <p:nvSpPr>
          <p:cNvPr id="36" name="TextBox 20"/>
          <p:cNvSpPr txBox="1"/>
          <p:nvPr/>
        </p:nvSpPr>
        <p:spPr>
          <a:xfrm>
            <a:off x="777240" y="576072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37" name="TextBox 21"/>
          <p:cNvSpPr txBox="1"/>
          <p:nvPr/>
        </p:nvSpPr>
        <p:spPr>
          <a:xfrm>
            <a:off x="960120" y="5760720"/>
            <a:ext cx="49377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历史数据存储：每设备 1000 条，WAL 容量 1000</a:t>
            </a:r>
            <a:endParaRPr sz="1600"/>
          </a:p>
        </p:txBody>
      </p:sp>
      <p:sp>
        <p:nvSpPr>
          <p:cNvPr id="38" name="Rounded Rectangle 22"/>
          <p:cNvSpPr/>
          <p:nvPr/>
        </p:nvSpPr>
        <p:spPr>
          <a:xfrm>
            <a:off x="6172200" y="1508760"/>
            <a:ext cx="5577840" cy="246888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23" descr="虚拟影子设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78" y="1554480"/>
            <a:ext cx="3806282" cy="2377440"/>
          </a:xfrm>
          <a:prstGeom prst="rect">
            <a:avLst/>
          </a:prstGeom>
        </p:spPr>
      </p:pic>
      <p:sp>
        <p:nvSpPr>
          <p:cNvPr id="40" name="TextBox 24"/>
          <p:cNvSpPr txBox="1"/>
          <p:nvPr/>
        </p:nvSpPr>
        <p:spPr>
          <a:xfrm>
            <a:off x="6217920" y="3858768"/>
            <a:ext cx="45720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虚拟影子设备配置界面</a:t>
            </a:r>
            <a:endParaRPr sz="1600"/>
          </a:p>
        </p:txBody>
      </p:sp>
      <p:sp>
        <p:nvSpPr>
          <p:cNvPr id="41" name="Rounded Rectangle 25"/>
          <p:cNvSpPr/>
          <p:nvPr/>
        </p:nvSpPr>
        <p:spPr>
          <a:xfrm>
            <a:off x="6172200" y="4297680"/>
            <a:ext cx="5577840" cy="210312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26" descr="边缘计算规则配置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688" y="4343400"/>
            <a:ext cx="3654862" cy="2011680"/>
          </a:xfrm>
          <a:prstGeom prst="rect">
            <a:avLst/>
          </a:prstGeom>
        </p:spPr>
      </p:pic>
      <p:sp>
        <p:nvSpPr>
          <p:cNvPr id="43" name="TextBox 27"/>
          <p:cNvSpPr txBox="1"/>
          <p:nvPr/>
        </p:nvSpPr>
        <p:spPr>
          <a:xfrm>
            <a:off x="6217920" y="6144768"/>
            <a:ext cx="45720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边缘规则配置界面</a:t>
            </a:r>
            <a:endParaRPr sz="1600"/>
          </a:p>
        </p:txBody>
      </p:sp>
      <p:sp>
        <p:nvSpPr>
          <p:cNvPr id="44" name="TextBox 28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10 / 29</a:t>
            </a:r>
            <a:endParaRPr sz="1000"/>
          </a:p>
        </p:txBody>
      </p:sp>
      <p:sp>
        <p:nvSpPr>
          <p:cNvPr id="4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4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49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性能数据</a:t>
            </a:r>
            <a:endParaRPr sz="1100"/>
          </a:p>
        </p:txBody>
      </p:sp>
      <p:sp>
        <p:nvSpPr>
          <p:cNvPr id="50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Performance · 性能测试</a:t>
            </a:r>
            <a:endParaRPr sz="2000"/>
          </a:p>
        </p:txBody>
      </p:sp>
      <p:sp>
        <p:nvSpPr>
          <p:cNvPr id="52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性能测试数据（万 Tag 实测）</a:t>
            </a:r>
            <a:endParaRPr sz="2600"/>
          </a:p>
        </p:txBody>
      </p:sp>
      <p:sp>
        <p:nvSpPr>
          <p:cNvPr id="53" name="Rounded Rectangle 6"/>
          <p:cNvSpPr/>
          <p:nvPr/>
        </p:nvSpPr>
        <p:spPr>
          <a:xfrm>
            <a:off x="457200" y="1554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7"/>
          <p:cNvSpPr txBox="1"/>
          <p:nvPr/>
        </p:nvSpPr>
        <p:spPr>
          <a:xfrm>
            <a:off x="640080" y="1691639"/>
            <a:ext cx="22860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调度延迟 P95</a:t>
            </a:r>
            <a:endParaRPr sz="1600"/>
          </a:p>
        </p:txBody>
      </p:sp>
      <p:sp>
        <p:nvSpPr>
          <p:cNvPr id="55" name="TextBox 8"/>
          <p:cNvSpPr txBox="1"/>
          <p:nvPr/>
        </p:nvSpPr>
        <p:spPr>
          <a:xfrm>
            <a:off x="640080" y="1965960"/>
            <a:ext cx="2286000" cy="5943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34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800"/>
              <a:t>1.56</a:t>
            </a:r>
            <a:endParaRPr sz="1800"/>
          </a:p>
        </p:txBody>
      </p:sp>
      <p:sp>
        <p:nvSpPr>
          <p:cNvPr id="56" name="TextBox 9"/>
          <p:cNvSpPr txBox="1"/>
          <p:nvPr/>
        </p:nvSpPr>
        <p:spPr>
          <a:xfrm>
            <a:off x="1554480" y="2148840"/>
            <a:ext cx="914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ms</a:t>
            </a:r>
            <a:endParaRPr sz="1600"/>
          </a:p>
        </p:txBody>
      </p:sp>
      <p:sp>
        <p:nvSpPr>
          <p:cNvPr id="57" name="TextBox 10"/>
          <p:cNvSpPr txBox="1"/>
          <p:nvPr/>
        </p:nvSpPr>
        <p:spPr>
          <a:xfrm>
            <a:off x="640080" y="2834639"/>
            <a:ext cx="228600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万 Tag @1s 采集周期</a:t>
            </a:r>
            <a:endParaRPr sz="1800"/>
          </a:p>
        </p:txBody>
      </p:sp>
      <p:sp>
        <p:nvSpPr>
          <p:cNvPr id="58" name="Rounded Rectangle 11"/>
          <p:cNvSpPr/>
          <p:nvPr/>
        </p:nvSpPr>
        <p:spPr>
          <a:xfrm>
            <a:off x="3291840" y="1554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12"/>
          <p:cNvSpPr txBox="1"/>
          <p:nvPr/>
        </p:nvSpPr>
        <p:spPr>
          <a:xfrm>
            <a:off x="3474720" y="1691639"/>
            <a:ext cx="22860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任务丢失</a:t>
            </a:r>
            <a:endParaRPr sz="1600"/>
          </a:p>
        </p:txBody>
      </p:sp>
      <p:sp>
        <p:nvSpPr>
          <p:cNvPr id="60" name="TextBox 13"/>
          <p:cNvSpPr txBox="1"/>
          <p:nvPr/>
        </p:nvSpPr>
        <p:spPr>
          <a:xfrm>
            <a:off x="3474720" y="1965960"/>
            <a:ext cx="2286000" cy="5943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34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800"/>
              <a:t>0</a:t>
            </a:r>
            <a:endParaRPr sz="1800"/>
          </a:p>
        </p:txBody>
      </p:sp>
      <p:sp>
        <p:nvSpPr>
          <p:cNvPr id="61" name="TextBox 14"/>
          <p:cNvSpPr txBox="1"/>
          <p:nvPr/>
        </p:nvSpPr>
        <p:spPr>
          <a:xfrm>
            <a:off x="3474720" y="2834639"/>
            <a:ext cx="228600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10,000 Tag 零 miss</a:t>
            </a:r>
            <a:endParaRPr sz="1800"/>
          </a:p>
        </p:txBody>
      </p:sp>
      <p:sp>
        <p:nvSpPr>
          <p:cNvPr id="62" name="Rounded Rectangle 15"/>
          <p:cNvSpPr/>
          <p:nvPr/>
        </p:nvSpPr>
        <p:spPr>
          <a:xfrm>
            <a:off x="6126480" y="1554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16"/>
          <p:cNvSpPr txBox="1"/>
          <p:nvPr/>
        </p:nvSpPr>
        <p:spPr>
          <a:xfrm>
            <a:off x="6309360" y="1691639"/>
            <a:ext cx="22860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吞吐量</a:t>
            </a:r>
            <a:endParaRPr sz="1600"/>
          </a:p>
        </p:txBody>
      </p:sp>
      <p:sp>
        <p:nvSpPr>
          <p:cNvPr id="64" name="TextBox 17"/>
          <p:cNvSpPr txBox="1"/>
          <p:nvPr/>
        </p:nvSpPr>
        <p:spPr>
          <a:xfrm>
            <a:off x="6309360" y="1965960"/>
            <a:ext cx="2286000" cy="5943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34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800"/>
              <a:t>9,823</a:t>
            </a:r>
            <a:endParaRPr sz="1800"/>
          </a:p>
        </p:txBody>
      </p:sp>
      <p:sp>
        <p:nvSpPr>
          <p:cNvPr id="65" name="TextBox 18"/>
          <p:cNvSpPr txBox="1"/>
          <p:nvPr/>
        </p:nvSpPr>
        <p:spPr>
          <a:xfrm>
            <a:off x="7452360" y="2148840"/>
            <a:ext cx="914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pts/s</a:t>
            </a:r>
            <a:endParaRPr sz="1600"/>
          </a:p>
        </p:txBody>
      </p:sp>
      <p:sp>
        <p:nvSpPr>
          <p:cNvPr id="66" name="TextBox 19"/>
          <p:cNvSpPr txBox="1"/>
          <p:nvPr/>
        </p:nvSpPr>
        <p:spPr>
          <a:xfrm>
            <a:off x="6309360" y="2834639"/>
            <a:ext cx="228600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RK3588 ARM64 · Mac 复测</a:t>
            </a:r>
            <a:endParaRPr sz="1800"/>
          </a:p>
        </p:txBody>
      </p:sp>
      <p:sp>
        <p:nvSpPr>
          <p:cNvPr id="67" name="Rounded Rectangle 20"/>
          <p:cNvSpPr/>
          <p:nvPr/>
        </p:nvSpPr>
        <p:spPr>
          <a:xfrm>
            <a:off x="8961120" y="1554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21"/>
          <p:cNvSpPr txBox="1"/>
          <p:nvPr/>
        </p:nvSpPr>
        <p:spPr>
          <a:xfrm>
            <a:off x="9144000" y="1691639"/>
            <a:ext cx="22860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内存漂移</a:t>
            </a:r>
            <a:endParaRPr sz="1600"/>
          </a:p>
        </p:txBody>
      </p:sp>
      <p:sp>
        <p:nvSpPr>
          <p:cNvPr id="69" name="TextBox 22"/>
          <p:cNvSpPr txBox="1"/>
          <p:nvPr/>
        </p:nvSpPr>
        <p:spPr>
          <a:xfrm>
            <a:off x="9144000" y="1965960"/>
            <a:ext cx="2286000" cy="5943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34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800"/>
              <a:t>0</a:t>
            </a:r>
            <a:endParaRPr sz="1800"/>
          </a:p>
        </p:txBody>
      </p:sp>
      <p:sp>
        <p:nvSpPr>
          <p:cNvPr id="70" name="TextBox 23"/>
          <p:cNvSpPr txBox="1"/>
          <p:nvPr/>
        </p:nvSpPr>
        <p:spPr>
          <a:xfrm>
            <a:off x="9372600" y="2148840"/>
            <a:ext cx="914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%</a:t>
            </a:r>
            <a:endParaRPr sz="1600"/>
          </a:p>
        </p:txBody>
      </p:sp>
      <p:sp>
        <p:nvSpPr>
          <p:cNvPr id="71" name="TextBox 24"/>
          <p:cNvSpPr txBox="1"/>
          <p:nvPr/>
        </p:nvSpPr>
        <p:spPr>
          <a:xfrm>
            <a:off x="9144000" y="2834639"/>
            <a:ext cx="228600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长稳 Soak 0% 漂移</a:t>
            </a:r>
            <a:endParaRPr sz="1800"/>
          </a:p>
        </p:txBody>
      </p:sp>
      <p:sp>
        <p:nvSpPr>
          <p:cNvPr id="72" name="Rounded Rectangle 25"/>
          <p:cNvSpPr/>
          <p:nvPr/>
        </p:nvSpPr>
        <p:spPr>
          <a:xfrm>
            <a:off x="457200" y="3840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26"/>
          <p:cNvSpPr txBox="1"/>
          <p:nvPr/>
        </p:nvSpPr>
        <p:spPr>
          <a:xfrm>
            <a:off x="640080" y="3977640"/>
            <a:ext cx="22860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最低内存</a:t>
            </a:r>
            <a:endParaRPr sz="1600"/>
          </a:p>
        </p:txBody>
      </p:sp>
      <p:sp>
        <p:nvSpPr>
          <p:cNvPr id="74" name="TextBox 27"/>
          <p:cNvSpPr txBox="1"/>
          <p:nvPr/>
        </p:nvSpPr>
        <p:spPr>
          <a:xfrm>
            <a:off x="640080" y="4251960"/>
            <a:ext cx="2286000" cy="5943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34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800"/>
              <a:t>128</a:t>
            </a:r>
            <a:endParaRPr sz="1800"/>
          </a:p>
        </p:txBody>
      </p:sp>
      <p:sp>
        <p:nvSpPr>
          <p:cNvPr id="75" name="TextBox 28"/>
          <p:cNvSpPr txBox="1"/>
          <p:nvPr/>
        </p:nvSpPr>
        <p:spPr>
          <a:xfrm>
            <a:off x="1325880" y="4434840"/>
            <a:ext cx="914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MB</a:t>
            </a:r>
            <a:endParaRPr sz="1600"/>
          </a:p>
        </p:txBody>
      </p:sp>
      <p:sp>
        <p:nvSpPr>
          <p:cNvPr id="76" name="TextBox 29"/>
          <p:cNvSpPr txBox="1"/>
          <p:nvPr/>
        </p:nvSpPr>
        <p:spPr>
          <a:xfrm>
            <a:off x="640080" y="5120640"/>
            <a:ext cx="228600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ARM 工业网关可运行</a:t>
            </a:r>
            <a:endParaRPr sz="1800"/>
          </a:p>
        </p:txBody>
      </p:sp>
      <p:sp>
        <p:nvSpPr>
          <p:cNvPr id="77" name="Rounded Rectangle 30"/>
          <p:cNvSpPr/>
          <p:nvPr/>
        </p:nvSpPr>
        <p:spPr>
          <a:xfrm>
            <a:off x="3291840" y="3840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31"/>
          <p:cNvSpPr txBox="1"/>
          <p:nvPr/>
        </p:nvSpPr>
        <p:spPr>
          <a:xfrm>
            <a:off x="3474720" y="3977640"/>
            <a:ext cx="22860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ShadowCore 读延迟</a:t>
            </a:r>
            <a:endParaRPr sz="1600"/>
          </a:p>
        </p:txBody>
      </p:sp>
      <p:sp>
        <p:nvSpPr>
          <p:cNvPr id="79" name="TextBox 32"/>
          <p:cNvSpPr txBox="1"/>
          <p:nvPr/>
        </p:nvSpPr>
        <p:spPr>
          <a:xfrm>
            <a:off x="3474720" y="4251960"/>
            <a:ext cx="2286000" cy="5943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34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800"/>
              <a:t>5</a:t>
            </a:r>
            <a:endParaRPr sz="1800"/>
          </a:p>
        </p:txBody>
      </p:sp>
      <p:sp>
        <p:nvSpPr>
          <p:cNvPr id="80" name="TextBox 33"/>
          <p:cNvSpPr txBox="1"/>
          <p:nvPr/>
        </p:nvSpPr>
        <p:spPr>
          <a:xfrm>
            <a:off x="3703320" y="4434840"/>
            <a:ext cx="914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ms</a:t>
            </a:r>
            <a:endParaRPr sz="1600"/>
          </a:p>
        </p:txBody>
      </p:sp>
      <p:sp>
        <p:nvSpPr>
          <p:cNvPr id="81" name="TextBox 34"/>
          <p:cNvSpPr txBox="1"/>
          <p:nvPr/>
        </p:nvSpPr>
        <p:spPr>
          <a:xfrm>
            <a:off x="3474720" y="5120640"/>
            <a:ext cx="228600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较直连 PLC 提速约 4.3×</a:t>
            </a:r>
            <a:endParaRPr sz="1800"/>
          </a:p>
        </p:txBody>
      </p:sp>
      <p:sp>
        <p:nvSpPr>
          <p:cNvPr id="82" name="Rounded Rectangle 35"/>
          <p:cNvSpPr/>
          <p:nvPr/>
        </p:nvSpPr>
        <p:spPr>
          <a:xfrm>
            <a:off x="6126480" y="3840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36"/>
          <p:cNvSpPr txBox="1"/>
          <p:nvPr/>
        </p:nvSpPr>
        <p:spPr>
          <a:xfrm>
            <a:off x="6309360" y="3977640"/>
            <a:ext cx="22860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协议数</a:t>
            </a:r>
            <a:endParaRPr sz="1600"/>
          </a:p>
        </p:txBody>
      </p:sp>
      <p:sp>
        <p:nvSpPr>
          <p:cNvPr id="84" name="TextBox 37"/>
          <p:cNvSpPr txBox="1"/>
          <p:nvPr/>
        </p:nvSpPr>
        <p:spPr>
          <a:xfrm>
            <a:off x="6309360" y="4251960"/>
            <a:ext cx="2286000" cy="5943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34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800"/>
              <a:t>13</a:t>
            </a:r>
            <a:endParaRPr sz="1800"/>
          </a:p>
        </p:txBody>
      </p:sp>
      <p:sp>
        <p:nvSpPr>
          <p:cNvPr id="85" name="TextBox 38"/>
          <p:cNvSpPr txBox="1"/>
          <p:nvPr/>
        </p:nvSpPr>
        <p:spPr>
          <a:xfrm>
            <a:off x="6766560" y="4434840"/>
            <a:ext cx="914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种</a:t>
            </a:r>
            <a:endParaRPr sz="1600"/>
          </a:p>
        </p:txBody>
      </p:sp>
      <p:sp>
        <p:nvSpPr>
          <p:cNvPr id="86" name="TextBox 39"/>
          <p:cNvSpPr txBox="1"/>
          <p:nvPr/>
        </p:nvSpPr>
        <p:spPr>
          <a:xfrm>
            <a:off x="6309360" y="5120640"/>
            <a:ext cx="228600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Modbus/OPC UA/BACnet/S7...</a:t>
            </a:r>
            <a:endParaRPr sz="1800"/>
          </a:p>
        </p:txBody>
      </p:sp>
      <p:sp>
        <p:nvSpPr>
          <p:cNvPr id="87" name="Rounded Rectangle 40"/>
          <p:cNvSpPr/>
          <p:nvPr/>
        </p:nvSpPr>
        <p:spPr>
          <a:xfrm>
            <a:off x="8961120" y="3840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41"/>
          <p:cNvSpPr txBox="1"/>
          <p:nvPr/>
        </p:nvSpPr>
        <p:spPr>
          <a:xfrm>
            <a:off x="9144000" y="3977640"/>
            <a:ext cx="22860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驱动测试</a:t>
            </a:r>
            <a:endParaRPr sz="1600"/>
          </a:p>
        </p:txBody>
      </p:sp>
      <p:sp>
        <p:nvSpPr>
          <p:cNvPr id="89" name="TextBox 42"/>
          <p:cNvSpPr txBox="1"/>
          <p:nvPr/>
        </p:nvSpPr>
        <p:spPr>
          <a:xfrm>
            <a:off x="9144000" y="4251960"/>
            <a:ext cx="2286000" cy="5943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34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000"/>
              <a:t>22/22</a:t>
            </a:r>
            <a:endParaRPr sz="1000"/>
          </a:p>
        </p:txBody>
      </p:sp>
      <p:sp>
        <p:nvSpPr>
          <p:cNvPr id="90" name="TextBox 43"/>
          <p:cNvSpPr txBox="1"/>
          <p:nvPr/>
        </p:nvSpPr>
        <p:spPr>
          <a:xfrm>
            <a:off x="9144000" y="5120640"/>
            <a:ext cx="228600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全量回归测试通过</a:t>
            </a:r>
            <a:endParaRPr sz="1800"/>
          </a:p>
        </p:txBody>
      </p:sp>
      <p:sp>
        <p:nvSpPr>
          <p:cNvPr id="91" name="TextBox 44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11 / 29</a:t>
            </a:r>
            <a:endParaRPr sz="1000"/>
          </a:p>
        </p:txBody>
      </p:sp>
      <p:sp>
        <p:nvSpPr>
          <p:cNvPr id="9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9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 txBox="1"/>
          <p:nvPr/>
        </p:nvSpPr>
        <p:spPr>
          <a:xfrm>
            <a:off x="731520" y="1188720"/>
            <a:ext cx="4572000" cy="22860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0" b="1">
                <a:solidFill>
                  <a:srgbClr val="12182A"/>
                </a:solidFill>
                <a:latin typeface="宋体" panose="02010600030101010101" pitchFamily="2" charset="-122"/>
              </a:defRPr>
            </a:pPr>
            <a:r>
              <a:rPr sz="4800"/>
              <a:t>03</a:t>
            </a:r>
            <a:endParaRPr sz="4800"/>
          </a:p>
        </p:txBody>
      </p:sp>
      <p:sp>
        <p:nvSpPr>
          <p:cNvPr id="96" name="TextBox 2"/>
          <p:cNvSpPr txBox="1"/>
          <p:nvPr/>
        </p:nvSpPr>
        <p:spPr>
          <a:xfrm>
            <a:off x="731520" y="1920240"/>
            <a:ext cx="5486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Section · 03</a:t>
            </a:r>
            <a:endParaRPr sz="2000"/>
          </a:p>
        </p:txBody>
      </p:sp>
      <p:sp>
        <p:nvSpPr>
          <p:cNvPr id="97" name="TextBox 3"/>
          <p:cNvSpPr txBox="1"/>
          <p:nvPr/>
        </p:nvSpPr>
        <p:spPr>
          <a:xfrm>
            <a:off x="731520" y="2286000"/>
            <a:ext cx="7315200" cy="70231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  <a:defRPr sz="40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000"/>
              <a:t>EdgeOS 协调平台与 AI 协同</a:t>
            </a:r>
            <a:endParaRPr sz="2000"/>
          </a:p>
        </p:txBody>
      </p:sp>
      <p:sp>
        <p:nvSpPr>
          <p:cNvPr id="98" name="TextBox 4"/>
          <p:cNvSpPr txBox="1"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2000"/>
              <a:t>EdgeOS &amp; AI Collaboration</a:t>
            </a:r>
            <a:endParaRPr sz="2000"/>
          </a:p>
        </p:txBody>
      </p:sp>
      <p:sp>
        <p:nvSpPr>
          <p:cNvPr id="99" name="Rectangle 5"/>
          <p:cNvSpPr/>
          <p:nvPr/>
        </p:nvSpPr>
        <p:spPr>
          <a:xfrm>
            <a:off x="731520" y="3794760"/>
            <a:ext cx="2286000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6"/>
          <p:cNvSpPr txBox="1"/>
          <p:nvPr/>
        </p:nvSpPr>
        <p:spPr>
          <a:xfrm>
            <a:off x="731520" y="3977639"/>
            <a:ext cx="73152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2000"/>
              <a:t>多网关协同 / EAN 2.0 通信协议 / AI MCP 标准化能力开放</a:t>
            </a:r>
            <a:endParaRPr sz="2000"/>
          </a:p>
        </p:txBody>
      </p:sp>
      <p:sp>
        <p:nvSpPr>
          <p:cNvPr id="101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12 / 29</a:t>
            </a:r>
            <a:endParaRPr sz="1000"/>
          </a:p>
        </p:txBody>
      </p:sp>
      <p:sp>
        <p:nvSpPr>
          <p:cNvPr id="10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10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106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EdgeOS</a:t>
            </a:r>
            <a:endParaRPr sz="1100"/>
          </a:p>
        </p:txBody>
      </p:sp>
      <p:sp>
        <p:nvSpPr>
          <p:cNvPr id="107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EdgeOS · 协调平台</a:t>
            </a:r>
            <a:endParaRPr sz="2000"/>
          </a:p>
        </p:txBody>
      </p:sp>
      <p:sp>
        <p:nvSpPr>
          <p:cNvPr id="109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EdgeOS 边缘协调平台</a:t>
            </a:r>
            <a:endParaRPr sz="2600"/>
          </a:p>
        </p:txBody>
      </p:sp>
      <p:sp>
        <p:nvSpPr>
          <p:cNvPr id="110" name="TextBox 6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多台 EdgeCore 网关的统一管理后台：全局发现、跨网关调用、事件路由、AI 协同。</a:t>
            </a:r>
            <a:endParaRPr sz="1600"/>
          </a:p>
        </p:txBody>
      </p:sp>
      <p:sp>
        <p:nvSpPr>
          <p:cNvPr id="111" name="Rounded Rectangle 7"/>
          <p:cNvSpPr/>
          <p:nvPr/>
        </p:nvSpPr>
        <p:spPr>
          <a:xfrm>
            <a:off x="457200" y="19202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A2238"/>
          </a:solidFill>
          <a:ln w="9525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治理层</a:t>
            </a:r>
            <a:endParaRPr sz="1600"/>
          </a:p>
        </p:txBody>
      </p:sp>
      <p:sp>
        <p:nvSpPr>
          <p:cNvPr id="112" name="Rounded Rectangle 8"/>
          <p:cNvSpPr/>
          <p:nvPr/>
        </p:nvSpPr>
        <p:spPr>
          <a:xfrm>
            <a:off x="1920240" y="192024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9"/>
          <p:cNvSpPr txBox="1"/>
          <p:nvPr/>
        </p:nvSpPr>
        <p:spPr>
          <a:xfrm>
            <a:off x="2011680" y="1993392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权限分区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ACL / 多租户</a:t>
            </a:r>
            <a:endParaRPr sz="1800"/>
          </a:p>
        </p:txBody>
      </p:sp>
      <p:sp>
        <p:nvSpPr>
          <p:cNvPr id="114" name="Rounded Rectangle 10"/>
          <p:cNvSpPr/>
          <p:nvPr/>
        </p:nvSpPr>
        <p:spPr>
          <a:xfrm>
            <a:off x="5285232" y="192024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"/>
          <p:cNvSpPr txBox="1"/>
          <p:nvPr/>
        </p:nvSpPr>
        <p:spPr>
          <a:xfrm>
            <a:off x="5376672" y="1993392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审计记录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全程可追溯</a:t>
            </a:r>
            <a:endParaRPr sz="1800"/>
          </a:p>
        </p:txBody>
      </p:sp>
      <p:sp>
        <p:nvSpPr>
          <p:cNvPr id="116" name="Rounded Rectangle 12"/>
          <p:cNvSpPr/>
          <p:nvPr/>
        </p:nvSpPr>
        <p:spPr>
          <a:xfrm>
            <a:off x="8650224" y="192024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3"/>
          <p:cNvSpPr txBox="1"/>
          <p:nvPr/>
        </p:nvSpPr>
        <p:spPr>
          <a:xfrm>
            <a:off x="8741664" y="1993392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Metrics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invoke / latency</a:t>
            </a:r>
            <a:endParaRPr sz="1800"/>
          </a:p>
        </p:txBody>
      </p:sp>
      <p:sp>
        <p:nvSpPr>
          <p:cNvPr id="118" name="Rounded Rectangle 14"/>
          <p:cNvSpPr/>
          <p:nvPr/>
        </p:nvSpPr>
        <p:spPr>
          <a:xfrm>
            <a:off x="457200" y="2944368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01628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编排层</a:t>
            </a:r>
            <a:endParaRPr sz="1600"/>
          </a:p>
        </p:txBody>
      </p:sp>
      <p:sp>
        <p:nvSpPr>
          <p:cNvPr id="119" name="Rounded Rectangle 15"/>
          <p:cNvSpPr/>
          <p:nvPr/>
        </p:nvSpPr>
        <p:spPr>
          <a:xfrm>
            <a:off x="1920240" y="2944368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6"/>
          <p:cNvSpPr txBox="1"/>
          <p:nvPr/>
        </p:nvSpPr>
        <p:spPr>
          <a:xfrm>
            <a:off x="2011680" y="3017520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Workflow Center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AI Planner 编排</a:t>
            </a:r>
            <a:endParaRPr sz="1800"/>
          </a:p>
        </p:txBody>
      </p:sp>
      <p:sp>
        <p:nvSpPr>
          <p:cNvPr id="121" name="Rounded Rectangle 17"/>
          <p:cNvSpPr/>
          <p:nvPr/>
        </p:nvSpPr>
        <p:spPr>
          <a:xfrm>
            <a:off x="5285232" y="2944368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8"/>
          <p:cNvSpPr txBox="1"/>
          <p:nvPr/>
        </p:nvSpPr>
        <p:spPr>
          <a:xfrm>
            <a:off x="5376672" y="3017520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Scheduler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优先级 / 重试</a:t>
            </a:r>
            <a:endParaRPr sz="1800"/>
          </a:p>
        </p:txBody>
      </p:sp>
      <p:sp>
        <p:nvSpPr>
          <p:cNvPr id="123" name="Rounded Rectangle 19"/>
          <p:cNvSpPr/>
          <p:nvPr/>
        </p:nvSpPr>
        <p:spPr>
          <a:xfrm>
            <a:off x="8650224" y="2944368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20"/>
          <p:cNvSpPr txBox="1"/>
          <p:nvPr/>
        </p:nvSpPr>
        <p:spPr>
          <a:xfrm>
            <a:off x="8741664" y="3017520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Resource Manager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工业资源锁</a:t>
            </a:r>
            <a:endParaRPr sz="1800"/>
          </a:p>
        </p:txBody>
      </p:sp>
      <p:sp>
        <p:nvSpPr>
          <p:cNvPr id="125" name="Rounded Rectangle 21"/>
          <p:cNvSpPr/>
          <p:nvPr/>
        </p:nvSpPr>
        <p:spPr>
          <a:xfrm>
            <a:off x="457200" y="3968496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A2238"/>
          </a:solidFill>
          <a:ln w="9525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核心服务</a:t>
            </a:r>
            <a:endParaRPr sz="1600"/>
          </a:p>
        </p:txBody>
      </p:sp>
      <p:sp>
        <p:nvSpPr>
          <p:cNvPr id="126" name="Rounded Rectangle 22"/>
          <p:cNvSpPr/>
          <p:nvPr/>
        </p:nvSpPr>
        <p:spPr>
          <a:xfrm>
            <a:off x="1920240" y="3968496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23"/>
          <p:cNvSpPr txBox="1"/>
          <p:nvPr/>
        </p:nvSpPr>
        <p:spPr>
          <a:xfrm>
            <a:off x="2011680" y="4041648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Discovery Center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Agent / Capability</a:t>
            </a:r>
            <a:endParaRPr sz="1800"/>
          </a:p>
        </p:txBody>
      </p:sp>
      <p:sp>
        <p:nvSpPr>
          <p:cNvPr id="128" name="Rounded Rectangle 24"/>
          <p:cNvSpPr/>
          <p:nvPr/>
        </p:nvSpPr>
        <p:spPr>
          <a:xfrm>
            <a:off x="5285232" y="3968496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25"/>
          <p:cNvSpPr txBox="1"/>
          <p:nvPr/>
        </p:nvSpPr>
        <p:spPr>
          <a:xfrm>
            <a:off x="5376672" y="4041648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Invoke Orchestrator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跨节点调用</a:t>
            </a:r>
            <a:endParaRPr sz="1800"/>
          </a:p>
        </p:txBody>
      </p:sp>
      <p:sp>
        <p:nvSpPr>
          <p:cNvPr id="130" name="Rounded Rectangle 26"/>
          <p:cNvSpPr/>
          <p:nvPr/>
        </p:nvSpPr>
        <p:spPr>
          <a:xfrm>
            <a:off x="8650224" y="3968496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27"/>
          <p:cNvSpPr txBox="1"/>
          <p:nvPr/>
        </p:nvSpPr>
        <p:spPr>
          <a:xfrm>
            <a:off x="8741664" y="4041648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Event Center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事件订阅 / 路由</a:t>
            </a:r>
            <a:endParaRPr sz="1800"/>
          </a:p>
        </p:txBody>
      </p:sp>
      <p:sp>
        <p:nvSpPr>
          <p:cNvPr id="132" name="Rounded Rectangle 28"/>
          <p:cNvSpPr/>
          <p:nvPr/>
        </p:nvSpPr>
        <p:spPr>
          <a:xfrm>
            <a:off x="457200" y="4992624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01628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高可用</a:t>
            </a:r>
            <a:endParaRPr sz="1600"/>
          </a:p>
        </p:txBody>
      </p:sp>
      <p:sp>
        <p:nvSpPr>
          <p:cNvPr id="133" name="Rounded Rectangle 29"/>
          <p:cNvSpPr/>
          <p:nvPr/>
        </p:nvSpPr>
        <p:spPr>
          <a:xfrm>
            <a:off x="1920240" y="4992624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30"/>
          <p:cNvSpPr txBox="1"/>
          <p:nvPr/>
        </p:nvSpPr>
        <p:spPr>
          <a:xfrm>
            <a:off x="2011680" y="5065776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双母皇模式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主备自动切换</a:t>
            </a:r>
            <a:endParaRPr sz="1800"/>
          </a:p>
        </p:txBody>
      </p:sp>
      <p:sp>
        <p:nvSpPr>
          <p:cNvPr id="135" name="Rounded Rectangle 31"/>
          <p:cNvSpPr/>
          <p:nvPr/>
        </p:nvSpPr>
        <p:spPr>
          <a:xfrm>
            <a:off x="5285232" y="4992624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32"/>
          <p:cNvSpPr txBox="1"/>
          <p:nvPr/>
        </p:nvSpPr>
        <p:spPr>
          <a:xfrm>
            <a:off x="5376672" y="5065776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MQTT / NATS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双传输消息总线</a:t>
            </a:r>
            <a:endParaRPr sz="1800"/>
          </a:p>
        </p:txBody>
      </p:sp>
      <p:sp>
        <p:nvSpPr>
          <p:cNvPr id="137" name="Rounded Rectangle 33"/>
          <p:cNvSpPr/>
          <p:nvPr/>
        </p:nvSpPr>
        <p:spPr>
          <a:xfrm>
            <a:off x="8650224" y="4992624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34"/>
          <p:cNvSpPr txBox="1"/>
          <p:nvPr/>
        </p:nvSpPr>
        <p:spPr>
          <a:xfrm>
            <a:off x="8741664" y="5065776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AI MCP Runtime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AI 协同运行时</a:t>
            </a:r>
            <a:endParaRPr sz="1800"/>
          </a:p>
        </p:txBody>
      </p:sp>
      <p:sp>
        <p:nvSpPr>
          <p:cNvPr id="139" name="TextBox 3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13 / 29</a:t>
            </a:r>
            <a:endParaRPr sz="1000"/>
          </a:p>
        </p:txBody>
      </p:sp>
      <p:sp>
        <p:nvSpPr>
          <p:cNvPr id="14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14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144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EAN 2.0</a:t>
            </a:r>
            <a:endParaRPr sz="1100"/>
          </a:p>
        </p:txBody>
      </p:sp>
      <p:sp>
        <p:nvSpPr>
          <p:cNvPr id="145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EAN 2.0 · 网关协同协议</a:t>
            </a:r>
            <a:endParaRPr sz="2000"/>
          </a:p>
        </p:txBody>
      </p:sp>
      <p:sp>
        <p:nvSpPr>
          <p:cNvPr id="147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EAN 2.0 统一通信协议</a:t>
            </a:r>
            <a:endParaRPr sz="2600"/>
          </a:p>
        </p:txBody>
      </p:sp>
      <p:sp>
        <p:nvSpPr>
          <p:cNvPr id="148" name="Rounded Rectangle 6"/>
          <p:cNvSpPr/>
          <p:nvPr/>
        </p:nvSpPr>
        <p:spPr>
          <a:xfrm>
            <a:off x="640080" y="155448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12182A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7"/>
          <p:cNvSpPr/>
          <p:nvPr/>
        </p:nvSpPr>
        <p:spPr>
          <a:xfrm>
            <a:off x="1353312" y="1664207"/>
            <a:ext cx="402336" cy="402336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3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A</a:t>
            </a:r>
            <a:endParaRPr sz="1600"/>
          </a:p>
        </p:txBody>
      </p:sp>
      <p:sp>
        <p:nvSpPr>
          <p:cNvPr id="150" name="TextBox 8"/>
          <p:cNvSpPr txBox="1"/>
          <p:nvPr/>
        </p:nvSpPr>
        <p:spPr>
          <a:xfrm>
            <a:off x="640080" y="2103120"/>
            <a:ext cx="18288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Agent</a:t>
            </a:r>
            <a:endParaRPr sz="1600"/>
          </a:p>
        </p:txBody>
      </p:sp>
      <p:sp>
        <p:nvSpPr>
          <p:cNvPr id="151" name="TextBox 9"/>
          <p:cNvSpPr txBox="1"/>
          <p:nvPr/>
        </p:nvSpPr>
        <p:spPr>
          <a:xfrm>
            <a:off x="731519" y="2468880"/>
            <a:ext cx="164592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网关注册</a:t>
            </a:r>
            <a:endParaRPr sz="16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心跳保活 60s</a:t>
            </a:r>
            <a:endParaRPr sz="1600"/>
          </a:p>
        </p:txBody>
      </p:sp>
      <p:sp>
        <p:nvSpPr>
          <p:cNvPr id="152" name="TextBox 10"/>
          <p:cNvSpPr txBox="1"/>
          <p:nvPr/>
        </p:nvSpPr>
        <p:spPr>
          <a:xfrm>
            <a:off x="2468880" y="1920240"/>
            <a:ext cx="27432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→</a:t>
            </a:r>
            <a:endParaRPr sz="1600"/>
          </a:p>
        </p:txBody>
      </p:sp>
      <p:sp>
        <p:nvSpPr>
          <p:cNvPr id="153" name="Rounded Rectangle 11"/>
          <p:cNvSpPr/>
          <p:nvPr/>
        </p:nvSpPr>
        <p:spPr>
          <a:xfrm>
            <a:off x="2743200" y="155448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12182A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2"/>
          <p:cNvSpPr/>
          <p:nvPr/>
        </p:nvSpPr>
        <p:spPr>
          <a:xfrm>
            <a:off x="3456432" y="1664207"/>
            <a:ext cx="402336" cy="402336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3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C</a:t>
            </a:r>
            <a:endParaRPr sz="1600"/>
          </a:p>
        </p:txBody>
      </p:sp>
      <p:sp>
        <p:nvSpPr>
          <p:cNvPr id="155" name="TextBox 13"/>
          <p:cNvSpPr txBox="1"/>
          <p:nvPr/>
        </p:nvSpPr>
        <p:spPr>
          <a:xfrm>
            <a:off x="2743200" y="2103120"/>
            <a:ext cx="18288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Capability</a:t>
            </a:r>
            <a:endParaRPr sz="1600"/>
          </a:p>
        </p:txBody>
      </p:sp>
      <p:sp>
        <p:nvSpPr>
          <p:cNvPr id="156" name="TextBox 14"/>
          <p:cNvSpPr txBox="1"/>
          <p:nvPr/>
        </p:nvSpPr>
        <p:spPr>
          <a:xfrm>
            <a:off x="2834640" y="2468880"/>
            <a:ext cx="1645920" cy="5791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63 条原生能力</a:t>
            </a:r>
            <a:endParaRPr sz="16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 MCP 工具</a:t>
            </a:r>
            <a:endParaRPr sz="1600"/>
          </a:p>
        </p:txBody>
      </p:sp>
      <p:sp>
        <p:nvSpPr>
          <p:cNvPr id="157" name="TextBox 15"/>
          <p:cNvSpPr txBox="1"/>
          <p:nvPr/>
        </p:nvSpPr>
        <p:spPr>
          <a:xfrm>
            <a:off x="4572000" y="1920240"/>
            <a:ext cx="27432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→</a:t>
            </a:r>
            <a:endParaRPr sz="1600"/>
          </a:p>
        </p:txBody>
      </p:sp>
      <p:sp>
        <p:nvSpPr>
          <p:cNvPr id="158" name="Rounded Rectangle 16"/>
          <p:cNvSpPr/>
          <p:nvPr/>
        </p:nvSpPr>
        <p:spPr>
          <a:xfrm>
            <a:off x="4846320" y="155448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12182A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7"/>
          <p:cNvSpPr/>
          <p:nvPr/>
        </p:nvSpPr>
        <p:spPr>
          <a:xfrm>
            <a:off x="5559552" y="1664207"/>
            <a:ext cx="402336" cy="402336"/>
          </a:xfrm>
          <a:prstGeom prst="ellipse">
            <a:avLst/>
          </a:prstGeom>
          <a:solidFill>
            <a:srgbClr val="1A2238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3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D</a:t>
            </a:r>
            <a:endParaRPr sz="1600"/>
          </a:p>
        </p:txBody>
      </p:sp>
      <p:sp>
        <p:nvSpPr>
          <p:cNvPr id="160" name="TextBox 18"/>
          <p:cNvSpPr txBox="1"/>
          <p:nvPr/>
        </p:nvSpPr>
        <p:spPr>
          <a:xfrm>
            <a:off x="4846320" y="2103120"/>
            <a:ext cx="18288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Discovery</a:t>
            </a:r>
            <a:endParaRPr sz="1600"/>
          </a:p>
        </p:txBody>
      </p:sp>
      <p:sp>
        <p:nvSpPr>
          <p:cNvPr id="161" name="TextBox 19"/>
          <p:cNvSpPr txBox="1"/>
          <p:nvPr/>
        </p:nvSpPr>
        <p:spPr>
          <a:xfrm>
            <a:off x="4937759" y="2468880"/>
            <a:ext cx="164592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全局索引</a:t>
            </a:r>
            <a:endParaRPr sz="16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按需检索</a:t>
            </a:r>
            <a:endParaRPr sz="1600"/>
          </a:p>
        </p:txBody>
      </p:sp>
      <p:sp>
        <p:nvSpPr>
          <p:cNvPr id="162" name="TextBox 20"/>
          <p:cNvSpPr txBox="1"/>
          <p:nvPr/>
        </p:nvSpPr>
        <p:spPr>
          <a:xfrm>
            <a:off x="6675120" y="1920240"/>
            <a:ext cx="27432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→</a:t>
            </a:r>
            <a:endParaRPr sz="1600"/>
          </a:p>
        </p:txBody>
      </p:sp>
      <p:sp>
        <p:nvSpPr>
          <p:cNvPr id="163" name="Rounded Rectangle 21"/>
          <p:cNvSpPr/>
          <p:nvPr/>
        </p:nvSpPr>
        <p:spPr>
          <a:xfrm>
            <a:off x="6949440" y="155448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12182A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22"/>
          <p:cNvSpPr/>
          <p:nvPr/>
        </p:nvSpPr>
        <p:spPr>
          <a:xfrm>
            <a:off x="7662671" y="1664207"/>
            <a:ext cx="402336" cy="402336"/>
          </a:xfrm>
          <a:prstGeom prst="ellipse">
            <a:avLst/>
          </a:prstGeom>
          <a:solidFill>
            <a:srgbClr val="1A2238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3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I</a:t>
            </a:r>
            <a:endParaRPr sz="1600"/>
          </a:p>
        </p:txBody>
      </p:sp>
      <p:sp>
        <p:nvSpPr>
          <p:cNvPr id="165" name="TextBox 23"/>
          <p:cNvSpPr txBox="1"/>
          <p:nvPr/>
        </p:nvSpPr>
        <p:spPr>
          <a:xfrm>
            <a:off x="6949440" y="2103120"/>
            <a:ext cx="18288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Invoke</a:t>
            </a:r>
            <a:endParaRPr sz="1600"/>
          </a:p>
        </p:txBody>
      </p:sp>
      <p:sp>
        <p:nvSpPr>
          <p:cNvPr id="166" name="TextBox 24"/>
          <p:cNvSpPr txBox="1"/>
          <p:nvPr/>
        </p:nvSpPr>
        <p:spPr>
          <a:xfrm>
            <a:off x="7040879" y="2468880"/>
            <a:ext cx="164592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跨节点调用</a:t>
            </a:r>
            <a:endParaRPr sz="16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状态机追踪</a:t>
            </a:r>
            <a:endParaRPr sz="1600"/>
          </a:p>
        </p:txBody>
      </p:sp>
      <p:sp>
        <p:nvSpPr>
          <p:cNvPr id="167" name="TextBox 25"/>
          <p:cNvSpPr txBox="1"/>
          <p:nvPr/>
        </p:nvSpPr>
        <p:spPr>
          <a:xfrm>
            <a:off x="8778240" y="1920240"/>
            <a:ext cx="27432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→</a:t>
            </a:r>
            <a:endParaRPr sz="1600"/>
          </a:p>
        </p:txBody>
      </p:sp>
      <p:sp>
        <p:nvSpPr>
          <p:cNvPr id="168" name="Rounded Rectangle 26"/>
          <p:cNvSpPr/>
          <p:nvPr/>
        </p:nvSpPr>
        <p:spPr>
          <a:xfrm>
            <a:off x="9052559" y="155448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12182A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27"/>
          <p:cNvSpPr/>
          <p:nvPr/>
        </p:nvSpPr>
        <p:spPr>
          <a:xfrm>
            <a:off x="9765791" y="1664207"/>
            <a:ext cx="402336" cy="402336"/>
          </a:xfrm>
          <a:prstGeom prst="ellipse">
            <a:avLst/>
          </a:prstGeom>
          <a:solidFill>
            <a:srgbClr val="1A2238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3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E</a:t>
            </a:r>
            <a:endParaRPr sz="1600"/>
          </a:p>
        </p:txBody>
      </p:sp>
      <p:sp>
        <p:nvSpPr>
          <p:cNvPr id="170" name="TextBox 28"/>
          <p:cNvSpPr txBox="1"/>
          <p:nvPr/>
        </p:nvSpPr>
        <p:spPr>
          <a:xfrm>
            <a:off x="9052559" y="2103120"/>
            <a:ext cx="18288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Event</a:t>
            </a:r>
            <a:endParaRPr sz="1600"/>
          </a:p>
        </p:txBody>
      </p:sp>
      <p:sp>
        <p:nvSpPr>
          <p:cNvPr id="171" name="TextBox 29"/>
          <p:cNvSpPr txBox="1"/>
          <p:nvPr/>
        </p:nvSpPr>
        <p:spPr>
          <a:xfrm>
            <a:off x="9143999" y="2468880"/>
            <a:ext cx="164592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状态变更</a:t>
            </a:r>
            <a:endParaRPr sz="16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告警推送</a:t>
            </a:r>
            <a:endParaRPr sz="1600"/>
          </a:p>
        </p:txBody>
      </p:sp>
      <p:sp>
        <p:nvSpPr>
          <p:cNvPr id="172" name="Rounded Rectangle 30"/>
          <p:cNvSpPr/>
          <p:nvPr/>
        </p:nvSpPr>
        <p:spPr>
          <a:xfrm>
            <a:off x="457200" y="32918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31"/>
          <p:cNvSpPr txBox="1"/>
          <p:nvPr/>
        </p:nvSpPr>
        <p:spPr>
          <a:xfrm>
            <a:off x="685800" y="3429000"/>
            <a:ext cx="50292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MQTT v5 + NATS 2.x 双传输</a:t>
            </a:r>
            <a:endParaRPr sz="1600"/>
          </a:p>
        </p:txBody>
      </p:sp>
      <p:sp>
        <p:nvSpPr>
          <p:cNvPr id="174" name="TextBox 32"/>
          <p:cNvSpPr txBox="1"/>
          <p:nvPr/>
        </p:nvSpPr>
        <p:spPr>
          <a:xfrm>
            <a:off x="685800" y="3822191"/>
            <a:ext cx="5029200" cy="7442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Topic 使用 $edgeos/ 斜杠形式，NATS 适配器自动转换为点分隔 Subject。</a:t>
            </a:r>
            <a:endParaRPr sz="1800"/>
          </a:p>
        </p:txBody>
      </p:sp>
      <p:sp>
        <p:nvSpPr>
          <p:cNvPr id="175" name="Rounded Rectangle 33"/>
          <p:cNvSpPr/>
          <p:nvPr/>
        </p:nvSpPr>
        <p:spPr>
          <a:xfrm>
            <a:off x="6126480" y="32918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34"/>
          <p:cNvSpPr txBox="1"/>
          <p:nvPr/>
        </p:nvSpPr>
        <p:spPr>
          <a:xfrm>
            <a:off x="6355080" y="3429000"/>
            <a:ext cx="50292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34/34 E2E 测试通过</a:t>
            </a:r>
            <a:endParaRPr sz="1600"/>
          </a:p>
        </p:txBody>
      </p:sp>
      <p:sp>
        <p:nvSpPr>
          <p:cNvPr id="177" name="TextBox 35"/>
          <p:cNvSpPr txBox="1"/>
          <p:nvPr/>
        </p:nvSpPr>
        <p:spPr>
          <a:xfrm>
            <a:off x="6355080" y="3822191"/>
            <a:ext cx="5029200" cy="7442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12 台 EdgeCore 、7.5 万 Tag 规模实机联调验证。Discovery P99 = 48ms，Invoke P99 = 112ms。</a:t>
            </a:r>
            <a:endParaRPr sz="1800"/>
          </a:p>
        </p:txBody>
      </p:sp>
      <p:sp>
        <p:nvSpPr>
          <p:cNvPr id="178" name="Rounded Rectangle 36"/>
          <p:cNvSpPr/>
          <p:nvPr/>
        </p:nvSpPr>
        <p:spPr>
          <a:xfrm>
            <a:off x="411480" y="4800600"/>
            <a:ext cx="5577840" cy="164592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9" name="Picture 37" descr="北向数据共享总览页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038" y="4846320"/>
            <a:ext cx="2488723" cy="1554480"/>
          </a:xfrm>
          <a:prstGeom prst="rect">
            <a:avLst/>
          </a:prstGeom>
        </p:spPr>
      </p:pic>
      <p:sp>
        <p:nvSpPr>
          <p:cNvPr id="180" name="Rounded Rectangle 38"/>
          <p:cNvSpPr/>
          <p:nvPr/>
        </p:nvSpPr>
        <p:spPr>
          <a:xfrm>
            <a:off x="6080760" y="4800600"/>
            <a:ext cx="5669279" cy="164592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1" name="Picture 39" descr="北向数据共享MQTT运行监控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135" y="4846320"/>
            <a:ext cx="3014528" cy="1554480"/>
          </a:xfrm>
          <a:prstGeom prst="rect">
            <a:avLst/>
          </a:prstGeom>
        </p:spPr>
      </p:pic>
      <p:sp>
        <p:nvSpPr>
          <p:cNvPr id="182" name="TextBox 40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14 / 29</a:t>
            </a:r>
            <a:endParaRPr sz="1000"/>
          </a:p>
        </p:txBody>
      </p:sp>
      <p:sp>
        <p:nvSpPr>
          <p:cNvPr id="18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18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187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AI 协同</a:t>
            </a:r>
            <a:endParaRPr sz="1100"/>
          </a:p>
        </p:txBody>
      </p:sp>
      <p:sp>
        <p:nvSpPr>
          <p:cNvPr id="188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AI MCP · 能力开放</a:t>
            </a:r>
            <a:endParaRPr sz="2000"/>
          </a:p>
        </p:txBody>
      </p:sp>
      <p:sp>
        <p:nvSpPr>
          <p:cNvPr id="190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AI MCP 工业能力开放</a:t>
            </a:r>
            <a:endParaRPr sz="2600"/>
          </a:p>
        </p:txBody>
      </p:sp>
      <p:sp>
        <p:nvSpPr>
          <p:cNvPr id="191" name="TextBox 6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通过 Model Context Protocol 标准协议，AI Agent 可以自主发现设备能力、查询实时状态、触发诊断，并在受控前提下执行操作。</a:t>
            </a:r>
            <a:endParaRPr sz="1600"/>
          </a:p>
        </p:txBody>
      </p:sp>
      <p:sp>
        <p:nvSpPr>
          <p:cNvPr id="192" name="Rounded Rectangle 7"/>
          <p:cNvSpPr/>
          <p:nvPr/>
        </p:nvSpPr>
        <p:spPr>
          <a:xfrm>
            <a:off x="457200" y="18288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8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1</a:t>
            </a:r>
            <a:endParaRPr sz="1600"/>
          </a:p>
        </p:txBody>
      </p:sp>
      <p:sp>
        <p:nvSpPr>
          <p:cNvPr id="194" name="TextBox 9"/>
          <p:cNvSpPr txBox="1"/>
          <p:nvPr/>
        </p:nvSpPr>
        <p:spPr>
          <a:xfrm>
            <a:off x="1143000" y="201168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MCP Server</a:t>
            </a:r>
            <a:endParaRPr sz="1600"/>
          </a:p>
        </p:txBody>
      </p:sp>
      <p:sp>
        <p:nvSpPr>
          <p:cNvPr id="195" name="TextBox 10"/>
          <p:cNvSpPr txBox="1"/>
          <p:nvPr/>
        </p:nvSpPr>
        <p:spPr>
          <a:xfrm>
            <a:off x="685800" y="2423160"/>
            <a:ext cx="475488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33 Tool + 6 Resource + 13 Prompt。支持 Claude Desktop / Cursor / Windsurf 等客户端接入。ON-RPC 2.0 / HTTP·SSE 协议。</a:t>
            </a:r>
            <a:endParaRPr sz="1800"/>
          </a:p>
        </p:txBody>
      </p:sp>
      <p:sp>
        <p:nvSpPr>
          <p:cNvPr id="196" name="Rounded Rectangle 11"/>
          <p:cNvSpPr/>
          <p:nvPr/>
        </p:nvSpPr>
        <p:spPr>
          <a:xfrm>
            <a:off x="6126480" y="18288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2"/>
          <p:cNvSpPr/>
          <p:nvPr/>
        </p:nvSpPr>
        <p:spPr>
          <a:xfrm>
            <a:off x="6309360" y="201168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2</a:t>
            </a:r>
            <a:endParaRPr sz="1600"/>
          </a:p>
        </p:txBody>
      </p:sp>
      <p:sp>
        <p:nvSpPr>
          <p:cNvPr id="198" name="TextBox 13"/>
          <p:cNvSpPr txBox="1"/>
          <p:nvPr/>
        </p:nvSpPr>
        <p:spPr>
          <a:xfrm>
            <a:off x="6812280" y="201168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写操作门控</a:t>
            </a:r>
            <a:endParaRPr sz="1600"/>
          </a:p>
        </p:txBody>
      </p:sp>
      <p:sp>
        <p:nvSpPr>
          <p:cNvPr id="199" name="TextBox 14"/>
          <p:cNvSpPr txBox="1"/>
          <p:nvPr/>
        </p:nvSpPr>
        <p:spPr>
          <a:xfrm>
            <a:off x="6355080" y="2423160"/>
            <a:ext cx="475488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读类直接放行，写类须 writeGate 审批。全程审计日志记录。</a:t>
            </a:r>
            <a:endParaRPr sz="1800"/>
          </a:p>
        </p:txBody>
      </p:sp>
      <p:sp>
        <p:nvSpPr>
          <p:cNvPr id="200" name="Rounded Rectangle 15"/>
          <p:cNvSpPr/>
          <p:nvPr/>
        </p:nvSpPr>
        <p:spPr>
          <a:xfrm>
            <a:off x="457200" y="33832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16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3</a:t>
            </a:r>
            <a:endParaRPr sz="1600"/>
          </a:p>
        </p:txBody>
      </p:sp>
      <p:sp>
        <p:nvSpPr>
          <p:cNvPr id="202" name="TextBox 17"/>
          <p:cNvSpPr txBox="1"/>
          <p:nvPr/>
        </p:nvSpPr>
        <p:spPr>
          <a:xfrm>
            <a:off x="1143000" y="356616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协议逆向引擎</a:t>
            </a:r>
            <a:endParaRPr sz="1600"/>
          </a:p>
        </p:txBody>
      </p:sp>
      <p:sp>
        <p:nvSpPr>
          <p:cNvPr id="203" name="TextBox 18"/>
          <p:cNvSpPr txBox="1"/>
          <p:nvPr/>
        </p:nvSpPr>
        <p:spPr>
          <a:xfrm>
            <a:off x="685800" y="3977640"/>
            <a:ext cx="475488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四阶段流水线：协议识别→报文解析→推理→配置生成。2 天人工缩短为 30 分钟。</a:t>
            </a:r>
            <a:endParaRPr sz="1800"/>
          </a:p>
        </p:txBody>
      </p:sp>
      <p:sp>
        <p:nvSpPr>
          <p:cNvPr id="204" name="Rounded Rectangle 19"/>
          <p:cNvSpPr/>
          <p:nvPr/>
        </p:nvSpPr>
        <p:spPr>
          <a:xfrm>
            <a:off x="6126480" y="33832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"/>
          <p:cNvSpPr/>
          <p:nvPr/>
        </p:nvSpPr>
        <p:spPr>
          <a:xfrm>
            <a:off x="6309360" y="356616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4</a:t>
            </a:r>
            <a:endParaRPr sz="1600"/>
          </a:p>
        </p:txBody>
      </p:sp>
      <p:sp>
        <p:nvSpPr>
          <p:cNvPr id="206" name="TextBox 21"/>
          <p:cNvSpPr txBox="1"/>
          <p:nvPr/>
        </p:nvSpPr>
        <p:spPr>
          <a:xfrm>
            <a:off x="6812280" y="356616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人工确认机制</a:t>
            </a:r>
            <a:endParaRPr sz="1600"/>
          </a:p>
        </p:txBody>
      </p:sp>
      <p:sp>
        <p:nvSpPr>
          <p:cNvPr id="207" name="TextBox 22"/>
          <p:cNvSpPr txBox="1"/>
          <p:nvPr/>
        </p:nvSpPr>
        <p:spPr>
          <a:xfrm>
            <a:off x="6355080" y="3977640"/>
            <a:ext cx="475488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AI 产出须经人工确认后写入配置库。AI 故障不影响采集与规则执行。</a:t>
            </a:r>
            <a:endParaRPr sz="1800"/>
          </a:p>
        </p:txBody>
      </p:sp>
      <p:sp>
        <p:nvSpPr>
          <p:cNvPr id="208" name="Rounded Rectangle 23"/>
          <p:cNvSpPr/>
          <p:nvPr/>
        </p:nvSpPr>
        <p:spPr>
          <a:xfrm>
            <a:off x="411480" y="4983480"/>
            <a:ext cx="3566160" cy="146304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9" name="Picture 24" descr="AI助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341" y="5029200"/>
            <a:ext cx="2632436" cy="1371600"/>
          </a:xfrm>
          <a:prstGeom prst="rect">
            <a:avLst/>
          </a:prstGeom>
        </p:spPr>
      </p:pic>
      <p:sp>
        <p:nvSpPr>
          <p:cNvPr id="210" name="Rounded Rectangle 25"/>
          <p:cNvSpPr/>
          <p:nvPr/>
        </p:nvSpPr>
        <p:spPr>
          <a:xfrm>
            <a:off x="4069080" y="4983480"/>
            <a:ext cx="3566160" cy="146304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1" name="Picture 26" descr="AI助手配置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710" y="5029200"/>
            <a:ext cx="2628900" cy="1371600"/>
          </a:xfrm>
          <a:prstGeom prst="rect">
            <a:avLst/>
          </a:prstGeom>
        </p:spPr>
      </p:pic>
      <p:sp>
        <p:nvSpPr>
          <p:cNvPr id="212" name="TextBox 27"/>
          <p:cNvSpPr txBox="1"/>
          <p:nvPr/>
        </p:nvSpPr>
        <p:spPr>
          <a:xfrm>
            <a:off x="7863840" y="5029200"/>
            <a:ext cx="3840480" cy="1371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AI 助手界面</a:t>
            </a:r>
            <a:endParaRPr sz="1800"/>
          </a:p>
          <a:p>
            <a:pPr algn="l">
              <a:lnSpc>
                <a:spcPct val="14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endParaRPr/>
          </a:p>
          <a:p>
            <a:pPr algn="l">
              <a:lnSpc>
                <a:spcPct val="14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· 自然语言查询设备状态</a:t>
            </a:r>
            <a:endParaRPr sz="1800"/>
          </a:p>
          <a:p>
            <a:pPr algn="l">
              <a:lnSpc>
                <a:spcPct val="14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· 自动生成点位配置</a:t>
            </a:r>
            <a:endParaRPr sz="1800"/>
          </a:p>
          <a:p>
            <a:pPr algn="l">
              <a:lnSpc>
                <a:spcPct val="14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· 协议逆向辅助</a:t>
            </a:r>
            <a:endParaRPr sz="1800"/>
          </a:p>
          <a:p>
            <a:pPr algn="l">
              <a:lnSpc>
                <a:spcPct val="14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· 故障诊断建议</a:t>
            </a:r>
            <a:endParaRPr sz="1800"/>
          </a:p>
        </p:txBody>
      </p:sp>
      <p:sp>
        <p:nvSpPr>
          <p:cNvPr id="213" name="TextBox 28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15 / 29</a:t>
            </a:r>
            <a:endParaRPr sz="1000"/>
          </a:p>
        </p:txBody>
      </p:sp>
      <p:sp>
        <p:nvSpPr>
          <p:cNvPr id="2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2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218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100"/>
              <a:t>生态全景</a:t>
            </a:r>
            <a:endParaRPr sz="1100"/>
          </a:p>
        </p:txBody>
      </p:sp>
      <p:sp>
        <p:nvSpPr>
          <p:cNvPr id="219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4"/>
          <p:cNvSpPr txBox="1"/>
          <p:nvPr/>
        </p:nvSpPr>
        <p:spPr>
          <a:xfrm>
            <a:off x="457200" y="548640"/>
            <a:ext cx="5486400" cy="330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sz="2000"/>
              <a:t>Ecosystem · 生态全景</a:t>
            </a:r>
            <a:endParaRPr sz="2000"/>
          </a:p>
        </p:txBody>
      </p:sp>
      <p:sp>
        <p:nvSpPr>
          <p:cNvPr id="221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sz="2600"/>
              <a:t>数字底座 — EAN 网络 — 平级上层应用</a:t>
            </a:r>
            <a:endParaRPr sz="2600"/>
          </a:p>
        </p:txBody>
      </p:sp>
      <p:sp>
        <p:nvSpPr>
          <p:cNvPr id="222" name="TextBox 6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600"/>
              <a:t>EdgeCore 与 EdgeOS、EdgeStark 通过 EAN 2.0 双传输总线形成完整工业边缘生态</a:t>
            </a:r>
            <a:endParaRPr sz="1600"/>
          </a:p>
        </p:txBody>
      </p:sp>
      <p:sp>
        <p:nvSpPr>
          <p:cNvPr id="223" name="Rounded Rectangle 7"/>
          <p:cNvSpPr/>
          <p:nvPr/>
        </p:nvSpPr>
        <p:spPr>
          <a:xfrm>
            <a:off x="457200" y="18288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8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1</a:t>
            </a:r>
            <a:endParaRPr sz="1600"/>
          </a:p>
        </p:txBody>
      </p:sp>
      <p:sp>
        <p:nvSpPr>
          <p:cNvPr id="225" name="TextBox 9"/>
          <p:cNvSpPr txBox="1"/>
          <p:nvPr/>
        </p:nvSpPr>
        <p:spPr>
          <a:xfrm>
            <a:off x="1143000" y="201168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600"/>
              <a:t>EdgeCore 数字底座</a:t>
            </a:r>
            <a:endParaRPr sz="1600"/>
          </a:p>
        </p:txBody>
      </p:sp>
      <p:sp>
        <p:nvSpPr>
          <p:cNvPr id="226" name="TextBox 10"/>
          <p:cNvSpPr txBox="1"/>
          <p:nvPr/>
        </p:nvSpPr>
        <p:spPr>
          <a:xfrm>
            <a:off x="685800" y="2423160"/>
            <a:ext cx="1793621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开源·免费·Web。ScanEngine 统一调度内核、ShadowCore 实时状态真源、13 类工业协议接入、虚拟设备/边缘规则引擎、MQTT/OPC UA/BACnet 北向、128 MB 内存即可运行</a:t>
            </a:r>
            <a:endParaRPr sz="1800"/>
          </a:p>
        </p:txBody>
      </p:sp>
      <p:sp>
        <p:nvSpPr>
          <p:cNvPr id="227" name="Rounded Rectangle 11"/>
          <p:cNvSpPr/>
          <p:nvPr/>
        </p:nvSpPr>
        <p:spPr>
          <a:xfrm>
            <a:off x="6126480" y="18288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12"/>
          <p:cNvSpPr/>
          <p:nvPr/>
        </p:nvSpPr>
        <p:spPr>
          <a:xfrm>
            <a:off x="6309360" y="201168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2</a:t>
            </a:r>
            <a:endParaRPr sz="1600"/>
          </a:p>
        </p:txBody>
      </p:sp>
      <p:sp>
        <p:nvSpPr>
          <p:cNvPr id="229" name="TextBox 13"/>
          <p:cNvSpPr txBox="1"/>
          <p:nvPr/>
        </p:nvSpPr>
        <p:spPr>
          <a:xfrm>
            <a:off x="6812280" y="201168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600"/>
              <a:t>平级上层应用</a:t>
            </a:r>
            <a:endParaRPr sz="1600"/>
          </a:p>
        </p:txBody>
      </p:sp>
      <p:sp>
        <p:nvSpPr>
          <p:cNvPr id="230" name="TextBox 14"/>
          <p:cNvSpPr txBox="1"/>
          <p:nvPr/>
        </p:nvSpPr>
        <p:spPr>
          <a:xfrm>
            <a:off x="6355080" y="2423160"/>
            <a:ext cx="1885061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EdgeOS：开源协同平台。EdgeStark：数字孪生可视化。N+2 双母皇高可用、Discovery/Invoke/Event、AI MCP 运行时、四端渲染 VR/AR/全息、大屏智能座舱、告警/预测/分析联动</a:t>
            </a:r>
            <a:endParaRPr sz="1800"/>
          </a:p>
        </p:txBody>
      </p:sp>
      <p:sp>
        <p:nvSpPr>
          <p:cNvPr id="231" name="Rounded Rectangle 15"/>
          <p:cNvSpPr/>
          <p:nvPr/>
        </p:nvSpPr>
        <p:spPr>
          <a:xfrm>
            <a:off x="457200" y="33832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16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3</a:t>
            </a:r>
            <a:endParaRPr sz="1600"/>
          </a:p>
        </p:txBody>
      </p:sp>
      <p:sp>
        <p:nvSpPr>
          <p:cNvPr id="233" name="TextBox 17"/>
          <p:cNvSpPr txBox="1"/>
          <p:nvPr/>
        </p:nvSpPr>
        <p:spPr>
          <a:xfrm>
            <a:off x="1143000" y="356616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600"/>
              <a:t>生态规模</a:t>
            </a:r>
            <a:endParaRPr sz="1600"/>
          </a:p>
        </p:txBody>
      </p:sp>
      <p:sp>
        <p:nvSpPr>
          <p:cNvPr id="234" name="TextBox 18"/>
          <p:cNvSpPr txBox="1"/>
          <p:nvPr/>
        </p:nvSpPr>
        <p:spPr>
          <a:xfrm>
            <a:off x="685800" y="3977640"/>
            <a:ext cx="1027811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12 台 EdgeCore 网关 · 7.5 万 Tag 规模实测 · 48 ms Discovery P99 · 112 ms Invoke P99</a:t>
            </a:r>
            <a:endParaRPr sz="1800"/>
          </a:p>
        </p:txBody>
      </p:sp>
      <p:sp>
        <p:nvSpPr>
          <p:cNvPr id="235" name="Rounded Rectangle 19"/>
          <p:cNvSpPr/>
          <p:nvPr/>
        </p:nvSpPr>
        <p:spPr>
          <a:xfrm>
            <a:off x="6126480" y="33832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0"/>
          <p:cNvSpPr/>
          <p:nvPr/>
        </p:nvSpPr>
        <p:spPr>
          <a:xfrm>
            <a:off x="6309360" y="356616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4</a:t>
            </a:r>
            <a:endParaRPr sz="1600"/>
          </a:p>
        </p:txBody>
      </p:sp>
      <p:sp>
        <p:nvSpPr>
          <p:cNvPr id="237" name="TextBox 21"/>
          <p:cNvSpPr txBox="1"/>
          <p:nvPr/>
        </p:nvSpPr>
        <p:spPr>
          <a:xfrm>
            <a:off x="6812280" y="356616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600"/>
              <a:t>EAN 2.0 双传输</a:t>
            </a:r>
            <a:endParaRPr sz="1600"/>
          </a:p>
        </p:txBody>
      </p:sp>
      <p:sp>
        <p:nvSpPr>
          <p:cNvPr id="238" name="TextBox 22"/>
          <p:cNvSpPr txBox="1"/>
          <p:nvPr/>
        </p:nvSpPr>
        <p:spPr>
          <a:xfrm>
            <a:off x="6355080" y="3977640"/>
            <a:ext cx="708914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MQTT v5 + NATS 2.x 双传输总线，Topic 统一 $edgeos/... 形式</a:t>
            </a:r>
            <a:endParaRPr sz="1800"/>
          </a:p>
        </p:txBody>
      </p:sp>
      <p:sp>
        <p:nvSpPr>
          <p:cNvPr id="239" name="Rounded Rectangle 23"/>
          <p:cNvSpPr/>
          <p:nvPr/>
        </p:nvSpPr>
        <p:spPr>
          <a:xfrm>
            <a:off x="411480" y="4983480"/>
            <a:ext cx="3566160" cy="146304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0" name="Picture 24" descr="AI助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341" y="5029200"/>
            <a:ext cx="2632436" cy="1371600"/>
          </a:xfrm>
          <a:prstGeom prst="rect">
            <a:avLst/>
          </a:prstGeom>
        </p:spPr>
      </p:pic>
      <p:sp>
        <p:nvSpPr>
          <p:cNvPr id="241" name="Rounded Rectangle 25"/>
          <p:cNvSpPr/>
          <p:nvPr/>
        </p:nvSpPr>
        <p:spPr>
          <a:xfrm>
            <a:off x="4069080" y="4983480"/>
            <a:ext cx="3566160" cy="146304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2" name="Picture 26" descr="AI助手配置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710" y="5029200"/>
            <a:ext cx="2628900" cy="1371600"/>
          </a:xfrm>
          <a:prstGeom prst="rect">
            <a:avLst/>
          </a:prstGeom>
        </p:spPr>
      </p:pic>
      <p:sp>
        <p:nvSpPr>
          <p:cNvPr id="243" name="TextBox 27"/>
          <p:cNvSpPr txBox="1"/>
          <p:nvPr/>
        </p:nvSpPr>
        <p:spPr>
          <a:xfrm>
            <a:off x="7863840" y="5029200"/>
            <a:ext cx="5763260" cy="1371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开源生态：连接·状态·智能三位一体的工业边缘基础设施</a:t>
            </a:r>
            <a:endParaRPr sz="1800"/>
          </a:p>
        </p:txBody>
      </p:sp>
      <p:sp>
        <p:nvSpPr>
          <p:cNvPr id="244" name="TextBox 28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16 / 29</a:t>
            </a:r>
            <a:endParaRPr sz="1000"/>
          </a:p>
        </p:txBody>
      </p:sp>
      <p:sp>
        <p:nvSpPr>
          <p:cNvPr id="24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24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2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249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100"/>
              <a:t>性能验证</a:t>
            </a:r>
            <a:endParaRPr sz="1100"/>
          </a:p>
        </p:txBody>
      </p:sp>
      <p:sp>
        <p:nvSpPr>
          <p:cNvPr id="250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4"/>
          <p:cNvSpPr txBox="1"/>
          <p:nvPr/>
        </p:nvSpPr>
        <p:spPr>
          <a:xfrm>
            <a:off x="457200" y="548640"/>
            <a:ext cx="5486400" cy="330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sz="2000"/>
              <a:t>Performance · EdgeOS 性能验证</a:t>
            </a:r>
            <a:endParaRPr sz="2000"/>
          </a:p>
        </p:txBody>
      </p:sp>
      <p:sp>
        <p:nvSpPr>
          <p:cNvPr id="252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sz="2600"/>
              <a:t>EdgeOS 协调平台关键性能指标</a:t>
            </a:r>
            <a:endParaRPr sz="2600"/>
          </a:p>
        </p:txBody>
      </p:sp>
      <p:sp>
        <p:nvSpPr>
          <p:cNvPr id="253" name="TextBox 6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600"/>
              <a:t>12 台 EdgeCore 网关（RK3588）· 7.5 万 Tag · MQTT/NATS 双传输实机联调</a:t>
            </a:r>
            <a:endParaRPr sz="1600"/>
          </a:p>
        </p:txBody>
      </p:sp>
      <p:sp>
        <p:nvSpPr>
          <p:cNvPr id="254" name="Rounded Rectangle 7"/>
          <p:cNvSpPr/>
          <p:nvPr/>
        </p:nvSpPr>
        <p:spPr>
          <a:xfrm>
            <a:off x="457200" y="19202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A2238"/>
          </a:solidFill>
          <a:ln w="9525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sz="1600"/>
              <a:t>Discovery P99</a:t>
            </a:r>
            <a:endParaRPr sz="1600"/>
          </a:p>
        </p:txBody>
      </p:sp>
      <p:sp>
        <p:nvSpPr>
          <p:cNvPr id="255" name="Rounded Rectangle 8"/>
          <p:cNvSpPr/>
          <p:nvPr/>
        </p:nvSpPr>
        <p:spPr>
          <a:xfrm>
            <a:off x="1920240" y="192024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9"/>
          <p:cNvSpPr txBox="1"/>
          <p:nvPr/>
        </p:nvSpPr>
        <p:spPr>
          <a:xfrm>
            <a:off x="2011680" y="1993392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800"/>
              <a:t>48 ms</a:t>
            </a:r>
            <a:endParaRPr sz="1800"/>
          </a:p>
        </p:txBody>
      </p:sp>
      <p:sp>
        <p:nvSpPr>
          <p:cNvPr id="257" name="Rounded Rectangle 10"/>
          <p:cNvSpPr/>
          <p:nvPr/>
        </p:nvSpPr>
        <p:spPr>
          <a:xfrm>
            <a:off x="5285232" y="192024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11"/>
          <p:cNvSpPr txBox="1"/>
          <p:nvPr/>
        </p:nvSpPr>
        <p:spPr>
          <a:xfrm>
            <a:off x="5376672" y="1993392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800"/>
              <a:t>&lt; 100 ms SLA</a:t>
            </a:r>
            <a:endParaRPr sz="1800"/>
          </a:p>
        </p:txBody>
      </p:sp>
      <p:sp>
        <p:nvSpPr>
          <p:cNvPr id="259" name="Rounded Rectangle 12"/>
          <p:cNvSpPr/>
          <p:nvPr/>
        </p:nvSpPr>
        <p:spPr>
          <a:xfrm>
            <a:off x="8650224" y="192024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13"/>
          <p:cNvSpPr txBox="1"/>
          <p:nvPr/>
        </p:nvSpPr>
        <p:spPr>
          <a:xfrm>
            <a:off x="8741664" y="1993392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800"/>
              <a:t>索引同步延迟</a:t>
            </a:r>
            <a:endParaRPr sz="1800"/>
          </a:p>
        </p:txBody>
      </p:sp>
      <p:sp>
        <p:nvSpPr>
          <p:cNvPr id="261" name="Rounded Rectangle 14"/>
          <p:cNvSpPr/>
          <p:nvPr/>
        </p:nvSpPr>
        <p:spPr>
          <a:xfrm>
            <a:off x="457200" y="2944368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01628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600"/>
              <a:t>Invoke P99</a:t>
            </a:r>
            <a:endParaRPr sz="1600"/>
          </a:p>
        </p:txBody>
      </p:sp>
      <p:sp>
        <p:nvSpPr>
          <p:cNvPr id="262" name="Rounded Rectangle 15"/>
          <p:cNvSpPr/>
          <p:nvPr/>
        </p:nvSpPr>
        <p:spPr>
          <a:xfrm>
            <a:off x="1920240" y="2944368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16"/>
          <p:cNvSpPr txBox="1"/>
          <p:nvPr/>
        </p:nvSpPr>
        <p:spPr>
          <a:xfrm>
            <a:off x="2011680" y="3017520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112 ms</a:t>
            </a:r>
            <a:endParaRPr sz="1800"/>
          </a:p>
        </p:txBody>
      </p:sp>
      <p:sp>
        <p:nvSpPr>
          <p:cNvPr id="264" name="Rounded Rectangle 17"/>
          <p:cNvSpPr/>
          <p:nvPr/>
        </p:nvSpPr>
        <p:spPr>
          <a:xfrm>
            <a:off x="5285232" y="2944368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18"/>
          <p:cNvSpPr txBox="1"/>
          <p:nvPr/>
        </p:nvSpPr>
        <p:spPr>
          <a:xfrm>
            <a:off x="5376672" y="3017520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&lt; 200 ms SLA</a:t>
            </a:r>
            <a:endParaRPr sz="1800"/>
          </a:p>
        </p:txBody>
      </p:sp>
      <p:sp>
        <p:nvSpPr>
          <p:cNvPr id="266" name="Rounded Rectangle 19"/>
          <p:cNvSpPr/>
          <p:nvPr/>
        </p:nvSpPr>
        <p:spPr>
          <a:xfrm>
            <a:off x="8650224" y="2944368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/>
              <a:t>端到端调用延迟</a:t>
            </a:r>
            <a:endParaRPr/>
          </a:p>
        </p:txBody>
      </p:sp>
      <p:sp>
        <p:nvSpPr>
          <p:cNvPr id="267" name="TextBox 20"/>
          <p:cNvSpPr txBox="1"/>
          <p:nvPr/>
        </p:nvSpPr>
        <p:spPr>
          <a:xfrm>
            <a:off x="8741664" y="3017520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Resource Manager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工业资源锁</a:t>
            </a:r>
            <a:endParaRPr sz="1800"/>
          </a:p>
        </p:txBody>
      </p:sp>
      <p:sp>
        <p:nvSpPr>
          <p:cNvPr id="268" name="Rounded Rectangle 21"/>
          <p:cNvSpPr/>
          <p:nvPr/>
        </p:nvSpPr>
        <p:spPr>
          <a:xfrm>
            <a:off x="457200" y="3968496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A2238"/>
          </a:solidFill>
          <a:ln w="9525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sz="1600"/>
              <a:t>心跳检测</a:t>
            </a:r>
            <a:endParaRPr sz="1600"/>
          </a:p>
        </p:txBody>
      </p:sp>
      <p:sp>
        <p:nvSpPr>
          <p:cNvPr id="269" name="Rounded Rectangle 22"/>
          <p:cNvSpPr/>
          <p:nvPr/>
        </p:nvSpPr>
        <p:spPr>
          <a:xfrm>
            <a:off x="1920240" y="3968496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3"/>
          <p:cNvSpPr txBox="1"/>
          <p:nvPr/>
        </p:nvSpPr>
        <p:spPr>
          <a:xfrm>
            <a:off x="2011680" y="4041648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800"/>
              <a:t>100 %</a:t>
            </a:r>
            <a:endParaRPr sz="1800"/>
          </a:p>
        </p:txBody>
      </p:sp>
      <p:sp>
        <p:nvSpPr>
          <p:cNvPr id="271" name="Rounded Rectangle 24"/>
          <p:cNvSpPr/>
          <p:nvPr/>
        </p:nvSpPr>
        <p:spPr>
          <a:xfrm>
            <a:off x="5285232" y="3968496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5"/>
          <p:cNvSpPr txBox="1"/>
          <p:nvPr/>
        </p:nvSpPr>
        <p:spPr>
          <a:xfrm>
            <a:off x="5376672" y="4041648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800"/>
              <a:t>0 误判</a:t>
            </a:r>
            <a:endParaRPr sz="1800"/>
          </a:p>
        </p:txBody>
      </p:sp>
      <p:sp>
        <p:nvSpPr>
          <p:cNvPr id="273" name="Rounded Rectangle 26"/>
          <p:cNvSpPr/>
          <p:nvPr/>
        </p:nvSpPr>
        <p:spPr>
          <a:xfrm>
            <a:off x="8650224" y="3968496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/>
              <a:t>超时检测准确率</a:t>
            </a:r>
            <a:endParaRPr/>
          </a:p>
        </p:txBody>
      </p:sp>
      <p:sp>
        <p:nvSpPr>
          <p:cNvPr id="274" name="TextBox 27"/>
          <p:cNvSpPr txBox="1"/>
          <p:nvPr/>
        </p:nvSpPr>
        <p:spPr>
          <a:xfrm>
            <a:off x="8741664" y="4041648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Event Center</a:t>
            </a:r>
            <a:endParaRPr sz="1800"/>
          </a:p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800"/>
              <a:t>事件订阅 / 路由</a:t>
            </a:r>
            <a:endParaRPr sz="1800"/>
          </a:p>
        </p:txBody>
      </p:sp>
      <p:sp>
        <p:nvSpPr>
          <p:cNvPr id="275" name="Rounded Rectangle 28"/>
          <p:cNvSpPr/>
          <p:nvPr/>
        </p:nvSpPr>
        <p:spPr>
          <a:xfrm>
            <a:off x="457200" y="4992624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01628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600"/>
              <a:t>主备切换</a:t>
            </a:r>
            <a:endParaRPr sz="1600"/>
          </a:p>
        </p:txBody>
      </p:sp>
      <p:sp>
        <p:nvSpPr>
          <p:cNvPr id="276" name="Rounded Rectangle 29"/>
          <p:cNvSpPr/>
          <p:nvPr/>
        </p:nvSpPr>
        <p:spPr>
          <a:xfrm>
            <a:off x="1920240" y="4992624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30"/>
          <p:cNvSpPr txBox="1"/>
          <p:nvPr/>
        </p:nvSpPr>
        <p:spPr>
          <a:xfrm>
            <a:off x="2011680" y="5065776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2.8 s</a:t>
            </a:r>
            <a:endParaRPr sz="1800"/>
          </a:p>
        </p:txBody>
      </p:sp>
      <p:sp>
        <p:nvSpPr>
          <p:cNvPr id="278" name="Rounded Rectangle 31"/>
          <p:cNvSpPr/>
          <p:nvPr/>
        </p:nvSpPr>
        <p:spPr>
          <a:xfrm>
            <a:off x="5285232" y="4992624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/>
              <a:t>&lt; 5 s SLA</a:t>
            </a:r>
            <a:endParaRPr/>
          </a:p>
        </p:txBody>
      </p:sp>
      <p:sp>
        <p:nvSpPr>
          <p:cNvPr id="279" name="TextBox 32"/>
          <p:cNvSpPr txBox="1"/>
          <p:nvPr/>
        </p:nvSpPr>
        <p:spPr>
          <a:xfrm>
            <a:off x="5376672" y="5065776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切换耗时</a:t>
            </a:r>
            <a:endParaRPr sz="1800"/>
          </a:p>
        </p:txBody>
      </p:sp>
      <p:sp>
        <p:nvSpPr>
          <p:cNvPr id="280" name="Rounded Rectangle 33"/>
          <p:cNvSpPr/>
          <p:nvPr/>
        </p:nvSpPr>
        <p:spPr>
          <a:xfrm>
            <a:off x="8650224" y="4992624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 w="635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/>
              <a:t>状态同步</a:t>
            </a:r>
            <a:endParaRPr/>
          </a:p>
        </p:txBody>
      </p:sp>
      <p:sp>
        <p:nvSpPr>
          <p:cNvPr id="281" name="TextBox 34"/>
          <p:cNvSpPr txBox="1"/>
          <p:nvPr/>
        </p:nvSpPr>
        <p:spPr>
          <a:xfrm>
            <a:off x="8741664" y="5065776"/>
            <a:ext cx="3108960" cy="7680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78 ms</a:t>
            </a:r>
            <a:endParaRPr sz="1800"/>
          </a:p>
        </p:txBody>
      </p:sp>
      <p:sp>
        <p:nvSpPr>
          <p:cNvPr id="282" name="TextBox 35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17 / 29</a:t>
            </a:r>
            <a:endParaRPr sz="1000"/>
          </a:p>
        </p:txBody>
      </p:sp>
      <p:sp>
        <p:nvSpPr>
          <p:cNvPr id="28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28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Box 1"/>
          <p:cNvSpPr txBox="1"/>
          <p:nvPr/>
        </p:nvSpPr>
        <p:spPr>
          <a:xfrm>
            <a:off x="731520" y="1188720"/>
            <a:ext cx="4572000" cy="22860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0" b="1">
                <a:solidFill>
                  <a:srgbClr val="12182A"/>
                </a:solidFill>
                <a:latin typeface="宋体" panose="02010600030101010101" pitchFamily="2" charset="-122"/>
              </a:defRPr>
            </a:pPr>
            <a:r>
              <a:rPr sz="4800"/>
              <a:t>04</a:t>
            </a:r>
            <a:endParaRPr sz="4800"/>
          </a:p>
        </p:txBody>
      </p:sp>
      <p:sp>
        <p:nvSpPr>
          <p:cNvPr id="287" name="TextBox 2"/>
          <p:cNvSpPr txBox="1"/>
          <p:nvPr/>
        </p:nvSpPr>
        <p:spPr>
          <a:xfrm>
            <a:off x="731520" y="1920240"/>
            <a:ext cx="5486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Section · 04</a:t>
            </a:r>
            <a:endParaRPr sz="2000"/>
          </a:p>
        </p:txBody>
      </p:sp>
      <p:sp>
        <p:nvSpPr>
          <p:cNvPr id="288" name="TextBox 3"/>
          <p:cNvSpPr txBox="1"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  <a:defRPr sz="40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000"/>
              <a:t>工厂落地场景</a:t>
            </a:r>
            <a:endParaRPr sz="2000"/>
          </a:p>
        </p:txBody>
      </p:sp>
      <p:sp>
        <p:nvSpPr>
          <p:cNvPr id="289" name="TextBox 4"/>
          <p:cNvSpPr txBox="1"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2000"/>
              <a:t>Factory Application Cases</a:t>
            </a:r>
            <a:endParaRPr sz="2000"/>
          </a:p>
        </p:txBody>
      </p:sp>
      <p:sp>
        <p:nvSpPr>
          <p:cNvPr id="290" name="Rectangle 5"/>
          <p:cNvSpPr/>
          <p:nvPr/>
        </p:nvSpPr>
        <p:spPr>
          <a:xfrm>
            <a:off x="731520" y="3794760"/>
            <a:ext cx="2286000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6"/>
          <p:cNvSpPr txBox="1"/>
          <p:nvPr/>
        </p:nvSpPr>
        <p:spPr>
          <a:xfrm>
            <a:off x="731520" y="3977639"/>
            <a:ext cx="73152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2000"/>
              <a:t>压铸机 / 注塑机 / 五轴加工 / 楼宇自动化 / 能源管理 — 基于真实协议与配置</a:t>
            </a:r>
            <a:endParaRPr sz="2000"/>
          </a:p>
        </p:txBody>
      </p:sp>
      <p:sp>
        <p:nvSpPr>
          <p:cNvPr id="292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18 / 29</a:t>
            </a:r>
            <a:endParaRPr sz="1000"/>
          </a:p>
        </p:txBody>
      </p:sp>
      <p:sp>
        <p:nvSpPr>
          <p:cNvPr id="29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29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2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297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压铸机案例</a:t>
            </a:r>
            <a:endParaRPr sz="1100"/>
          </a:p>
        </p:txBody>
      </p:sp>
      <p:sp>
        <p:nvSpPr>
          <p:cNvPr id="298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Case 01 · 压铸机</a:t>
            </a:r>
            <a:endParaRPr sz="2000"/>
          </a:p>
        </p:txBody>
      </p:sp>
      <p:sp>
        <p:nvSpPr>
          <p:cNvPr id="300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压铸机监控与模具寿命管理</a:t>
            </a:r>
            <a:endParaRPr sz="2600"/>
          </a:p>
        </p:txBody>
      </p:sp>
      <p:sp>
        <p:nvSpPr>
          <p:cNvPr id="301" name="Rounded Rectangle 6"/>
          <p:cNvSpPr/>
          <p:nvPr/>
        </p:nvSpPr>
        <p:spPr>
          <a:xfrm>
            <a:off x="457200" y="1554480"/>
            <a:ext cx="512064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TextBox 7"/>
          <p:cNvSpPr txBox="1"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场景描述</a:t>
            </a:r>
            <a:endParaRPr sz="1600"/>
          </a:p>
        </p:txBody>
      </p:sp>
      <p:sp>
        <p:nvSpPr>
          <p:cNvPr id="303" name="TextBox 8"/>
          <p:cNvSpPr txBox="1"/>
          <p:nvPr/>
        </p:nvSpPr>
        <p:spPr>
          <a:xfrm>
            <a:off x="640080" y="2011680"/>
            <a:ext cx="475488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汽车零部件制造核心设备。传统监控依赖人工巡检，故障发现滞后，模具寿命管理粗放。</a:t>
            </a:r>
            <a:endParaRPr sz="1800"/>
          </a:p>
        </p:txBody>
      </p:sp>
      <p:sp>
        <p:nvSpPr>
          <p:cNvPr id="304" name="TextBox 9"/>
          <p:cNvSpPr txBox="1"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技术方案</a:t>
            </a:r>
            <a:endParaRPr sz="1600"/>
          </a:p>
        </p:txBody>
      </p:sp>
      <p:sp>
        <p:nvSpPr>
          <p:cNvPr id="305" name="TextBox 10"/>
          <p:cNvSpPr txBox="1"/>
          <p:nvPr/>
        </p:nvSpPr>
        <p:spPr>
          <a:xfrm>
            <a:off x="777240" y="3127248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协议接入</a:t>
            </a:r>
            <a:endParaRPr sz="1600"/>
          </a:p>
        </p:txBody>
      </p:sp>
      <p:sp>
        <p:nvSpPr>
          <p:cNvPr id="306" name="TextBox 11"/>
          <p:cNvSpPr txBox="1"/>
          <p:nvPr/>
        </p:nvSpPr>
        <p:spPr>
          <a:xfrm>
            <a:off x="1737360" y="306324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Modbus TCP 采集 PLC 控制器 / OPC UA 对接压铸机主机</a:t>
            </a:r>
            <a:endParaRPr sz="1800"/>
          </a:p>
        </p:txBody>
      </p:sp>
      <p:sp>
        <p:nvSpPr>
          <p:cNvPr id="307" name="TextBox 12"/>
          <p:cNvSpPr txBox="1"/>
          <p:nvPr/>
        </p:nvSpPr>
        <p:spPr>
          <a:xfrm>
            <a:off x="777240" y="3657600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采集数据</a:t>
            </a:r>
            <a:endParaRPr sz="1600"/>
          </a:p>
        </p:txBody>
      </p:sp>
      <p:sp>
        <p:nvSpPr>
          <p:cNvPr id="308" name="TextBox 13"/>
          <p:cNvSpPr txBox="1"/>
          <p:nvPr/>
        </p:nvSpPr>
        <p:spPr>
          <a:xfrm>
            <a:off x="1737360" y="365760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压射压力、合模力、铝液温度、模具温度、循环次数、保压时间</a:t>
            </a:r>
            <a:endParaRPr sz="1800"/>
          </a:p>
        </p:txBody>
      </p:sp>
      <p:sp>
        <p:nvSpPr>
          <p:cNvPr id="309" name="TextBox 14"/>
          <p:cNvSpPr txBox="1"/>
          <p:nvPr/>
        </p:nvSpPr>
        <p:spPr>
          <a:xfrm>
            <a:off x="777240" y="4251960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边缘规则</a:t>
            </a:r>
            <a:endParaRPr sz="1600"/>
          </a:p>
        </p:txBody>
      </p:sp>
      <p:sp>
        <p:nvSpPr>
          <p:cNvPr id="310" name="TextBox 15"/>
          <p:cNvSpPr txBox="1"/>
          <p:nvPr/>
        </p:nvSpPr>
        <p:spPr>
          <a:xfrm>
            <a:off x="1737360" y="425196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温度超限即时告警 / 压力曲线异常自动标记 / 循环计数自动累加</a:t>
            </a:r>
            <a:endParaRPr sz="1800"/>
          </a:p>
        </p:txBody>
      </p:sp>
      <p:sp>
        <p:nvSpPr>
          <p:cNvPr id="311" name="TextBox 16"/>
          <p:cNvSpPr txBox="1"/>
          <p:nvPr/>
        </p:nvSpPr>
        <p:spPr>
          <a:xfrm>
            <a:off x="777240" y="4846320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AI 查询</a:t>
            </a:r>
            <a:endParaRPr sz="1600"/>
          </a:p>
        </p:txBody>
      </p:sp>
      <p:sp>
        <p:nvSpPr>
          <p:cNvPr id="312" name="TextBox 17"/>
          <p:cNvSpPr txBox="1"/>
          <p:nvPr/>
        </p:nvSpPr>
        <p:spPr>
          <a:xfrm>
            <a:off x="1737360" y="484632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AI Agent 调用 read_points 查询模具寿命数据 / 生成保养建议</a:t>
            </a:r>
            <a:endParaRPr sz="1800"/>
          </a:p>
        </p:txBody>
      </p:sp>
      <p:sp>
        <p:nvSpPr>
          <p:cNvPr id="313" name="TextBox 18"/>
          <p:cNvSpPr txBox="1"/>
          <p:nvPr/>
        </p:nvSpPr>
        <p:spPr>
          <a:xfrm>
            <a:off x="777240" y="5440680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北向推送</a:t>
            </a:r>
            <a:endParaRPr sz="1600"/>
          </a:p>
        </p:txBody>
      </p:sp>
      <p:sp>
        <p:nvSpPr>
          <p:cNvPr id="314" name="TextBox 19"/>
          <p:cNvSpPr txBox="1"/>
          <p:nvPr/>
        </p:nvSpPr>
        <p:spPr>
          <a:xfrm>
            <a:off x="1737360" y="544068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MQTT 推送 MES 系统 / OPC UA 对接 SCADA 看板</a:t>
            </a:r>
            <a:endParaRPr sz="1800"/>
          </a:p>
        </p:txBody>
      </p:sp>
      <p:sp>
        <p:nvSpPr>
          <p:cNvPr id="315" name="Rounded Rectangle 20"/>
          <p:cNvSpPr/>
          <p:nvPr/>
        </p:nvSpPr>
        <p:spPr>
          <a:xfrm>
            <a:off x="5760720" y="1554480"/>
            <a:ext cx="594360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TextBox 21"/>
          <p:cNvSpPr txBox="1"/>
          <p:nvPr/>
        </p:nvSpPr>
        <p:spPr>
          <a:xfrm>
            <a:off x="5943600" y="16916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实施效果</a:t>
            </a:r>
            <a:endParaRPr sz="1600"/>
          </a:p>
        </p:txBody>
      </p:sp>
      <p:sp>
        <p:nvSpPr>
          <p:cNvPr id="317" name="TextBox 22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关键改进方向</a:t>
            </a:r>
            <a:endParaRPr sz="1600"/>
          </a:p>
        </p:txBody>
      </p:sp>
      <p:sp>
        <p:nvSpPr>
          <p:cNvPr id="318" name="TextBox 23"/>
          <p:cNvSpPr txBox="1"/>
          <p:nvPr/>
        </p:nvSpPr>
        <p:spPr>
          <a:xfrm>
            <a:off x="5943600" y="25603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故障发现时间</a:t>
            </a:r>
            <a:endParaRPr sz="1600"/>
          </a:p>
        </p:txBody>
      </p:sp>
      <p:sp>
        <p:nvSpPr>
          <p:cNvPr id="319" name="TextBox 24"/>
          <p:cNvSpPr txBox="1"/>
          <p:nvPr/>
        </p:nvSpPr>
        <p:spPr>
          <a:xfrm>
            <a:off x="8138160" y="2560320"/>
            <a:ext cx="2286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实时告警</a:t>
            </a:r>
            <a:endParaRPr sz="1600"/>
          </a:p>
        </p:txBody>
      </p:sp>
      <p:sp>
        <p:nvSpPr>
          <p:cNvPr id="320" name="TextBox 25"/>
          <p:cNvSpPr txBox="1"/>
          <p:nvPr/>
        </p:nvSpPr>
        <p:spPr>
          <a:xfrm>
            <a:off x="5943600" y="29260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从人工巡检到秒级告警</a:t>
            </a:r>
            <a:endParaRPr sz="1600"/>
          </a:p>
        </p:txBody>
      </p:sp>
      <p:sp>
        <p:nvSpPr>
          <p:cNvPr id="321" name="Rectangle 26"/>
          <p:cNvSpPr/>
          <p:nvPr/>
        </p:nvSpPr>
        <p:spPr>
          <a:xfrm>
            <a:off x="5943600" y="3200400"/>
            <a:ext cx="5486400" cy="7315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TextBox 27"/>
          <p:cNvSpPr txBox="1"/>
          <p:nvPr/>
        </p:nvSpPr>
        <p:spPr>
          <a:xfrm>
            <a:off x="5943600" y="32461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模具寿命预测准确率</a:t>
            </a:r>
            <a:endParaRPr sz="1600"/>
          </a:p>
        </p:txBody>
      </p:sp>
      <p:sp>
        <p:nvSpPr>
          <p:cNvPr id="323" name="TextBox 28"/>
          <p:cNvSpPr txBox="1"/>
          <p:nvPr/>
        </p:nvSpPr>
        <p:spPr>
          <a:xfrm>
            <a:off x="8138160" y="3246120"/>
            <a:ext cx="2286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趋势分析</a:t>
            </a:r>
            <a:endParaRPr sz="1600"/>
          </a:p>
        </p:txBody>
      </p:sp>
      <p:sp>
        <p:nvSpPr>
          <p:cNvPr id="324" name="TextBox 29"/>
          <p:cNvSpPr txBox="1"/>
          <p:nvPr/>
        </p:nvSpPr>
        <p:spPr>
          <a:xfrm>
            <a:off x="5943600" y="36118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基于压力曲线数据辅助判断</a:t>
            </a:r>
            <a:endParaRPr sz="1600"/>
          </a:p>
        </p:txBody>
      </p:sp>
      <p:sp>
        <p:nvSpPr>
          <p:cNvPr id="325" name="Rectangle 30"/>
          <p:cNvSpPr/>
          <p:nvPr/>
        </p:nvSpPr>
        <p:spPr>
          <a:xfrm>
            <a:off x="5943600" y="3886200"/>
            <a:ext cx="5486400" cy="7315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TextBox 31"/>
          <p:cNvSpPr txBox="1"/>
          <p:nvPr/>
        </p:nvSpPr>
        <p:spPr>
          <a:xfrm>
            <a:off x="5943600" y="39319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非计划停机减少</a:t>
            </a:r>
            <a:endParaRPr sz="1600"/>
          </a:p>
        </p:txBody>
      </p:sp>
      <p:sp>
        <p:nvSpPr>
          <p:cNvPr id="327" name="TextBox 32"/>
          <p:cNvSpPr txBox="1"/>
          <p:nvPr/>
        </p:nvSpPr>
        <p:spPr>
          <a:xfrm>
            <a:off x="8138160" y="3931920"/>
            <a:ext cx="2286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提前预警</a:t>
            </a:r>
            <a:endParaRPr sz="1600"/>
          </a:p>
        </p:txBody>
      </p:sp>
      <p:sp>
        <p:nvSpPr>
          <p:cNvPr id="328" name="TextBox 33"/>
          <p:cNvSpPr txBox="1"/>
          <p:nvPr/>
        </p:nvSpPr>
        <p:spPr>
          <a:xfrm>
            <a:off x="5943600" y="42976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异常先报警，降低突发停机风险</a:t>
            </a:r>
            <a:endParaRPr sz="1600"/>
          </a:p>
        </p:txBody>
      </p:sp>
      <p:sp>
        <p:nvSpPr>
          <p:cNvPr id="329" name="Rectangle 34"/>
          <p:cNvSpPr/>
          <p:nvPr/>
        </p:nvSpPr>
        <p:spPr>
          <a:xfrm>
            <a:off x="5943600" y="4572000"/>
            <a:ext cx="5486400" cy="7315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TextBox 35"/>
          <p:cNvSpPr txBox="1"/>
          <p:nvPr/>
        </p:nvSpPr>
        <p:spPr>
          <a:xfrm>
            <a:off x="5943600" y="46177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采集频率提升</a:t>
            </a:r>
            <a:endParaRPr sz="1600"/>
          </a:p>
        </p:txBody>
      </p:sp>
      <p:sp>
        <p:nvSpPr>
          <p:cNvPr id="331" name="TextBox 36"/>
          <p:cNvSpPr txBox="1"/>
          <p:nvPr/>
        </p:nvSpPr>
        <p:spPr>
          <a:xfrm>
            <a:off x="8138160" y="4617720"/>
            <a:ext cx="2286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高频可配</a:t>
            </a:r>
            <a:endParaRPr sz="1600"/>
          </a:p>
        </p:txBody>
      </p:sp>
      <p:sp>
        <p:nvSpPr>
          <p:cNvPr id="332" name="TextBox 37"/>
          <p:cNvSpPr txBox="1"/>
          <p:nvPr/>
        </p:nvSpPr>
        <p:spPr>
          <a:xfrm>
            <a:off x="5943600" y="49834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支持 100ms 级高频采样</a:t>
            </a:r>
            <a:endParaRPr sz="1600"/>
          </a:p>
        </p:txBody>
      </p:sp>
      <p:sp>
        <p:nvSpPr>
          <p:cNvPr id="333" name="Rectangle 38"/>
          <p:cNvSpPr/>
          <p:nvPr/>
        </p:nvSpPr>
        <p:spPr>
          <a:xfrm>
            <a:off x="5943600" y="5257800"/>
            <a:ext cx="5486400" cy="7315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TextBox 39"/>
          <p:cNvSpPr txBox="1"/>
          <p:nvPr/>
        </p:nvSpPr>
        <p:spPr>
          <a:xfrm>
            <a:off x="5943600" y="53035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OEE 提升</a:t>
            </a:r>
            <a:endParaRPr sz="1600"/>
          </a:p>
        </p:txBody>
      </p:sp>
      <p:sp>
        <p:nvSpPr>
          <p:cNvPr id="335" name="TextBox 40"/>
          <p:cNvSpPr txBox="1"/>
          <p:nvPr/>
        </p:nvSpPr>
        <p:spPr>
          <a:xfrm>
            <a:off x="8138160" y="5303520"/>
            <a:ext cx="2286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自动统计</a:t>
            </a:r>
            <a:endParaRPr sz="1600"/>
          </a:p>
        </p:txBody>
      </p:sp>
      <p:sp>
        <p:nvSpPr>
          <p:cNvPr id="336" name="TextBox 41"/>
          <p:cNvSpPr txBox="1"/>
          <p:nvPr/>
        </p:nvSpPr>
        <p:spPr>
          <a:xfrm>
            <a:off x="5943600" y="56692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节拍统计与质量追溯</a:t>
            </a:r>
            <a:endParaRPr sz="1600"/>
          </a:p>
        </p:txBody>
      </p:sp>
      <p:sp>
        <p:nvSpPr>
          <p:cNvPr id="337" name="TextBox 42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19 / 29</a:t>
            </a:r>
            <a:endParaRPr sz="1000"/>
          </a:p>
        </p:txBody>
      </p:sp>
      <p:sp>
        <p:nvSpPr>
          <p:cNvPr id="33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33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3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371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注塑机案例</a:t>
            </a:r>
            <a:endParaRPr sz="1100"/>
          </a:p>
        </p:txBody>
      </p:sp>
      <p:sp>
        <p:nvSpPr>
          <p:cNvPr id="372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Case 02 · 注塑机</a:t>
            </a:r>
            <a:endParaRPr sz="2000"/>
          </a:p>
        </p:txBody>
      </p:sp>
      <p:sp>
        <p:nvSpPr>
          <p:cNvPr id="374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注塑机产线数据采集与 OEE 优化</a:t>
            </a:r>
            <a:endParaRPr sz="2600"/>
          </a:p>
        </p:txBody>
      </p:sp>
      <p:sp>
        <p:nvSpPr>
          <p:cNvPr id="375" name="Rounded Rectangle 6"/>
          <p:cNvSpPr/>
          <p:nvPr/>
        </p:nvSpPr>
        <p:spPr>
          <a:xfrm>
            <a:off x="457200" y="1554480"/>
            <a:ext cx="512064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7"/>
          <p:cNvSpPr txBox="1"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场景描述</a:t>
            </a:r>
            <a:endParaRPr sz="1600"/>
          </a:p>
        </p:txBody>
      </p:sp>
      <p:sp>
        <p:nvSpPr>
          <p:cNvPr id="377" name="TextBox 8"/>
          <p:cNvSpPr txBox="1"/>
          <p:nvPr/>
        </p:nvSpPr>
        <p:spPr>
          <a:xfrm>
            <a:off x="640080" y="2011680"/>
            <a:ext cx="475488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20-50 台注塑机多品牌并存，协议各异。传统方案数据各管各的，OEE 靠人工抄表。</a:t>
            </a:r>
            <a:endParaRPr sz="1800"/>
          </a:p>
        </p:txBody>
      </p:sp>
      <p:sp>
        <p:nvSpPr>
          <p:cNvPr id="378" name="TextBox 9"/>
          <p:cNvSpPr txBox="1"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技术方案</a:t>
            </a:r>
            <a:endParaRPr sz="1600"/>
          </a:p>
        </p:txBody>
      </p:sp>
      <p:sp>
        <p:nvSpPr>
          <p:cNvPr id="379" name="TextBox 10"/>
          <p:cNvSpPr txBox="1"/>
          <p:nvPr/>
        </p:nvSpPr>
        <p:spPr>
          <a:xfrm>
            <a:off x="777240" y="3127248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协议接入</a:t>
            </a:r>
            <a:endParaRPr sz="1600"/>
          </a:p>
        </p:txBody>
      </p:sp>
      <p:sp>
        <p:nvSpPr>
          <p:cNvPr id="380" name="TextBox 11"/>
          <p:cNvSpPr txBox="1"/>
          <p:nvPr/>
        </p:nvSpPr>
        <p:spPr>
          <a:xfrm>
            <a:off x="1737360" y="306324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Modbus TCP + OPC UA + SPI/Euromap 77</a:t>
            </a:r>
            <a:endParaRPr sz="1800"/>
          </a:p>
        </p:txBody>
      </p:sp>
      <p:sp>
        <p:nvSpPr>
          <p:cNvPr id="381" name="TextBox 12"/>
          <p:cNvSpPr txBox="1"/>
          <p:nvPr/>
        </p:nvSpPr>
        <p:spPr>
          <a:xfrm>
            <a:off x="777240" y="3657600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采集数据</a:t>
            </a:r>
            <a:endParaRPr sz="1600"/>
          </a:p>
        </p:txBody>
      </p:sp>
      <p:sp>
        <p:nvSpPr>
          <p:cNvPr id="382" name="TextBox 13"/>
          <p:cNvSpPr txBox="1"/>
          <p:nvPr/>
        </p:nvSpPr>
        <p:spPr>
          <a:xfrm>
            <a:off x="1737360" y="365760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熔体温度、注射压力、保压压力、循环时间、射胶量等</a:t>
            </a:r>
            <a:endParaRPr sz="1800"/>
          </a:p>
        </p:txBody>
      </p:sp>
      <p:sp>
        <p:nvSpPr>
          <p:cNvPr id="383" name="TextBox 14"/>
          <p:cNvSpPr txBox="1"/>
          <p:nvPr/>
        </p:nvSpPr>
        <p:spPr>
          <a:xfrm>
            <a:off x="777240" y="4251960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边缘计算</a:t>
            </a:r>
            <a:endParaRPr sz="1600"/>
          </a:p>
        </p:txBody>
      </p:sp>
      <p:sp>
        <p:nvSpPr>
          <p:cNvPr id="384" name="TextBox 15"/>
          <p:cNvSpPr txBox="1"/>
          <p:nvPr/>
        </p:nvSpPr>
        <p:spPr>
          <a:xfrm>
            <a:off x="1737360" y="425196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单台 OEE 实时计算 / 良品率统计 / 能耗分项计量</a:t>
            </a:r>
            <a:endParaRPr sz="1800"/>
          </a:p>
        </p:txBody>
      </p:sp>
      <p:sp>
        <p:nvSpPr>
          <p:cNvPr id="385" name="TextBox 16"/>
          <p:cNvSpPr txBox="1"/>
          <p:nvPr/>
        </p:nvSpPr>
        <p:spPr>
          <a:xfrm>
            <a:off x="777240" y="4846320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规则联动</a:t>
            </a:r>
            <a:endParaRPr sz="1600"/>
          </a:p>
        </p:txBody>
      </p:sp>
      <p:sp>
        <p:nvSpPr>
          <p:cNvPr id="386" name="TextBox 17"/>
          <p:cNvSpPr txBox="1"/>
          <p:nvPr/>
        </p:nvSpPr>
        <p:spPr>
          <a:xfrm>
            <a:off x="1737360" y="484632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射胶量偏差超阈值标记不良品 / 保压时间不足触发告警</a:t>
            </a:r>
            <a:endParaRPr sz="1800"/>
          </a:p>
        </p:txBody>
      </p:sp>
      <p:sp>
        <p:nvSpPr>
          <p:cNvPr id="387" name="TextBox 18"/>
          <p:cNvSpPr txBox="1"/>
          <p:nvPr/>
        </p:nvSpPr>
        <p:spPr>
          <a:xfrm>
            <a:off x="777240" y="5440680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北向推送</a:t>
            </a:r>
            <a:endParaRPr sz="1600"/>
          </a:p>
        </p:txBody>
      </p:sp>
      <p:sp>
        <p:nvSpPr>
          <p:cNvPr id="388" name="TextBox 19"/>
          <p:cNvSpPr txBox="1"/>
          <p:nvPr/>
        </p:nvSpPr>
        <p:spPr>
          <a:xfrm>
            <a:off x="1737360" y="544068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MQTT→MES / OPC UA→SCADA / BACnet→楼宇</a:t>
            </a:r>
            <a:endParaRPr sz="1800"/>
          </a:p>
        </p:txBody>
      </p:sp>
      <p:sp>
        <p:nvSpPr>
          <p:cNvPr id="389" name="Rounded Rectangle 20"/>
          <p:cNvSpPr/>
          <p:nvPr/>
        </p:nvSpPr>
        <p:spPr>
          <a:xfrm>
            <a:off x="5760720" y="1554480"/>
            <a:ext cx="594360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TextBox 21"/>
          <p:cNvSpPr txBox="1"/>
          <p:nvPr/>
        </p:nvSpPr>
        <p:spPr>
          <a:xfrm>
            <a:off x="5943600" y="16916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实施效果</a:t>
            </a:r>
            <a:endParaRPr sz="1600"/>
          </a:p>
        </p:txBody>
      </p:sp>
      <p:sp>
        <p:nvSpPr>
          <p:cNvPr id="391" name="TextBox 22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关键改进方向</a:t>
            </a:r>
            <a:endParaRPr sz="1600"/>
          </a:p>
        </p:txBody>
      </p:sp>
      <p:sp>
        <p:nvSpPr>
          <p:cNvPr id="392" name="TextBox 23"/>
          <p:cNvSpPr txBox="1"/>
          <p:nvPr/>
        </p:nvSpPr>
        <p:spPr>
          <a:xfrm>
            <a:off x="5943600" y="25603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OEE 统计方式</a:t>
            </a:r>
            <a:endParaRPr sz="1600"/>
          </a:p>
        </p:txBody>
      </p:sp>
      <p:sp>
        <p:nvSpPr>
          <p:cNvPr id="393" name="TextBox 24"/>
          <p:cNvSpPr txBox="1"/>
          <p:nvPr/>
        </p:nvSpPr>
        <p:spPr>
          <a:xfrm>
            <a:off x="8138160" y="2560320"/>
            <a:ext cx="25603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自动统计</a:t>
            </a:r>
            <a:endParaRPr sz="1600"/>
          </a:p>
        </p:txBody>
      </p:sp>
      <p:sp>
        <p:nvSpPr>
          <p:cNvPr id="394" name="TextBox 25"/>
          <p:cNvSpPr txBox="1"/>
          <p:nvPr/>
        </p:nvSpPr>
        <p:spPr>
          <a:xfrm>
            <a:off x="5943600" y="29260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30 台注塑机 OEE 自动汇总，替代人工抄表</a:t>
            </a:r>
            <a:endParaRPr sz="1600"/>
          </a:p>
        </p:txBody>
      </p:sp>
      <p:sp>
        <p:nvSpPr>
          <p:cNvPr id="395" name="Rectangle 26"/>
          <p:cNvSpPr/>
          <p:nvPr/>
        </p:nvSpPr>
        <p:spPr>
          <a:xfrm>
            <a:off x="5943600" y="3200400"/>
            <a:ext cx="5486400" cy="7315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TextBox 27"/>
          <p:cNvSpPr txBox="1"/>
          <p:nvPr/>
        </p:nvSpPr>
        <p:spPr>
          <a:xfrm>
            <a:off x="5943600" y="32461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设备利用率提升</a:t>
            </a:r>
            <a:endParaRPr sz="1600"/>
          </a:p>
        </p:txBody>
      </p:sp>
      <p:sp>
        <p:nvSpPr>
          <p:cNvPr id="397" name="TextBox 28"/>
          <p:cNvSpPr txBox="1"/>
          <p:nvPr/>
        </p:nvSpPr>
        <p:spPr>
          <a:xfrm>
            <a:off x="8138160" y="3246120"/>
            <a:ext cx="25603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瓶颈识别</a:t>
            </a:r>
            <a:endParaRPr sz="1600"/>
          </a:p>
        </p:txBody>
      </p:sp>
      <p:sp>
        <p:nvSpPr>
          <p:cNvPr id="398" name="TextBox 29"/>
          <p:cNvSpPr txBox="1"/>
          <p:nvPr/>
        </p:nvSpPr>
        <p:spPr>
          <a:xfrm>
            <a:off x="5943600" y="36118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识别瓶颈设备，辅助排产优化</a:t>
            </a:r>
            <a:endParaRPr sz="1600"/>
          </a:p>
        </p:txBody>
      </p:sp>
      <p:sp>
        <p:nvSpPr>
          <p:cNvPr id="399" name="Rectangle 30"/>
          <p:cNvSpPr/>
          <p:nvPr/>
        </p:nvSpPr>
        <p:spPr>
          <a:xfrm>
            <a:off x="5943600" y="3886200"/>
            <a:ext cx="5486400" cy="7315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TextBox 31"/>
          <p:cNvSpPr txBox="1"/>
          <p:nvPr/>
        </p:nvSpPr>
        <p:spPr>
          <a:xfrm>
            <a:off x="5943600" y="39319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不良品追溯精度</a:t>
            </a:r>
            <a:endParaRPr sz="1600"/>
          </a:p>
        </p:txBody>
      </p:sp>
      <p:sp>
        <p:nvSpPr>
          <p:cNvPr id="401" name="TextBox 32"/>
          <p:cNvSpPr txBox="1"/>
          <p:nvPr/>
        </p:nvSpPr>
        <p:spPr>
          <a:xfrm>
            <a:off x="8138160" y="3931920"/>
            <a:ext cx="25603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精细追溯</a:t>
            </a:r>
            <a:endParaRPr sz="1600"/>
          </a:p>
        </p:txBody>
      </p:sp>
      <p:sp>
        <p:nvSpPr>
          <p:cNvPr id="402" name="TextBox 33"/>
          <p:cNvSpPr txBox="1"/>
          <p:nvPr/>
        </p:nvSpPr>
        <p:spPr>
          <a:xfrm>
            <a:off x="5943600" y="42976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压力曲线关联质量，追溯粒度更细</a:t>
            </a:r>
            <a:endParaRPr sz="1600"/>
          </a:p>
        </p:txBody>
      </p:sp>
      <p:sp>
        <p:nvSpPr>
          <p:cNvPr id="403" name="Rectangle 34"/>
          <p:cNvSpPr/>
          <p:nvPr/>
        </p:nvSpPr>
        <p:spPr>
          <a:xfrm>
            <a:off x="5943600" y="4572000"/>
            <a:ext cx="5486400" cy="7315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TextBox 35"/>
          <p:cNvSpPr txBox="1"/>
          <p:nvPr/>
        </p:nvSpPr>
        <p:spPr>
          <a:xfrm>
            <a:off x="5943600" y="46177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能耗降低</a:t>
            </a:r>
            <a:endParaRPr sz="1600"/>
          </a:p>
        </p:txBody>
      </p:sp>
      <p:sp>
        <p:nvSpPr>
          <p:cNvPr id="405" name="TextBox 36"/>
          <p:cNvSpPr txBox="1"/>
          <p:nvPr/>
        </p:nvSpPr>
        <p:spPr>
          <a:xfrm>
            <a:off x="8138160" y="4617720"/>
            <a:ext cx="25603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节能排产</a:t>
            </a:r>
            <a:endParaRPr sz="1600"/>
          </a:p>
        </p:txBody>
      </p:sp>
      <p:sp>
        <p:nvSpPr>
          <p:cNvPr id="406" name="TextBox 37"/>
          <p:cNvSpPr txBox="1"/>
          <p:nvPr/>
        </p:nvSpPr>
        <p:spPr>
          <a:xfrm>
            <a:off x="5943600" y="49834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待机识别，辅助节能优化</a:t>
            </a:r>
            <a:endParaRPr sz="1600"/>
          </a:p>
        </p:txBody>
      </p:sp>
      <p:sp>
        <p:nvSpPr>
          <p:cNvPr id="407" name="Rectangle 38"/>
          <p:cNvSpPr/>
          <p:nvPr/>
        </p:nvSpPr>
        <p:spPr>
          <a:xfrm>
            <a:off x="5943600" y="5257800"/>
            <a:ext cx="5486400" cy="7315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TextBox 39"/>
          <p:cNvSpPr txBox="1"/>
          <p:nvPr/>
        </p:nvSpPr>
        <p:spPr>
          <a:xfrm>
            <a:off x="5943600" y="53035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采集数据规模</a:t>
            </a:r>
            <a:endParaRPr sz="1600"/>
          </a:p>
        </p:txBody>
      </p:sp>
      <p:sp>
        <p:nvSpPr>
          <p:cNvPr id="409" name="TextBox 40"/>
          <p:cNvSpPr txBox="1"/>
          <p:nvPr/>
        </p:nvSpPr>
        <p:spPr>
          <a:xfrm>
            <a:off x="8138160" y="5303520"/>
            <a:ext cx="25603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1,200+ 点</a:t>
            </a:r>
            <a:endParaRPr sz="1600"/>
          </a:p>
        </p:txBody>
      </p:sp>
      <p:sp>
        <p:nvSpPr>
          <p:cNvPr id="410" name="TextBox 41"/>
          <p:cNvSpPr txBox="1"/>
          <p:nvPr/>
        </p:nvSpPr>
        <p:spPr>
          <a:xfrm>
            <a:off x="5943600" y="56692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30 台 × 40 点位/台（参考规模）</a:t>
            </a:r>
            <a:endParaRPr sz="1600"/>
          </a:p>
        </p:txBody>
      </p:sp>
      <p:sp>
        <p:nvSpPr>
          <p:cNvPr id="411" name="TextBox 42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20 / 29</a:t>
            </a:r>
            <a:endParaRPr sz="1000"/>
          </a:p>
        </p:txBody>
      </p:sp>
      <p:sp>
        <p:nvSpPr>
          <p:cNvPr id="4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4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4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416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五轴加工案例</a:t>
            </a:r>
            <a:endParaRPr sz="1100"/>
          </a:p>
        </p:txBody>
      </p:sp>
      <p:sp>
        <p:nvSpPr>
          <p:cNvPr id="417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Case 03 · 五轴加工设备</a:t>
            </a:r>
            <a:endParaRPr sz="2000"/>
          </a:p>
        </p:txBody>
      </p:sp>
      <p:sp>
        <p:nvSpPr>
          <p:cNvPr id="419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五轴加工设备状态监控与刀具管理</a:t>
            </a:r>
            <a:endParaRPr sz="2600"/>
          </a:p>
        </p:txBody>
      </p:sp>
      <p:sp>
        <p:nvSpPr>
          <p:cNvPr id="420" name="Rounded Rectangle 6"/>
          <p:cNvSpPr/>
          <p:nvPr/>
        </p:nvSpPr>
        <p:spPr>
          <a:xfrm>
            <a:off x="457200" y="1554480"/>
            <a:ext cx="512064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TextBox 7"/>
          <p:cNvSpPr txBox="1"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场景描述</a:t>
            </a:r>
            <a:endParaRPr sz="1600"/>
          </a:p>
        </p:txBody>
      </p:sp>
      <p:sp>
        <p:nvSpPr>
          <p:cNvPr id="422" name="TextBox 8"/>
          <p:cNvSpPr txBox="1"/>
          <p:nvPr/>
        </p:nvSpPr>
        <p:spPr>
          <a:xfrm>
            <a:off x="640080" y="2011680"/>
            <a:ext cx="475488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航空航天、精密模具核心设备。刀具磨损、振动、热变形影响精度，数据封闭无法联动。</a:t>
            </a:r>
            <a:endParaRPr sz="1800"/>
          </a:p>
        </p:txBody>
      </p:sp>
      <p:sp>
        <p:nvSpPr>
          <p:cNvPr id="423" name="TextBox 9"/>
          <p:cNvSpPr txBox="1"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技术方案</a:t>
            </a:r>
            <a:endParaRPr sz="1600"/>
          </a:p>
        </p:txBody>
      </p:sp>
      <p:sp>
        <p:nvSpPr>
          <p:cNvPr id="424" name="TextBox 10"/>
          <p:cNvSpPr txBox="1"/>
          <p:nvPr/>
        </p:nvSpPr>
        <p:spPr>
          <a:xfrm>
            <a:off x="777240" y="3127248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协议接入</a:t>
            </a:r>
            <a:endParaRPr sz="1600"/>
          </a:p>
        </p:txBody>
      </p:sp>
      <p:sp>
        <p:nvSpPr>
          <p:cNvPr id="425" name="TextBox 11"/>
          <p:cNvSpPr txBox="1"/>
          <p:nvPr/>
        </p:nvSpPr>
        <p:spPr>
          <a:xfrm>
            <a:off x="1737360" y="306324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OPC UA + MTConnect + Modbus TCP</a:t>
            </a:r>
            <a:endParaRPr sz="1800"/>
          </a:p>
        </p:txBody>
      </p:sp>
      <p:sp>
        <p:nvSpPr>
          <p:cNvPr id="426" name="TextBox 12"/>
          <p:cNvSpPr txBox="1"/>
          <p:nvPr/>
        </p:nvSpPr>
        <p:spPr>
          <a:xfrm>
            <a:off x="777240" y="3657600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采集数据</a:t>
            </a:r>
            <a:endParaRPr sz="1600"/>
          </a:p>
        </p:txBody>
      </p:sp>
      <p:sp>
        <p:nvSpPr>
          <p:cNvPr id="427" name="TextBox 13"/>
          <p:cNvSpPr txBox="1"/>
          <p:nvPr/>
        </p:nvSpPr>
        <p:spPr>
          <a:xfrm>
            <a:off x="1737360" y="365760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主轴转速/进给/功率/振动/温度/刀具号等</a:t>
            </a:r>
            <a:endParaRPr sz="1800"/>
          </a:p>
        </p:txBody>
      </p:sp>
      <p:sp>
        <p:nvSpPr>
          <p:cNvPr id="428" name="TextBox 14"/>
          <p:cNvSpPr txBox="1"/>
          <p:nvPr/>
        </p:nvSpPr>
        <p:spPr>
          <a:xfrm>
            <a:off x="777240" y="4251960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边缘规则</a:t>
            </a:r>
            <a:endParaRPr sz="1600"/>
          </a:p>
        </p:txBody>
      </p:sp>
      <p:sp>
        <p:nvSpPr>
          <p:cNvPr id="429" name="TextBox 15"/>
          <p:cNvSpPr txBox="1"/>
          <p:nvPr/>
        </p:nvSpPr>
        <p:spPr>
          <a:xfrm>
            <a:off x="1737360" y="425196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振动超限停机 / 刀具寿命预警 / 热补偿计算</a:t>
            </a:r>
            <a:endParaRPr sz="1800"/>
          </a:p>
        </p:txBody>
      </p:sp>
      <p:sp>
        <p:nvSpPr>
          <p:cNvPr id="430" name="TextBox 16"/>
          <p:cNvSpPr txBox="1"/>
          <p:nvPr/>
        </p:nvSpPr>
        <p:spPr>
          <a:xfrm>
            <a:off x="777240" y="4846320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AI 诊断</a:t>
            </a:r>
            <a:endParaRPr sz="1600"/>
          </a:p>
        </p:txBody>
      </p:sp>
      <p:sp>
        <p:nvSpPr>
          <p:cNvPr id="431" name="TextBox 17"/>
          <p:cNvSpPr txBox="1"/>
          <p:nvPr/>
        </p:nvSpPr>
        <p:spPr>
          <a:xfrm>
            <a:off x="1737360" y="484632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read_points 查振动频谱 / get_diagnostics 查健康度</a:t>
            </a:r>
            <a:endParaRPr sz="1800"/>
          </a:p>
        </p:txBody>
      </p:sp>
      <p:sp>
        <p:nvSpPr>
          <p:cNvPr id="432" name="TextBox 18"/>
          <p:cNvSpPr txBox="1"/>
          <p:nvPr/>
        </p:nvSpPr>
        <p:spPr>
          <a:xfrm>
            <a:off x="777240" y="5440680"/>
            <a:ext cx="9144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北向推送</a:t>
            </a:r>
            <a:endParaRPr sz="1600"/>
          </a:p>
        </p:txBody>
      </p:sp>
      <p:sp>
        <p:nvSpPr>
          <p:cNvPr id="433" name="TextBox 19"/>
          <p:cNvSpPr txBox="1"/>
          <p:nvPr/>
        </p:nvSpPr>
        <p:spPr>
          <a:xfrm>
            <a:off x="1737360" y="5440680"/>
            <a:ext cx="356616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MQTT 推送 MES / OPC UA 对接车间 SCADA</a:t>
            </a:r>
            <a:endParaRPr sz="1800"/>
          </a:p>
        </p:txBody>
      </p:sp>
      <p:sp>
        <p:nvSpPr>
          <p:cNvPr id="434" name="Rounded Rectangle 20"/>
          <p:cNvSpPr/>
          <p:nvPr/>
        </p:nvSpPr>
        <p:spPr>
          <a:xfrm>
            <a:off x="5760720" y="1554480"/>
            <a:ext cx="594360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TextBox 21"/>
          <p:cNvSpPr txBox="1"/>
          <p:nvPr/>
        </p:nvSpPr>
        <p:spPr>
          <a:xfrm>
            <a:off x="5943600" y="16916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实施效果</a:t>
            </a:r>
            <a:endParaRPr sz="1600"/>
          </a:p>
        </p:txBody>
      </p:sp>
      <p:sp>
        <p:nvSpPr>
          <p:cNvPr id="436" name="TextBox 22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关键改进方向</a:t>
            </a:r>
            <a:endParaRPr sz="1600"/>
          </a:p>
        </p:txBody>
      </p:sp>
      <p:sp>
        <p:nvSpPr>
          <p:cNvPr id="437" name="TextBox 23"/>
          <p:cNvSpPr txBox="1"/>
          <p:nvPr/>
        </p:nvSpPr>
        <p:spPr>
          <a:xfrm>
            <a:off x="5943600" y="25603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刀具寿命利用率</a:t>
            </a:r>
            <a:endParaRPr sz="1600"/>
          </a:p>
        </p:txBody>
      </p:sp>
      <p:sp>
        <p:nvSpPr>
          <p:cNvPr id="438" name="TextBox 24"/>
          <p:cNvSpPr txBox="1"/>
          <p:nvPr/>
        </p:nvSpPr>
        <p:spPr>
          <a:xfrm>
            <a:off x="8138160" y="2560320"/>
            <a:ext cx="2286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按实核算</a:t>
            </a:r>
            <a:endParaRPr sz="1600"/>
          </a:p>
        </p:txBody>
      </p:sp>
      <p:sp>
        <p:nvSpPr>
          <p:cNvPr id="439" name="TextBox 25"/>
          <p:cNvSpPr txBox="1"/>
          <p:nvPr/>
        </p:nvSpPr>
        <p:spPr>
          <a:xfrm>
            <a:off x="5943600" y="29260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按实际切削时间统计，而非估算</a:t>
            </a:r>
            <a:endParaRPr sz="1600"/>
          </a:p>
        </p:txBody>
      </p:sp>
      <p:sp>
        <p:nvSpPr>
          <p:cNvPr id="440" name="Rectangle 26"/>
          <p:cNvSpPr/>
          <p:nvPr/>
        </p:nvSpPr>
        <p:spPr>
          <a:xfrm>
            <a:off x="5943600" y="3200400"/>
            <a:ext cx="5486400" cy="7315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TextBox 27"/>
          <p:cNvSpPr txBox="1"/>
          <p:nvPr/>
        </p:nvSpPr>
        <p:spPr>
          <a:xfrm>
            <a:off x="5943600" y="32461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非计划停机减少</a:t>
            </a:r>
            <a:endParaRPr sz="1600"/>
          </a:p>
        </p:txBody>
      </p:sp>
      <p:sp>
        <p:nvSpPr>
          <p:cNvPr id="442" name="TextBox 28"/>
          <p:cNvSpPr txBox="1"/>
          <p:nvPr/>
        </p:nvSpPr>
        <p:spPr>
          <a:xfrm>
            <a:off x="8138160" y="3246120"/>
            <a:ext cx="2286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提前预警</a:t>
            </a:r>
            <a:endParaRPr sz="1600"/>
          </a:p>
        </p:txBody>
      </p:sp>
      <p:sp>
        <p:nvSpPr>
          <p:cNvPr id="443" name="TextBox 29"/>
          <p:cNvSpPr txBox="1"/>
          <p:nvPr/>
        </p:nvSpPr>
        <p:spPr>
          <a:xfrm>
            <a:off x="5943600" y="36118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振动预警辅助提前干预</a:t>
            </a:r>
            <a:endParaRPr sz="1600"/>
          </a:p>
        </p:txBody>
      </p:sp>
      <p:sp>
        <p:nvSpPr>
          <p:cNvPr id="444" name="Rectangle 30"/>
          <p:cNvSpPr/>
          <p:nvPr/>
        </p:nvSpPr>
        <p:spPr>
          <a:xfrm>
            <a:off x="5943600" y="3886200"/>
            <a:ext cx="5486400" cy="7315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TextBox 31"/>
          <p:cNvSpPr txBox="1"/>
          <p:nvPr/>
        </p:nvSpPr>
        <p:spPr>
          <a:xfrm>
            <a:off x="5943600" y="39319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加工精度一致性</a:t>
            </a:r>
            <a:endParaRPr sz="1600"/>
          </a:p>
        </p:txBody>
      </p:sp>
      <p:sp>
        <p:nvSpPr>
          <p:cNvPr id="446" name="TextBox 32"/>
          <p:cNvSpPr txBox="1"/>
          <p:nvPr/>
        </p:nvSpPr>
        <p:spPr>
          <a:xfrm>
            <a:off x="8138160" y="3931920"/>
            <a:ext cx="2286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热补偿</a:t>
            </a:r>
            <a:endParaRPr sz="1600"/>
          </a:p>
        </p:txBody>
      </p:sp>
      <p:sp>
        <p:nvSpPr>
          <p:cNvPr id="447" name="TextBox 33"/>
          <p:cNvSpPr txBox="1"/>
          <p:nvPr/>
        </p:nvSpPr>
        <p:spPr>
          <a:xfrm>
            <a:off x="5943600" y="42976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热变形数据实时补偿计算</a:t>
            </a:r>
            <a:endParaRPr sz="1600"/>
          </a:p>
        </p:txBody>
      </p:sp>
      <p:sp>
        <p:nvSpPr>
          <p:cNvPr id="448" name="Rectangle 34"/>
          <p:cNvSpPr/>
          <p:nvPr/>
        </p:nvSpPr>
        <p:spPr>
          <a:xfrm>
            <a:off x="5943600" y="4572000"/>
            <a:ext cx="5486400" cy="7315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TextBox 35"/>
          <p:cNvSpPr txBox="1"/>
          <p:nvPr/>
        </p:nvSpPr>
        <p:spPr>
          <a:xfrm>
            <a:off x="5943600" y="46177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数据采集延迟</a:t>
            </a:r>
            <a:endParaRPr sz="1600"/>
          </a:p>
        </p:txBody>
      </p:sp>
      <p:sp>
        <p:nvSpPr>
          <p:cNvPr id="450" name="TextBox 36"/>
          <p:cNvSpPr txBox="1"/>
          <p:nvPr/>
        </p:nvSpPr>
        <p:spPr>
          <a:xfrm>
            <a:off x="8138160" y="4617720"/>
            <a:ext cx="2286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&lt; 5 ms</a:t>
            </a:r>
            <a:endParaRPr sz="1600"/>
          </a:p>
        </p:txBody>
      </p:sp>
      <p:sp>
        <p:nvSpPr>
          <p:cNvPr id="451" name="TextBox 37"/>
          <p:cNvSpPr txBox="1"/>
          <p:nvPr/>
        </p:nvSpPr>
        <p:spPr>
          <a:xfrm>
            <a:off x="5943600" y="49834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ShadowCore 无锁读路径</a:t>
            </a:r>
            <a:endParaRPr sz="1600"/>
          </a:p>
        </p:txBody>
      </p:sp>
      <p:sp>
        <p:nvSpPr>
          <p:cNvPr id="452" name="Rectangle 38"/>
          <p:cNvSpPr/>
          <p:nvPr/>
        </p:nvSpPr>
        <p:spPr>
          <a:xfrm>
            <a:off x="5943600" y="5257800"/>
            <a:ext cx="5486400" cy="7315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TextBox 39"/>
          <p:cNvSpPr txBox="1"/>
          <p:nvPr/>
        </p:nvSpPr>
        <p:spPr>
          <a:xfrm>
            <a:off x="5943600" y="5303520"/>
            <a:ext cx="210312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AI 诊断准确率</a:t>
            </a:r>
            <a:endParaRPr sz="1600"/>
          </a:p>
        </p:txBody>
      </p:sp>
      <p:sp>
        <p:nvSpPr>
          <p:cNvPr id="454" name="TextBox 40"/>
          <p:cNvSpPr txBox="1"/>
          <p:nvPr/>
        </p:nvSpPr>
        <p:spPr>
          <a:xfrm>
            <a:off x="8138160" y="5303520"/>
            <a:ext cx="2286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辅助诊断</a:t>
            </a:r>
            <a:endParaRPr sz="1600"/>
          </a:p>
        </p:txBody>
      </p:sp>
      <p:sp>
        <p:nvSpPr>
          <p:cNvPr id="455" name="TextBox 41"/>
          <p:cNvSpPr txBox="1"/>
          <p:nvPr/>
        </p:nvSpPr>
        <p:spPr>
          <a:xfrm>
            <a:off x="5943600" y="5669280"/>
            <a:ext cx="5303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振动频谱 + 切削参数联合分析</a:t>
            </a:r>
            <a:endParaRPr sz="1600"/>
          </a:p>
        </p:txBody>
      </p:sp>
      <p:sp>
        <p:nvSpPr>
          <p:cNvPr id="456" name="TextBox 42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21 / 29</a:t>
            </a:r>
            <a:endParaRPr sz="1000"/>
          </a:p>
        </p:txBody>
      </p:sp>
      <p:sp>
        <p:nvSpPr>
          <p:cNvPr id="45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45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4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461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楼宇与能源</a:t>
            </a:r>
            <a:endParaRPr sz="1100"/>
          </a:p>
        </p:txBody>
      </p:sp>
      <p:sp>
        <p:nvSpPr>
          <p:cNvPr id="462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Case 04/05 · 楼宇自动化与能源管理</a:t>
            </a:r>
            <a:endParaRPr sz="2000"/>
          </a:p>
        </p:txBody>
      </p:sp>
      <p:sp>
        <p:nvSpPr>
          <p:cNvPr id="464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楼宇自动化与能源管理</a:t>
            </a:r>
            <a:endParaRPr sz="2600"/>
          </a:p>
        </p:txBody>
      </p:sp>
      <p:sp>
        <p:nvSpPr>
          <p:cNvPr id="465" name="Rounded Rectangle 6"/>
          <p:cNvSpPr/>
          <p:nvPr/>
        </p:nvSpPr>
        <p:spPr>
          <a:xfrm>
            <a:off x="457200" y="1554480"/>
            <a:ext cx="539496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TextBox 7"/>
          <p:cNvSpPr txBox="1"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楼宇自动化</a:t>
            </a:r>
            <a:endParaRPr sz="1600"/>
          </a:p>
        </p:txBody>
      </p:sp>
      <p:sp>
        <p:nvSpPr>
          <p:cNvPr id="467" name="TextBox 8"/>
          <p:cNvSpPr txBox="1"/>
          <p:nvPr/>
        </p:nvSpPr>
        <p:spPr>
          <a:xfrm>
            <a:off x="640080" y="2011680"/>
            <a:ext cx="4937760" cy="6400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BACnet/KNXnet 接入暖通、照明、窗帘。多协议转换与联动控制。</a:t>
            </a:r>
            <a:endParaRPr sz="1800"/>
          </a:p>
        </p:txBody>
      </p:sp>
      <p:sp>
        <p:nvSpPr>
          <p:cNvPr id="468" name="TextBox 9"/>
          <p:cNvSpPr txBox="1"/>
          <p:nvPr/>
        </p:nvSpPr>
        <p:spPr>
          <a:xfrm>
            <a:off x="640080" y="265176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技术细节</a:t>
            </a:r>
            <a:endParaRPr sz="1600"/>
          </a:p>
        </p:txBody>
      </p:sp>
      <p:sp>
        <p:nvSpPr>
          <p:cNvPr id="469" name="TextBox 10"/>
          <p:cNvSpPr txBox="1"/>
          <p:nvPr/>
        </p:nvSpPr>
        <p:spPr>
          <a:xfrm>
            <a:off x="777240" y="297180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70" name="TextBox 11"/>
          <p:cNvSpPr txBox="1"/>
          <p:nvPr/>
        </p:nvSpPr>
        <p:spPr>
          <a:xfrm>
            <a:off x="960120" y="297180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BACnet 设备自动发现</a:t>
            </a:r>
            <a:endParaRPr sz="1600"/>
          </a:p>
        </p:txBody>
      </p:sp>
      <p:sp>
        <p:nvSpPr>
          <p:cNvPr id="471" name="TextBox 12"/>
          <p:cNvSpPr txBox="1"/>
          <p:nvPr/>
        </p:nvSpPr>
        <p:spPr>
          <a:xfrm>
            <a:off x="777240" y="338328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72" name="TextBox 13"/>
          <p:cNvSpPr txBox="1"/>
          <p:nvPr/>
        </p:nvSpPr>
        <p:spPr>
          <a:xfrm>
            <a:off x="960120" y="338328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BACnet 对象/点位扫描</a:t>
            </a:r>
            <a:endParaRPr sz="1600"/>
          </a:p>
        </p:txBody>
      </p:sp>
      <p:sp>
        <p:nvSpPr>
          <p:cNvPr id="473" name="TextBox 14"/>
          <p:cNvSpPr txBox="1"/>
          <p:nvPr/>
        </p:nvSpPr>
        <p:spPr>
          <a:xfrm>
            <a:off x="777240" y="379476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74" name="TextBox 15"/>
          <p:cNvSpPr txBox="1"/>
          <p:nvPr/>
        </p:nvSpPr>
        <p:spPr>
          <a:xfrm>
            <a:off x="960120" y="379476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COV 订阅推送</a:t>
            </a:r>
            <a:endParaRPr sz="1600"/>
          </a:p>
        </p:txBody>
      </p:sp>
      <p:sp>
        <p:nvSpPr>
          <p:cNvPr id="475" name="TextBox 16"/>
          <p:cNvSpPr txBox="1"/>
          <p:nvPr/>
        </p:nvSpPr>
        <p:spPr>
          <a:xfrm>
            <a:off x="777240" y="420624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76" name="TextBox 17"/>
          <p:cNvSpPr txBox="1"/>
          <p:nvPr/>
        </p:nvSpPr>
        <p:spPr>
          <a:xfrm>
            <a:off x="960120" y="420624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KNXnet 网关发现导入</a:t>
            </a:r>
            <a:endParaRPr sz="1600"/>
          </a:p>
        </p:txBody>
      </p:sp>
      <p:sp>
        <p:nvSpPr>
          <p:cNvPr id="477" name="TextBox 18"/>
          <p:cNvSpPr txBox="1"/>
          <p:nvPr/>
        </p:nvSpPr>
        <p:spPr>
          <a:xfrm>
            <a:off x="777240" y="461772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78" name="TextBox 19"/>
          <p:cNvSpPr txBox="1"/>
          <p:nvPr/>
        </p:nvSpPr>
        <p:spPr>
          <a:xfrm>
            <a:off x="960120" y="461772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温度联动空调启停</a:t>
            </a:r>
            <a:endParaRPr sz="1600"/>
          </a:p>
        </p:txBody>
      </p:sp>
      <p:sp>
        <p:nvSpPr>
          <p:cNvPr id="479" name="TextBox 20"/>
          <p:cNvSpPr txBox="1"/>
          <p:nvPr/>
        </p:nvSpPr>
        <p:spPr>
          <a:xfrm>
            <a:off x="777240" y="502920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80" name="TextBox 21"/>
          <p:cNvSpPr txBox="1"/>
          <p:nvPr/>
        </p:nvSpPr>
        <p:spPr>
          <a:xfrm>
            <a:off x="960120" y="502920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照明时间表控制</a:t>
            </a:r>
            <a:endParaRPr sz="1600"/>
          </a:p>
        </p:txBody>
      </p:sp>
      <p:sp>
        <p:nvSpPr>
          <p:cNvPr id="481" name="TextBox 22"/>
          <p:cNvSpPr txBox="1"/>
          <p:nvPr/>
        </p:nvSpPr>
        <p:spPr>
          <a:xfrm>
            <a:off x="777240" y="544068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82" name="TextBox 23"/>
          <p:cNvSpPr txBox="1"/>
          <p:nvPr/>
        </p:nvSpPr>
        <p:spPr>
          <a:xfrm>
            <a:off x="960120" y="544068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MQTT 推楼宇平台</a:t>
            </a:r>
            <a:endParaRPr sz="1600"/>
          </a:p>
        </p:txBody>
      </p:sp>
      <p:sp>
        <p:nvSpPr>
          <p:cNvPr id="483" name="Rounded Rectangle 24"/>
          <p:cNvSpPr/>
          <p:nvPr/>
        </p:nvSpPr>
        <p:spPr>
          <a:xfrm>
            <a:off x="6035040" y="1554480"/>
            <a:ext cx="566928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25"/>
          <p:cNvSpPr txBox="1"/>
          <p:nvPr/>
        </p:nvSpPr>
        <p:spPr>
          <a:xfrm>
            <a:off x="6217920" y="16916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能源管理</a:t>
            </a:r>
            <a:endParaRPr sz="1600"/>
          </a:p>
        </p:txBody>
      </p:sp>
      <p:sp>
        <p:nvSpPr>
          <p:cNvPr id="485" name="TextBox 26"/>
          <p:cNvSpPr txBox="1"/>
          <p:nvPr/>
        </p:nvSpPr>
        <p:spPr>
          <a:xfrm>
            <a:off x="6217920" y="2011680"/>
            <a:ext cx="5212080" cy="6400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DL/T645 电表 + IEC 104 电力 + Modbus 水气热表。能源分项计量与能耗分析。</a:t>
            </a:r>
            <a:endParaRPr sz="1800"/>
          </a:p>
        </p:txBody>
      </p:sp>
      <p:sp>
        <p:nvSpPr>
          <p:cNvPr id="486" name="TextBox 27"/>
          <p:cNvSpPr txBox="1"/>
          <p:nvPr/>
        </p:nvSpPr>
        <p:spPr>
          <a:xfrm>
            <a:off x="6217920" y="265176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技术细节</a:t>
            </a:r>
            <a:endParaRPr sz="1600"/>
          </a:p>
        </p:txBody>
      </p:sp>
      <p:sp>
        <p:nvSpPr>
          <p:cNvPr id="487" name="TextBox 28"/>
          <p:cNvSpPr txBox="1"/>
          <p:nvPr/>
        </p:nvSpPr>
        <p:spPr>
          <a:xfrm>
            <a:off x="6355080" y="297180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88" name="TextBox 29"/>
          <p:cNvSpPr txBox="1"/>
          <p:nvPr/>
        </p:nvSpPr>
        <p:spPr>
          <a:xfrm>
            <a:off x="6537960" y="2971800"/>
            <a:ext cx="5029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DL/T645 电表自动读取</a:t>
            </a:r>
            <a:endParaRPr sz="1600"/>
          </a:p>
        </p:txBody>
      </p:sp>
      <p:sp>
        <p:nvSpPr>
          <p:cNvPr id="489" name="TextBox 30"/>
          <p:cNvSpPr txBox="1"/>
          <p:nvPr/>
        </p:nvSpPr>
        <p:spPr>
          <a:xfrm>
            <a:off x="6355080" y="338328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90" name="TextBox 31"/>
          <p:cNvSpPr txBox="1"/>
          <p:nvPr/>
        </p:nvSpPr>
        <p:spPr>
          <a:xfrm>
            <a:off x="6537960" y="3383280"/>
            <a:ext cx="5029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IEC 104 遥测/遥信</a:t>
            </a:r>
            <a:endParaRPr sz="1600"/>
          </a:p>
        </p:txBody>
      </p:sp>
      <p:sp>
        <p:nvSpPr>
          <p:cNvPr id="491" name="TextBox 32"/>
          <p:cNvSpPr txBox="1"/>
          <p:nvPr/>
        </p:nvSpPr>
        <p:spPr>
          <a:xfrm>
            <a:off x="6355080" y="379476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92" name="TextBox 33"/>
          <p:cNvSpPr txBox="1"/>
          <p:nvPr/>
        </p:nvSpPr>
        <p:spPr>
          <a:xfrm>
            <a:off x="6537960" y="3794760"/>
            <a:ext cx="5029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Modbus 水气热表采集</a:t>
            </a:r>
            <a:endParaRPr sz="1600"/>
          </a:p>
        </p:txBody>
      </p:sp>
      <p:sp>
        <p:nvSpPr>
          <p:cNvPr id="493" name="TextBox 34"/>
          <p:cNvSpPr txBox="1"/>
          <p:nvPr/>
        </p:nvSpPr>
        <p:spPr>
          <a:xfrm>
            <a:off x="6355080" y="420624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94" name="TextBox 35"/>
          <p:cNvSpPr txBox="1"/>
          <p:nvPr/>
        </p:nvSpPr>
        <p:spPr>
          <a:xfrm>
            <a:off x="6537960" y="4206240"/>
            <a:ext cx="5029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功率因数实时计算</a:t>
            </a:r>
            <a:endParaRPr sz="1600"/>
          </a:p>
        </p:txBody>
      </p:sp>
      <p:sp>
        <p:nvSpPr>
          <p:cNvPr id="495" name="TextBox 36"/>
          <p:cNvSpPr txBox="1"/>
          <p:nvPr/>
        </p:nvSpPr>
        <p:spPr>
          <a:xfrm>
            <a:off x="6355080" y="461772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96" name="TextBox 37"/>
          <p:cNvSpPr txBox="1"/>
          <p:nvPr/>
        </p:nvSpPr>
        <p:spPr>
          <a:xfrm>
            <a:off x="6537960" y="4617720"/>
            <a:ext cx="5029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峰谷平电价标记</a:t>
            </a:r>
            <a:endParaRPr sz="1600"/>
          </a:p>
        </p:txBody>
      </p:sp>
      <p:sp>
        <p:nvSpPr>
          <p:cNvPr id="497" name="TextBox 38"/>
          <p:cNvSpPr txBox="1"/>
          <p:nvPr/>
        </p:nvSpPr>
        <p:spPr>
          <a:xfrm>
            <a:off x="6355080" y="502920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498" name="TextBox 39"/>
          <p:cNvSpPr txBox="1"/>
          <p:nvPr/>
        </p:nvSpPr>
        <p:spPr>
          <a:xfrm>
            <a:off x="6537960" y="5029200"/>
            <a:ext cx="5029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能耗分项计量</a:t>
            </a:r>
            <a:endParaRPr sz="1600"/>
          </a:p>
        </p:txBody>
      </p:sp>
      <p:sp>
        <p:nvSpPr>
          <p:cNvPr id="499" name="TextBox 40"/>
          <p:cNvSpPr txBox="1"/>
          <p:nvPr/>
        </p:nvSpPr>
        <p:spPr>
          <a:xfrm>
            <a:off x="6355080" y="544068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500" name="TextBox 41"/>
          <p:cNvSpPr txBox="1"/>
          <p:nvPr/>
        </p:nvSpPr>
        <p:spPr>
          <a:xfrm>
            <a:off x="6537960" y="5440680"/>
            <a:ext cx="5029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MQTT 推能源平台</a:t>
            </a:r>
            <a:endParaRPr sz="1600"/>
          </a:p>
        </p:txBody>
      </p:sp>
      <p:sp>
        <p:nvSpPr>
          <p:cNvPr id="501" name="TextBox 42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22 / 29</a:t>
            </a:r>
            <a:endParaRPr sz="1000"/>
          </a:p>
        </p:txBody>
      </p:sp>
      <p:sp>
        <p:nvSpPr>
          <p:cNvPr id="50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50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5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506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更多场景</a:t>
            </a:r>
            <a:endParaRPr sz="1100"/>
          </a:p>
        </p:txBody>
      </p:sp>
      <p:sp>
        <p:nvSpPr>
          <p:cNvPr id="507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More · 更多应用场景</a:t>
            </a:r>
            <a:endParaRPr sz="2000"/>
          </a:p>
        </p:txBody>
      </p:sp>
      <p:sp>
        <p:nvSpPr>
          <p:cNvPr id="509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更多工厂应用场景</a:t>
            </a:r>
            <a:endParaRPr sz="2600"/>
          </a:p>
        </p:txBody>
      </p:sp>
      <p:sp>
        <p:nvSpPr>
          <p:cNvPr id="510" name="Rounded Rectangle 6"/>
          <p:cNvSpPr/>
          <p:nvPr/>
        </p:nvSpPr>
        <p:spPr>
          <a:xfrm>
            <a:off x="457200" y="1554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TextBox 7"/>
          <p:cNvSpPr txBox="1"/>
          <p:nvPr/>
        </p:nvSpPr>
        <p:spPr>
          <a:xfrm>
            <a:off x="640080" y="1691639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CNC 加工中心</a:t>
            </a:r>
            <a:endParaRPr sz="1600"/>
          </a:p>
        </p:txBody>
      </p:sp>
      <p:sp>
        <p:nvSpPr>
          <p:cNvPr id="512" name="Rounded Rectangle 8"/>
          <p:cNvSpPr/>
          <p:nvPr/>
        </p:nvSpPr>
        <p:spPr>
          <a:xfrm>
            <a:off x="640080" y="2121408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Modbus / OPC UA</a:t>
            </a:r>
            <a:endParaRPr sz="1600"/>
          </a:p>
        </p:txBody>
      </p:sp>
      <p:sp>
        <p:nvSpPr>
          <p:cNvPr id="513" name="TextBox 9"/>
          <p:cNvSpPr txBox="1"/>
          <p:nvPr/>
        </p:nvSpPr>
        <p:spPr>
          <a:xfrm>
            <a:off x="640080" y="2423160"/>
            <a:ext cx="22860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主轴负载监控、刀具寿命管理、加工节拍统计</a:t>
            </a:r>
            <a:endParaRPr sz="1800"/>
          </a:p>
        </p:txBody>
      </p:sp>
      <p:sp>
        <p:nvSpPr>
          <p:cNvPr id="514" name="Rounded Rectangle 10"/>
          <p:cNvSpPr/>
          <p:nvPr/>
        </p:nvSpPr>
        <p:spPr>
          <a:xfrm>
            <a:off x="3291840" y="1554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5" name="TextBox 11"/>
          <p:cNvSpPr txBox="1"/>
          <p:nvPr/>
        </p:nvSpPr>
        <p:spPr>
          <a:xfrm>
            <a:off x="3474720" y="1691639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冲压机产线</a:t>
            </a:r>
            <a:endParaRPr sz="1600"/>
          </a:p>
        </p:txBody>
      </p:sp>
      <p:sp>
        <p:nvSpPr>
          <p:cNvPr id="516" name="Rounded Rectangle 12"/>
          <p:cNvSpPr/>
          <p:nvPr/>
        </p:nvSpPr>
        <p:spPr>
          <a:xfrm>
            <a:off x="3474720" y="2121408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Modbus TCP/RTU</a:t>
            </a:r>
            <a:endParaRPr sz="1600"/>
          </a:p>
        </p:txBody>
      </p:sp>
      <p:sp>
        <p:nvSpPr>
          <p:cNvPr id="517" name="TextBox 13"/>
          <p:cNvSpPr txBox="1"/>
          <p:nvPr/>
        </p:nvSpPr>
        <p:spPr>
          <a:xfrm>
            <a:off x="3474720" y="2423160"/>
            <a:ext cx="22860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冲程计数、模具磨损监测、安全联锁控制</a:t>
            </a:r>
            <a:endParaRPr sz="1800"/>
          </a:p>
        </p:txBody>
      </p:sp>
      <p:sp>
        <p:nvSpPr>
          <p:cNvPr id="518" name="Rounded Rectangle 14"/>
          <p:cNvSpPr/>
          <p:nvPr/>
        </p:nvSpPr>
        <p:spPr>
          <a:xfrm>
            <a:off x="6126480" y="1554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TextBox 15"/>
          <p:cNvSpPr txBox="1"/>
          <p:nvPr/>
        </p:nvSpPr>
        <p:spPr>
          <a:xfrm>
            <a:off x="6309360" y="1691639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热处理炉</a:t>
            </a:r>
            <a:endParaRPr sz="1600"/>
          </a:p>
        </p:txBody>
      </p:sp>
      <p:sp>
        <p:nvSpPr>
          <p:cNvPr id="520" name="Rounded Rectangle 16"/>
          <p:cNvSpPr/>
          <p:nvPr/>
        </p:nvSpPr>
        <p:spPr>
          <a:xfrm>
            <a:off x="6309360" y="2121408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Modbus RTU</a:t>
            </a:r>
            <a:endParaRPr sz="1600"/>
          </a:p>
        </p:txBody>
      </p:sp>
      <p:sp>
        <p:nvSpPr>
          <p:cNvPr id="521" name="TextBox 17"/>
          <p:cNvSpPr txBox="1"/>
          <p:nvPr/>
        </p:nvSpPr>
        <p:spPr>
          <a:xfrm>
            <a:off x="6309360" y="2423160"/>
            <a:ext cx="22860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炉温曲线记录、区段温度控制、能耗分析</a:t>
            </a:r>
            <a:endParaRPr sz="1800"/>
          </a:p>
        </p:txBody>
      </p:sp>
      <p:sp>
        <p:nvSpPr>
          <p:cNvPr id="522" name="Rounded Rectangle 18"/>
          <p:cNvSpPr/>
          <p:nvPr/>
        </p:nvSpPr>
        <p:spPr>
          <a:xfrm>
            <a:off x="8961120" y="1554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TextBox 19"/>
          <p:cNvSpPr txBox="1"/>
          <p:nvPr/>
        </p:nvSpPr>
        <p:spPr>
          <a:xfrm>
            <a:off x="9144000" y="1691639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空压机站房</a:t>
            </a:r>
            <a:endParaRPr sz="1600"/>
          </a:p>
        </p:txBody>
      </p:sp>
      <p:sp>
        <p:nvSpPr>
          <p:cNvPr id="524" name="Rounded Rectangle 20"/>
          <p:cNvSpPr/>
          <p:nvPr/>
        </p:nvSpPr>
        <p:spPr>
          <a:xfrm>
            <a:off x="9144000" y="2121408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Modbus / SNMP</a:t>
            </a:r>
            <a:endParaRPr sz="1600"/>
          </a:p>
        </p:txBody>
      </p:sp>
      <p:sp>
        <p:nvSpPr>
          <p:cNvPr id="525" name="TextBox 21"/>
          <p:cNvSpPr txBox="1"/>
          <p:nvPr/>
        </p:nvSpPr>
        <p:spPr>
          <a:xfrm>
            <a:off x="9144000" y="2423160"/>
            <a:ext cx="22860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排气压力监控、能效优化、联动启停</a:t>
            </a:r>
            <a:endParaRPr sz="1800"/>
          </a:p>
        </p:txBody>
      </p:sp>
      <p:sp>
        <p:nvSpPr>
          <p:cNvPr id="526" name="Rounded Rectangle 22"/>
          <p:cNvSpPr/>
          <p:nvPr/>
        </p:nvSpPr>
        <p:spPr>
          <a:xfrm>
            <a:off x="457200" y="3840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TextBox 23"/>
          <p:cNvSpPr txBox="1"/>
          <p:nvPr/>
        </p:nvSpPr>
        <p:spPr>
          <a:xfrm>
            <a:off x="640080" y="3977640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AGV / RGV</a:t>
            </a:r>
            <a:endParaRPr sz="1600"/>
          </a:p>
        </p:txBody>
      </p:sp>
      <p:sp>
        <p:nvSpPr>
          <p:cNvPr id="528" name="Rounded Rectangle 24"/>
          <p:cNvSpPr/>
          <p:nvPr/>
        </p:nvSpPr>
        <p:spPr>
          <a:xfrm>
            <a:off x="640080" y="4343400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TCP / Modbus</a:t>
            </a:r>
            <a:endParaRPr sz="1600"/>
          </a:p>
        </p:txBody>
      </p:sp>
      <p:sp>
        <p:nvSpPr>
          <p:cNvPr id="529" name="TextBox 25"/>
          <p:cNvSpPr txBox="1"/>
          <p:nvPr/>
        </p:nvSpPr>
        <p:spPr>
          <a:xfrm>
            <a:off x="640080" y="4709160"/>
            <a:ext cx="22860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位置追踪、任务状态、电量监控、路径优化</a:t>
            </a:r>
            <a:endParaRPr sz="1800"/>
          </a:p>
        </p:txBody>
      </p:sp>
      <p:sp>
        <p:nvSpPr>
          <p:cNvPr id="530" name="Rounded Rectangle 26"/>
          <p:cNvSpPr/>
          <p:nvPr/>
        </p:nvSpPr>
        <p:spPr>
          <a:xfrm>
            <a:off x="3291840" y="3840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TextBox 27"/>
          <p:cNvSpPr txBox="1"/>
          <p:nvPr/>
        </p:nvSpPr>
        <p:spPr>
          <a:xfrm>
            <a:off x="3474720" y="3977640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环境监测</a:t>
            </a:r>
            <a:endParaRPr sz="1600"/>
          </a:p>
        </p:txBody>
      </p:sp>
      <p:sp>
        <p:nvSpPr>
          <p:cNvPr id="532" name="Rounded Rectangle 28"/>
          <p:cNvSpPr/>
          <p:nvPr/>
        </p:nvSpPr>
        <p:spPr>
          <a:xfrm>
            <a:off x="3474720" y="4343400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BACnet / Modbus</a:t>
            </a:r>
            <a:endParaRPr sz="1600"/>
          </a:p>
        </p:txBody>
      </p:sp>
      <p:sp>
        <p:nvSpPr>
          <p:cNvPr id="533" name="TextBox 29"/>
          <p:cNvSpPr txBox="1"/>
          <p:nvPr/>
        </p:nvSpPr>
        <p:spPr>
          <a:xfrm>
            <a:off x="3474720" y="4709160"/>
            <a:ext cx="22860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温湿度、粉尘、噪音、VOC 实时监测</a:t>
            </a:r>
            <a:endParaRPr sz="1800"/>
          </a:p>
        </p:txBody>
      </p:sp>
      <p:sp>
        <p:nvSpPr>
          <p:cNvPr id="534" name="Rounded Rectangle 30"/>
          <p:cNvSpPr/>
          <p:nvPr/>
        </p:nvSpPr>
        <p:spPr>
          <a:xfrm>
            <a:off x="6126480" y="3840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5" name="TextBox 31"/>
          <p:cNvSpPr txBox="1"/>
          <p:nvPr/>
        </p:nvSpPr>
        <p:spPr>
          <a:xfrm>
            <a:off x="6309360" y="3977640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网络设备监控</a:t>
            </a:r>
            <a:endParaRPr sz="1600"/>
          </a:p>
        </p:txBody>
      </p:sp>
      <p:sp>
        <p:nvSpPr>
          <p:cNvPr id="536" name="Rounded Rectangle 32"/>
          <p:cNvSpPr/>
          <p:nvPr/>
        </p:nvSpPr>
        <p:spPr>
          <a:xfrm>
            <a:off x="6309360" y="4343400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SNMP v2c/v3</a:t>
            </a:r>
            <a:endParaRPr sz="1600"/>
          </a:p>
        </p:txBody>
      </p:sp>
      <p:sp>
        <p:nvSpPr>
          <p:cNvPr id="537" name="TextBox 33"/>
          <p:cNvSpPr txBox="1"/>
          <p:nvPr/>
        </p:nvSpPr>
        <p:spPr>
          <a:xfrm>
            <a:off x="6309360" y="4709160"/>
            <a:ext cx="22860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交换机/路由器端口流量与电源状态</a:t>
            </a:r>
            <a:endParaRPr sz="1800"/>
          </a:p>
        </p:txBody>
      </p:sp>
      <p:sp>
        <p:nvSpPr>
          <p:cNvPr id="538" name="Rounded Rectangle 34"/>
          <p:cNvSpPr/>
          <p:nvPr/>
        </p:nvSpPr>
        <p:spPr>
          <a:xfrm>
            <a:off x="8961120" y="3840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TextBox 35"/>
          <p:cNvSpPr txBox="1"/>
          <p:nvPr/>
        </p:nvSpPr>
        <p:spPr>
          <a:xfrm>
            <a:off x="9144000" y="3977640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光伏逆变器</a:t>
            </a:r>
            <a:endParaRPr sz="1600"/>
          </a:p>
        </p:txBody>
      </p:sp>
      <p:sp>
        <p:nvSpPr>
          <p:cNvPr id="540" name="Rounded Rectangle 36"/>
          <p:cNvSpPr/>
          <p:nvPr/>
        </p:nvSpPr>
        <p:spPr>
          <a:xfrm>
            <a:off x="9144000" y="4343400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Modbus TCP</a:t>
            </a:r>
            <a:endParaRPr sz="1600"/>
          </a:p>
        </p:txBody>
      </p:sp>
      <p:sp>
        <p:nvSpPr>
          <p:cNvPr id="541" name="TextBox 37"/>
          <p:cNvSpPr txBox="1"/>
          <p:nvPr/>
        </p:nvSpPr>
        <p:spPr>
          <a:xfrm>
            <a:off x="9144000" y="4709160"/>
            <a:ext cx="22860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发电功率聚合、组串电流监测、故障告警</a:t>
            </a:r>
            <a:endParaRPr sz="1800"/>
          </a:p>
        </p:txBody>
      </p:sp>
      <p:sp>
        <p:nvSpPr>
          <p:cNvPr id="542" name="TextBox 38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23 / 29</a:t>
            </a:r>
            <a:endParaRPr sz="1000"/>
          </a:p>
        </p:txBody>
      </p:sp>
      <p:sp>
        <p:nvSpPr>
          <p:cNvPr id="54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54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5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547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100"/>
              <a:t>落地场景全景</a:t>
            </a:r>
            <a:endParaRPr sz="1100"/>
          </a:p>
        </p:txBody>
      </p:sp>
      <p:sp>
        <p:nvSpPr>
          <p:cNvPr id="548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4"/>
          <p:cNvSpPr txBox="1"/>
          <p:nvPr/>
        </p:nvSpPr>
        <p:spPr>
          <a:xfrm>
            <a:off x="457200" y="548640"/>
            <a:ext cx="5486400" cy="330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sz="2000"/>
              <a:t>Landing Scenarios · 落地场景全景</a:t>
            </a:r>
            <a:endParaRPr sz="2000"/>
          </a:p>
        </p:txBody>
      </p:sp>
      <p:sp>
        <p:nvSpPr>
          <p:cNvPr id="550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sz="2600"/>
              <a:t>20 类工业现场应用，覆盖五大领域</a:t>
            </a:r>
            <a:endParaRPr sz="2600"/>
          </a:p>
        </p:txBody>
      </p:sp>
      <p:sp>
        <p:nvSpPr>
          <p:cNvPr id="551" name="Rounded Rectangle 6"/>
          <p:cNvSpPr/>
          <p:nvPr/>
        </p:nvSpPr>
        <p:spPr>
          <a:xfrm>
            <a:off x="457200" y="1554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/>
              <a:t>从设备连接到智能协同，已在压铸、注塑、加工、能源、楼宇等场景完成实机验证</a:t>
            </a:r>
            <a:endParaRPr/>
          </a:p>
        </p:txBody>
      </p:sp>
      <p:sp>
        <p:nvSpPr>
          <p:cNvPr id="552" name="TextBox 7"/>
          <p:cNvSpPr txBox="1"/>
          <p:nvPr/>
        </p:nvSpPr>
        <p:spPr>
          <a:xfrm>
            <a:off x="640080" y="1691639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600"/>
              <a:t>工业能源</a:t>
            </a:r>
            <a:endParaRPr sz="1600"/>
          </a:p>
        </p:txBody>
      </p:sp>
      <p:sp>
        <p:nvSpPr>
          <p:cNvPr id="553" name="Rounded Rectangle 8"/>
          <p:cNvSpPr/>
          <p:nvPr/>
        </p:nvSpPr>
        <p:spPr>
          <a:xfrm>
            <a:off x="640080" y="2121408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sz="1600"/>
              <a:t>IEC 104 / DL/T645</a:t>
            </a:r>
            <a:endParaRPr sz="1600"/>
          </a:p>
        </p:txBody>
      </p:sp>
      <p:sp>
        <p:nvSpPr>
          <p:cNvPr id="554" name="TextBox 9"/>
          <p:cNvSpPr txBox="1"/>
          <p:nvPr/>
        </p:nvSpPr>
        <p:spPr>
          <a:xfrm>
            <a:off x="640080" y="2423160"/>
            <a:ext cx="59690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电力自动化、光伏聚合、冷链监控、联合抄表、变电站遥控</a:t>
            </a:r>
            <a:endParaRPr sz="1800"/>
          </a:p>
        </p:txBody>
      </p:sp>
      <p:sp>
        <p:nvSpPr>
          <p:cNvPr id="555" name="Rounded Rectangle 10"/>
          <p:cNvSpPr/>
          <p:nvPr/>
        </p:nvSpPr>
        <p:spPr>
          <a:xfrm>
            <a:off x="3291840" y="1554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TextBox 11"/>
          <p:cNvSpPr txBox="1"/>
          <p:nvPr/>
        </p:nvSpPr>
        <p:spPr>
          <a:xfrm>
            <a:off x="3474720" y="1691639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600"/>
              <a:t>智能制造</a:t>
            </a:r>
            <a:endParaRPr sz="1600"/>
          </a:p>
        </p:txBody>
      </p:sp>
      <p:sp>
        <p:nvSpPr>
          <p:cNvPr id="557" name="Rounded Rectangle 12"/>
          <p:cNvSpPr/>
          <p:nvPr/>
        </p:nvSpPr>
        <p:spPr>
          <a:xfrm>
            <a:off x="3474720" y="2121408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sz="1600"/>
              <a:t>Modbus / S7</a:t>
            </a:r>
            <a:endParaRPr sz="1600"/>
          </a:p>
        </p:txBody>
      </p:sp>
      <p:sp>
        <p:nvSpPr>
          <p:cNvPr id="558" name="TextBox 13"/>
          <p:cNvSpPr txBox="1"/>
          <p:nvPr/>
        </p:nvSpPr>
        <p:spPr>
          <a:xfrm>
            <a:off x="3474720" y="2423160"/>
            <a:ext cx="606044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PLC 读写、跨协议联动、预测性维护、OEE 统计、透传桥接</a:t>
            </a:r>
            <a:endParaRPr sz="1800"/>
          </a:p>
        </p:txBody>
      </p:sp>
      <p:sp>
        <p:nvSpPr>
          <p:cNvPr id="559" name="Rounded Rectangle 14"/>
          <p:cNvSpPr/>
          <p:nvPr/>
        </p:nvSpPr>
        <p:spPr>
          <a:xfrm>
            <a:off x="6126480" y="1554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TextBox 15"/>
          <p:cNvSpPr txBox="1"/>
          <p:nvPr/>
        </p:nvSpPr>
        <p:spPr>
          <a:xfrm>
            <a:off x="6309360" y="1691639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600"/>
              <a:t>楼宇自动化</a:t>
            </a:r>
            <a:endParaRPr sz="1600"/>
          </a:p>
        </p:txBody>
      </p:sp>
      <p:sp>
        <p:nvSpPr>
          <p:cNvPr id="561" name="Rounded Rectangle 16"/>
          <p:cNvSpPr/>
          <p:nvPr/>
        </p:nvSpPr>
        <p:spPr>
          <a:xfrm>
            <a:off x="6309360" y="2121408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sz="1600"/>
              <a:t>BACnet / KNX</a:t>
            </a:r>
            <a:endParaRPr sz="1600"/>
          </a:p>
        </p:txBody>
      </p:sp>
      <p:sp>
        <p:nvSpPr>
          <p:cNvPr id="562" name="TextBox 17"/>
          <p:cNvSpPr txBox="1"/>
          <p:nvPr/>
        </p:nvSpPr>
        <p:spPr>
          <a:xfrm>
            <a:off x="6309360" y="2423160"/>
            <a:ext cx="55118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暖通照明、统一接入、温度告警、能耗看板、协议转换</a:t>
            </a:r>
            <a:endParaRPr sz="1800"/>
          </a:p>
        </p:txBody>
      </p:sp>
      <p:sp>
        <p:nvSpPr>
          <p:cNvPr id="563" name="Rounded Rectangle 18"/>
          <p:cNvSpPr/>
          <p:nvPr/>
        </p:nvSpPr>
        <p:spPr>
          <a:xfrm>
            <a:off x="8961120" y="1554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TextBox 19"/>
          <p:cNvSpPr txBox="1"/>
          <p:nvPr/>
        </p:nvSpPr>
        <p:spPr>
          <a:xfrm>
            <a:off x="9144000" y="1691639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600"/>
              <a:t>无人值守站点</a:t>
            </a:r>
            <a:endParaRPr sz="1600"/>
          </a:p>
        </p:txBody>
      </p:sp>
      <p:sp>
        <p:nvSpPr>
          <p:cNvPr id="565" name="Rounded Rectangle 20"/>
          <p:cNvSpPr/>
          <p:nvPr/>
        </p:nvSpPr>
        <p:spPr>
          <a:xfrm>
            <a:off x="9144000" y="2121408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sz="1600"/>
              <a:t>Modbus / SNMP</a:t>
            </a:r>
            <a:endParaRPr sz="1600"/>
          </a:p>
        </p:txBody>
      </p:sp>
      <p:sp>
        <p:nvSpPr>
          <p:cNvPr id="566" name="TextBox 21"/>
          <p:cNvSpPr txBox="1"/>
          <p:nvPr/>
        </p:nvSpPr>
        <p:spPr>
          <a:xfrm>
            <a:off x="9144000" y="2423160"/>
            <a:ext cx="580898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基站泵站、128MB 运行、断网续传、环境监控、机房监测</a:t>
            </a:r>
            <a:endParaRPr sz="1800"/>
          </a:p>
        </p:txBody>
      </p:sp>
      <p:sp>
        <p:nvSpPr>
          <p:cNvPr id="567" name="Rounded Rectangle 22"/>
          <p:cNvSpPr/>
          <p:nvPr/>
        </p:nvSpPr>
        <p:spPr>
          <a:xfrm>
            <a:off x="457200" y="3840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TextBox 23"/>
          <p:cNvSpPr txBox="1"/>
          <p:nvPr/>
        </p:nvSpPr>
        <p:spPr>
          <a:xfrm>
            <a:off x="640080" y="3977640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600"/>
              <a:t>网络 &amp; ICT</a:t>
            </a:r>
            <a:endParaRPr sz="1600"/>
          </a:p>
        </p:txBody>
      </p:sp>
      <p:sp>
        <p:nvSpPr>
          <p:cNvPr id="569" name="Rounded Rectangle 24"/>
          <p:cNvSpPr/>
          <p:nvPr/>
        </p:nvSpPr>
        <p:spPr>
          <a:xfrm>
            <a:off x="640080" y="4343400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sz="1600"/>
              <a:t>SNMP</a:t>
            </a:r>
            <a:endParaRPr sz="1600"/>
          </a:p>
        </p:txBody>
      </p:sp>
      <p:sp>
        <p:nvSpPr>
          <p:cNvPr id="570" name="TextBox 25"/>
          <p:cNvSpPr txBox="1"/>
          <p:nvPr/>
        </p:nvSpPr>
        <p:spPr>
          <a:xfrm>
            <a:off x="640080" y="4709160"/>
            <a:ext cx="657479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交换机监控、流量温度、健康预警、统一可观测、OT+网络一体化</a:t>
            </a:r>
            <a:endParaRPr sz="1800"/>
          </a:p>
        </p:txBody>
      </p:sp>
      <p:sp>
        <p:nvSpPr>
          <p:cNvPr id="571" name="Rounded Rectangle 26"/>
          <p:cNvSpPr/>
          <p:nvPr/>
        </p:nvSpPr>
        <p:spPr>
          <a:xfrm>
            <a:off x="3291840" y="3840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TextBox 27"/>
          <p:cNvSpPr txBox="1"/>
          <p:nvPr/>
        </p:nvSpPr>
        <p:spPr>
          <a:xfrm>
            <a:off x="3474720" y="3977640"/>
            <a:ext cx="38862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 sz="1600"/>
              <a:t>实际部署中可按产线、车间、站点自由组合</a:t>
            </a:r>
            <a:endParaRPr sz="1600"/>
          </a:p>
        </p:txBody>
      </p:sp>
      <p:sp>
        <p:nvSpPr>
          <p:cNvPr id="573" name="Rounded Rectangle 28"/>
          <p:cNvSpPr/>
          <p:nvPr/>
        </p:nvSpPr>
        <p:spPr>
          <a:xfrm>
            <a:off x="3474720" y="4343400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sz="1600"/>
              <a:t>延伸出数百种具体落地方案</a:t>
            </a:r>
            <a:endParaRPr sz="1600"/>
          </a:p>
        </p:txBody>
      </p:sp>
      <p:sp>
        <p:nvSpPr>
          <p:cNvPr id="574" name="TextBox 29"/>
          <p:cNvSpPr txBox="1"/>
          <p:nvPr/>
        </p:nvSpPr>
        <p:spPr>
          <a:xfrm>
            <a:off x="3474720" y="4709160"/>
            <a:ext cx="728345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sz="1800"/>
              <a:t>覆盖工业能源、智能制造、楼宇自动化、无人值守、网络 ICT 五大领域</a:t>
            </a:r>
            <a:endParaRPr sz="1800"/>
          </a:p>
        </p:txBody>
      </p:sp>
      <p:sp>
        <p:nvSpPr>
          <p:cNvPr id="575" name="Rounded Rectangle 30"/>
          <p:cNvSpPr/>
          <p:nvPr/>
        </p:nvSpPr>
        <p:spPr>
          <a:xfrm>
            <a:off x="6126480" y="3840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TextBox 31"/>
          <p:cNvSpPr txBox="1"/>
          <p:nvPr/>
        </p:nvSpPr>
        <p:spPr>
          <a:xfrm>
            <a:off x="6309360" y="3977640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网络设备监控</a:t>
            </a:r>
            <a:endParaRPr sz="1600"/>
          </a:p>
        </p:txBody>
      </p:sp>
      <p:sp>
        <p:nvSpPr>
          <p:cNvPr id="577" name="Rounded Rectangle 32"/>
          <p:cNvSpPr/>
          <p:nvPr/>
        </p:nvSpPr>
        <p:spPr>
          <a:xfrm>
            <a:off x="6309360" y="4343400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SNMP v2c/v3</a:t>
            </a:r>
            <a:endParaRPr sz="1600"/>
          </a:p>
        </p:txBody>
      </p:sp>
      <p:sp>
        <p:nvSpPr>
          <p:cNvPr id="578" name="TextBox 33"/>
          <p:cNvSpPr txBox="1"/>
          <p:nvPr/>
        </p:nvSpPr>
        <p:spPr>
          <a:xfrm>
            <a:off x="6309360" y="4709160"/>
            <a:ext cx="22860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交换机/路由器端口流量与电源状态</a:t>
            </a:r>
            <a:endParaRPr sz="1800"/>
          </a:p>
        </p:txBody>
      </p:sp>
      <p:sp>
        <p:nvSpPr>
          <p:cNvPr id="579" name="Rounded Rectangle 34"/>
          <p:cNvSpPr/>
          <p:nvPr/>
        </p:nvSpPr>
        <p:spPr>
          <a:xfrm>
            <a:off x="8961120" y="384048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TextBox 35"/>
          <p:cNvSpPr txBox="1"/>
          <p:nvPr/>
        </p:nvSpPr>
        <p:spPr>
          <a:xfrm>
            <a:off x="9144000" y="3977640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光伏逆变器</a:t>
            </a:r>
            <a:endParaRPr sz="1600"/>
          </a:p>
        </p:txBody>
      </p:sp>
      <p:sp>
        <p:nvSpPr>
          <p:cNvPr id="581" name="Rounded Rectangle 36"/>
          <p:cNvSpPr/>
          <p:nvPr/>
        </p:nvSpPr>
        <p:spPr>
          <a:xfrm>
            <a:off x="9144000" y="4343400"/>
            <a:ext cx="2011680" cy="237744"/>
          </a:xfrm>
          <a:prstGeom prst="roundRect">
            <a:avLst>
              <a:gd name="adj" fmla="val 20000"/>
            </a:avLst>
          </a:prstGeom>
          <a:solidFill>
            <a:srgbClr val="1A2238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Modbus TCP</a:t>
            </a:r>
            <a:endParaRPr sz="1600"/>
          </a:p>
        </p:txBody>
      </p:sp>
      <p:sp>
        <p:nvSpPr>
          <p:cNvPr id="582" name="TextBox 37"/>
          <p:cNvSpPr txBox="1"/>
          <p:nvPr/>
        </p:nvSpPr>
        <p:spPr>
          <a:xfrm>
            <a:off x="9144000" y="4709160"/>
            <a:ext cx="228600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发电功率聚合、组串电流监测、故障告警</a:t>
            </a:r>
            <a:endParaRPr sz="1800"/>
          </a:p>
        </p:txBody>
      </p:sp>
      <p:sp>
        <p:nvSpPr>
          <p:cNvPr id="583" name="TextBox 38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24 / 29</a:t>
            </a:r>
            <a:endParaRPr sz="1000"/>
          </a:p>
        </p:txBody>
      </p:sp>
      <p:sp>
        <p:nvSpPr>
          <p:cNvPr id="58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58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5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TextBox 1"/>
          <p:cNvSpPr txBox="1"/>
          <p:nvPr/>
        </p:nvSpPr>
        <p:spPr>
          <a:xfrm>
            <a:off x="731520" y="1188720"/>
            <a:ext cx="4572000" cy="22860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0" b="1">
                <a:solidFill>
                  <a:srgbClr val="12182A"/>
                </a:solidFill>
                <a:latin typeface="宋体" panose="02010600030101010101" pitchFamily="2" charset="-122"/>
              </a:defRPr>
            </a:pPr>
            <a:r>
              <a:rPr sz="4800"/>
              <a:t>05</a:t>
            </a:r>
            <a:endParaRPr sz="4800"/>
          </a:p>
        </p:txBody>
      </p:sp>
      <p:sp>
        <p:nvSpPr>
          <p:cNvPr id="588" name="TextBox 2"/>
          <p:cNvSpPr txBox="1"/>
          <p:nvPr/>
        </p:nvSpPr>
        <p:spPr>
          <a:xfrm>
            <a:off x="731520" y="1920240"/>
            <a:ext cx="5486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Section · 05</a:t>
            </a:r>
            <a:endParaRPr sz="2000"/>
          </a:p>
        </p:txBody>
      </p:sp>
      <p:sp>
        <p:nvSpPr>
          <p:cNvPr id="589" name="TextBox 3"/>
          <p:cNvSpPr txBox="1"/>
          <p:nvPr/>
        </p:nvSpPr>
        <p:spPr>
          <a:xfrm>
            <a:off x="731520" y="2286000"/>
            <a:ext cx="7315200" cy="70231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  <a:defRPr sz="40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000"/>
              <a:t>EdgeStark</a:t>
            </a:r>
            <a:r>
              <a:rPr lang="en-US" sz="2000"/>
              <a:t> </a:t>
            </a:r>
            <a:r>
              <a:rPr sz="2000"/>
              <a:t>数字孪生与落地试点</a:t>
            </a:r>
            <a:endParaRPr sz="2000"/>
          </a:p>
        </p:txBody>
      </p:sp>
      <p:sp>
        <p:nvSpPr>
          <p:cNvPr id="590" name="TextBox 4"/>
          <p:cNvSpPr txBox="1"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2000"/>
              <a:t>EdgeStark &amp; Roadmap</a:t>
            </a:r>
            <a:endParaRPr sz="2000"/>
          </a:p>
        </p:txBody>
      </p:sp>
      <p:sp>
        <p:nvSpPr>
          <p:cNvPr id="591" name="Rectangle 5"/>
          <p:cNvSpPr/>
          <p:nvPr/>
        </p:nvSpPr>
        <p:spPr>
          <a:xfrm>
            <a:off x="731520" y="3794760"/>
            <a:ext cx="2286000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2" name="TextBox 6"/>
          <p:cNvSpPr txBox="1"/>
          <p:nvPr/>
        </p:nvSpPr>
        <p:spPr>
          <a:xfrm>
            <a:off x="731520" y="3977639"/>
            <a:ext cx="73152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3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2000"/>
              <a:t>工业数字孪生可视化平台 · 物理仿真 · 四端渲染 · 9 场景试点</a:t>
            </a:r>
            <a:endParaRPr sz="2000"/>
          </a:p>
        </p:txBody>
      </p:sp>
      <p:sp>
        <p:nvSpPr>
          <p:cNvPr id="593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25 / 29</a:t>
            </a:r>
            <a:endParaRPr sz="1000"/>
          </a:p>
        </p:txBody>
      </p:sp>
      <p:sp>
        <p:nvSpPr>
          <p:cNvPr id="59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59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5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598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数字孪生</a:t>
            </a:r>
            <a:endParaRPr sz="1100"/>
          </a:p>
        </p:txBody>
      </p:sp>
      <p:sp>
        <p:nvSpPr>
          <p:cNvPr id="599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EdgeStark · 数字孪生平台</a:t>
            </a:r>
            <a:endParaRPr sz="2000"/>
          </a:p>
        </p:txBody>
      </p:sp>
      <p:sp>
        <p:nvSpPr>
          <p:cNvPr id="601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EdgeStark 工业数字孪生可视化</a:t>
            </a:r>
            <a:endParaRPr sz="2600"/>
          </a:p>
        </p:txBody>
      </p:sp>
      <p:sp>
        <p:nvSpPr>
          <p:cNvPr id="602" name="Rounded Rectangle 6"/>
          <p:cNvSpPr/>
          <p:nvPr/>
        </p:nvSpPr>
        <p:spPr>
          <a:xfrm>
            <a:off x="457200" y="1554480"/>
            <a:ext cx="539496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TextBox 7"/>
          <p:cNvSpPr txBox="1"/>
          <p:nvPr/>
        </p:nvSpPr>
        <p:spPr>
          <a:xfrm>
            <a:off x="640080" y="1691640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四端渲染</a:t>
            </a:r>
            <a:endParaRPr sz="1600"/>
          </a:p>
        </p:txBody>
      </p:sp>
      <p:sp>
        <p:nvSpPr>
          <p:cNvPr id="604" name="TextBox 8"/>
          <p:cNvSpPr txBox="1"/>
          <p:nvPr/>
        </p:nvSpPr>
        <p:spPr>
          <a:xfrm>
            <a:off x="640080" y="2121408"/>
            <a:ext cx="493776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6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800"/>
              <a:t>四端统一输出</a:t>
            </a:r>
            <a:endParaRPr sz="1800"/>
          </a:p>
        </p:txBody>
      </p:sp>
      <p:sp>
        <p:nvSpPr>
          <p:cNvPr id="605" name="TextBox 9"/>
          <p:cNvSpPr txBox="1"/>
          <p:nvPr/>
        </p:nvSpPr>
        <p:spPr>
          <a:xfrm>
            <a:off x="640080" y="2560320"/>
            <a:ext cx="4937760" cy="6400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EdgeStark 订阅 100+ EdgeCore 网关、1000+ 设备、10 万+ 元数据点，构建工业数字孪生场景。</a:t>
            </a:r>
            <a:endParaRPr sz="1800"/>
          </a:p>
        </p:txBody>
      </p:sp>
      <p:sp>
        <p:nvSpPr>
          <p:cNvPr id="606" name="TextBox 10"/>
          <p:cNvSpPr txBox="1"/>
          <p:nvPr/>
        </p:nvSpPr>
        <p:spPr>
          <a:xfrm>
            <a:off x="777240" y="329184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07" name="TextBox 11"/>
          <p:cNvSpPr txBox="1"/>
          <p:nvPr/>
        </p:nvSpPr>
        <p:spPr>
          <a:xfrm>
            <a:off x="960120" y="329184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桌面端渲染：60 FPS / 10K 组件</a:t>
            </a:r>
            <a:endParaRPr sz="1600"/>
          </a:p>
        </p:txBody>
      </p:sp>
      <p:sp>
        <p:nvSpPr>
          <p:cNvPr id="608" name="TextBox 12"/>
          <p:cNvSpPr txBox="1"/>
          <p:nvPr/>
        </p:nvSpPr>
        <p:spPr>
          <a:xfrm>
            <a:off x="777240" y="3749039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09" name="TextBox 13"/>
          <p:cNvSpPr txBox="1"/>
          <p:nvPr/>
        </p:nvSpPr>
        <p:spPr>
          <a:xfrm>
            <a:off x="960120" y="3749039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VR 沉浸式：90 FPS / 5K 组件</a:t>
            </a:r>
            <a:endParaRPr sz="1600"/>
          </a:p>
        </p:txBody>
      </p:sp>
      <p:sp>
        <p:nvSpPr>
          <p:cNvPr id="610" name="TextBox 14"/>
          <p:cNvSpPr txBox="1"/>
          <p:nvPr/>
        </p:nvSpPr>
        <p:spPr>
          <a:xfrm>
            <a:off x="777240" y="420624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11" name="TextBox 15"/>
          <p:cNvSpPr txBox="1"/>
          <p:nvPr/>
        </p:nvSpPr>
        <p:spPr>
          <a:xfrm>
            <a:off x="960120" y="420624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AR 辅助：虚实叠加巡检</a:t>
            </a:r>
            <a:endParaRPr sz="1600"/>
          </a:p>
        </p:txBody>
      </p:sp>
      <p:sp>
        <p:nvSpPr>
          <p:cNvPr id="612" name="TextBox 16"/>
          <p:cNvSpPr txBox="1"/>
          <p:nvPr/>
        </p:nvSpPr>
        <p:spPr>
          <a:xfrm>
            <a:off x="777240" y="466344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13" name="TextBox 17"/>
          <p:cNvSpPr txBox="1"/>
          <p:nvPr/>
        </p:nvSpPr>
        <p:spPr>
          <a:xfrm>
            <a:off x="960120" y="466344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全息投影：沉浸式指挥座舱</a:t>
            </a:r>
            <a:endParaRPr sz="1600"/>
          </a:p>
        </p:txBody>
      </p:sp>
      <p:sp>
        <p:nvSpPr>
          <p:cNvPr id="614" name="TextBox 18"/>
          <p:cNvSpPr txBox="1"/>
          <p:nvPr/>
        </p:nvSpPr>
        <p:spPr>
          <a:xfrm>
            <a:off x="777240" y="512064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15" name="TextBox 19"/>
          <p:cNvSpPr txBox="1"/>
          <p:nvPr/>
        </p:nvSpPr>
        <p:spPr>
          <a:xfrm>
            <a:off x="960120" y="512064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Rapier 物理引擎（WASM）：刚体模拟</a:t>
            </a:r>
            <a:endParaRPr sz="1600"/>
          </a:p>
        </p:txBody>
      </p:sp>
      <p:sp>
        <p:nvSpPr>
          <p:cNvPr id="616" name="TextBox 20"/>
          <p:cNvSpPr txBox="1"/>
          <p:nvPr/>
        </p:nvSpPr>
        <p:spPr>
          <a:xfrm>
            <a:off x="777240" y="557784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17" name="TextBox 21"/>
          <p:cNvSpPr txBox="1"/>
          <p:nvPr/>
        </p:nvSpPr>
        <p:spPr>
          <a:xfrm>
            <a:off x="960120" y="5577840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P99 聚合延迟 &lt; 200ms</a:t>
            </a:r>
            <a:endParaRPr sz="1600"/>
          </a:p>
        </p:txBody>
      </p:sp>
      <p:sp>
        <p:nvSpPr>
          <p:cNvPr id="618" name="Rounded Rectangle 22"/>
          <p:cNvSpPr/>
          <p:nvPr/>
        </p:nvSpPr>
        <p:spPr>
          <a:xfrm>
            <a:off x="6035040" y="1554480"/>
            <a:ext cx="5669280" cy="4846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9" name="TextBox 23"/>
          <p:cNvSpPr txBox="1"/>
          <p:nvPr/>
        </p:nvSpPr>
        <p:spPr>
          <a:xfrm>
            <a:off x="6217920" y="1691640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五层架构</a:t>
            </a:r>
            <a:endParaRPr sz="1600"/>
          </a:p>
        </p:txBody>
      </p:sp>
      <p:sp>
        <p:nvSpPr>
          <p:cNvPr id="620" name="TextBox 24"/>
          <p:cNvSpPr txBox="1"/>
          <p:nvPr/>
        </p:nvSpPr>
        <p:spPr>
          <a:xfrm>
            <a:off x="6217920" y="2121408"/>
            <a:ext cx="493776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6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1800"/>
              <a:t>分层运行时设计</a:t>
            </a:r>
            <a:endParaRPr sz="1800"/>
          </a:p>
        </p:txBody>
      </p:sp>
      <p:sp>
        <p:nvSpPr>
          <p:cNvPr id="621" name="TextBox 25"/>
          <p:cNvSpPr txBox="1"/>
          <p:nvPr/>
        </p:nvSpPr>
        <p:spPr>
          <a:xfrm>
            <a:off x="6217920" y="2560320"/>
            <a:ext cx="521208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从元数据缓存到全息输出，五层分离确保性能与可扩展性。</a:t>
            </a:r>
            <a:endParaRPr sz="1800"/>
          </a:p>
        </p:txBody>
      </p:sp>
      <p:sp>
        <p:nvSpPr>
          <p:cNvPr id="622" name="Rectangle 26"/>
          <p:cNvSpPr/>
          <p:nvPr/>
        </p:nvSpPr>
        <p:spPr>
          <a:xfrm>
            <a:off x="6217920" y="3401568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3" name="TextBox 27"/>
          <p:cNvSpPr txBox="1"/>
          <p:nvPr/>
        </p:nvSpPr>
        <p:spPr>
          <a:xfrm>
            <a:off x="6446520" y="3200400"/>
            <a:ext cx="20116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Metadata Cache</a:t>
            </a:r>
            <a:endParaRPr sz="1600"/>
          </a:p>
        </p:txBody>
      </p:sp>
      <p:sp>
        <p:nvSpPr>
          <p:cNvPr id="624" name="TextBox 28"/>
          <p:cNvSpPr txBox="1"/>
          <p:nvPr/>
        </p:nvSpPr>
        <p:spPr>
          <a:xfrm>
            <a:off x="8503920" y="3200400"/>
            <a:ext cx="3017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10 万+ 点位元数据缓存</a:t>
            </a:r>
            <a:endParaRPr sz="1600"/>
          </a:p>
        </p:txBody>
      </p:sp>
      <p:sp>
        <p:nvSpPr>
          <p:cNvPr id="625" name="Rectangle 29"/>
          <p:cNvSpPr/>
          <p:nvPr/>
        </p:nvSpPr>
        <p:spPr>
          <a:xfrm>
            <a:off x="6217920" y="3950207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6" name="TextBox 30"/>
          <p:cNvSpPr txBox="1"/>
          <p:nvPr/>
        </p:nvSpPr>
        <p:spPr>
          <a:xfrm>
            <a:off x="6446520" y="3749039"/>
            <a:ext cx="20116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Twin Runtime</a:t>
            </a:r>
            <a:endParaRPr sz="1600"/>
          </a:p>
        </p:txBody>
      </p:sp>
      <p:sp>
        <p:nvSpPr>
          <p:cNvPr id="627" name="TextBox 31"/>
          <p:cNvSpPr txBox="1"/>
          <p:nvPr/>
        </p:nvSpPr>
        <p:spPr>
          <a:xfrm>
            <a:off x="8503920" y="3749039"/>
            <a:ext cx="3017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实时遥测数据融合</a:t>
            </a:r>
            <a:endParaRPr sz="1600"/>
          </a:p>
        </p:txBody>
      </p:sp>
      <p:sp>
        <p:nvSpPr>
          <p:cNvPr id="628" name="Rectangle 32"/>
          <p:cNvSpPr/>
          <p:nvPr/>
        </p:nvSpPr>
        <p:spPr>
          <a:xfrm>
            <a:off x="6217920" y="4498848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TextBox 33"/>
          <p:cNvSpPr txBox="1"/>
          <p:nvPr/>
        </p:nvSpPr>
        <p:spPr>
          <a:xfrm>
            <a:off x="6446520" y="4297680"/>
            <a:ext cx="20116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Scene Runtime</a:t>
            </a:r>
            <a:endParaRPr sz="1600"/>
          </a:p>
        </p:txBody>
      </p:sp>
      <p:sp>
        <p:nvSpPr>
          <p:cNvPr id="630" name="TextBox 34"/>
          <p:cNvSpPr txBox="1"/>
          <p:nvPr/>
        </p:nvSpPr>
        <p:spPr>
          <a:xfrm>
            <a:off x="8503920" y="4297680"/>
            <a:ext cx="3017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6 种绑定类型，3D 模型关联</a:t>
            </a:r>
            <a:endParaRPr sz="1600"/>
          </a:p>
        </p:txBody>
      </p:sp>
      <p:sp>
        <p:nvSpPr>
          <p:cNvPr id="631" name="Rectangle 35"/>
          <p:cNvSpPr/>
          <p:nvPr/>
        </p:nvSpPr>
        <p:spPr>
          <a:xfrm>
            <a:off x="6217920" y="5047488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TextBox 36"/>
          <p:cNvSpPr txBox="1"/>
          <p:nvPr/>
        </p:nvSpPr>
        <p:spPr>
          <a:xfrm>
            <a:off x="6446520" y="4846320"/>
            <a:ext cx="20116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Render Runtime</a:t>
            </a:r>
            <a:endParaRPr sz="1600"/>
          </a:p>
        </p:txBody>
      </p:sp>
      <p:sp>
        <p:nvSpPr>
          <p:cNvPr id="633" name="TextBox 37"/>
          <p:cNvSpPr txBox="1"/>
          <p:nvPr/>
        </p:nvSpPr>
        <p:spPr>
          <a:xfrm>
            <a:off x="8503920" y="4846320"/>
            <a:ext cx="3017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Rapier 物理引擎，碰撞检测</a:t>
            </a:r>
            <a:endParaRPr sz="1600"/>
          </a:p>
        </p:txBody>
      </p:sp>
      <p:sp>
        <p:nvSpPr>
          <p:cNvPr id="634" name="Rectangle 38"/>
          <p:cNvSpPr/>
          <p:nvPr/>
        </p:nvSpPr>
        <p:spPr>
          <a:xfrm>
            <a:off x="6217920" y="5596128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5" name="TextBox 39"/>
          <p:cNvSpPr txBox="1"/>
          <p:nvPr/>
        </p:nvSpPr>
        <p:spPr>
          <a:xfrm>
            <a:off x="6446520" y="5394960"/>
            <a:ext cx="20116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Holographic Runtime</a:t>
            </a:r>
            <a:endParaRPr sz="1600"/>
          </a:p>
        </p:txBody>
      </p:sp>
      <p:sp>
        <p:nvSpPr>
          <p:cNvPr id="636" name="TextBox 40"/>
          <p:cNvSpPr txBox="1"/>
          <p:nvPr/>
        </p:nvSpPr>
        <p:spPr>
          <a:xfrm>
            <a:off x="8503920" y="5394960"/>
            <a:ext cx="301752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统一场景模型，多端输出</a:t>
            </a:r>
            <a:endParaRPr sz="1600"/>
          </a:p>
        </p:txBody>
      </p:sp>
      <p:sp>
        <p:nvSpPr>
          <p:cNvPr id="637" name="TextBox 41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26 / 29</a:t>
            </a:r>
            <a:endParaRPr sz="1000"/>
          </a:p>
        </p:txBody>
      </p:sp>
      <p:sp>
        <p:nvSpPr>
          <p:cNvPr id="63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63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6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642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路线图</a:t>
            </a:r>
            <a:endParaRPr sz="1100"/>
          </a:p>
        </p:txBody>
      </p:sp>
      <p:sp>
        <p:nvSpPr>
          <p:cNvPr id="643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4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Roadmap · 发展路线</a:t>
            </a:r>
            <a:endParaRPr sz="2000"/>
          </a:p>
        </p:txBody>
      </p:sp>
      <p:sp>
        <p:nvSpPr>
          <p:cNvPr id="645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发展与演进路线</a:t>
            </a:r>
            <a:endParaRPr sz="2600"/>
          </a:p>
        </p:txBody>
      </p:sp>
      <p:sp>
        <p:nvSpPr>
          <p:cNvPr id="646" name="Rounded Rectangle 6"/>
          <p:cNvSpPr/>
          <p:nvPr/>
        </p:nvSpPr>
        <p:spPr>
          <a:xfrm>
            <a:off x="457200" y="1554480"/>
            <a:ext cx="2697480" cy="4846320"/>
          </a:xfrm>
          <a:prstGeom prst="roundRect">
            <a:avLst>
              <a:gd name="adj" fmla="val 3000"/>
            </a:avLst>
          </a:prstGeom>
          <a:solidFill>
            <a:srgbClr val="1A2238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7" name="Rounded Rectangle 7"/>
          <p:cNvSpPr/>
          <p:nvPr/>
        </p:nvSpPr>
        <p:spPr>
          <a:xfrm>
            <a:off x="594360" y="1691639"/>
            <a:ext cx="2423160" cy="256032"/>
          </a:xfrm>
          <a:prstGeom prst="roundRect">
            <a:avLst>
              <a:gd name="adj" fmla="val 3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1">
                <a:solidFill>
                  <a:srgbClr val="0A0E1A"/>
                </a:solidFill>
                <a:latin typeface="微软雅黑" panose="020B0503020204020204" charset="-122"/>
              </a:defRPr>
            </a:pPr>
            <a:r>
              <a:rPr sz="1600"/>
              <a:t>NOW · 2026 Q3</a:t>
            </a:r>
            <a:endParaRPr sz="1600"/>
          </a:p>
        </p:txBody>
      </p:sp>
      <p:sp>
        <p:nvSpPr>
          <p:cNvPr id="648" name="TextBox 8"/>
          <p:cNvSpPr txBox="1"/>
          <p:nvPr/>
        </p:nvSpPr>
        <p:spPr>
          <a:xfrm>
            <a:off x="640080" y="2057400"/>
            <a:ext cx="233172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EdgeCore 稳定落地</a:t>
            </a:r>
            <a:endParaRPr sz="1600"/>
          </a:p>
        </p:txBody>
      </p:sp>
      <p:sp>
        <p:nvSpPr>
          <p:cNvPr id="649" name="TextBox 9"/>
          <p:cNvSpPr txBox="1"/>
          <p:nvPr/>
        </p:nvSpPr>
        <p:spPr>
          <a:xfrm>
            <a:off x="685800" y="246888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50" name="TextBox 10"/>
          <p:cNvSpPr txBox="1"/>
          <p:nvPr/>
        </p:nvSpPr>
        <p:spPr>
          <a:xfrm>
            <a:off x="868680" y="2468880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ScanEngine 调度稳定运行</a:t>
            </a:r>
            <a:endParaRPr sz="1600"/>
          </a:p>
        </p:txBody>
      </p:sp>
      <p:sp>
        <p:nvSpPr>
          <p:cNvPr id="651" name="TextBox 11"/>
          <p:cNvSpPr txBox="1"/>
          <p:nvPr/>
        </p:nvSpPr>
        <p:spPr>
          <a:xfrm>
            <a:off x="685800" y="2944368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52" name="TextBox 12"/>
          <p:cNvSpPr txBox="1"/>
          <p:nvPr/>
        </p:nvSpPr>
        <p:spPr>
          <a:xfrm>
            <a:off x="868680" y="2944368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13 种协议全量验证</a:t>
            </a:r>
            <a:endParaRPr sz="1600"/>
          </a:p>
        </p:txBody>
      </p:sp>
      <p:sp>
        <p:nvSpPr>
          <p:cNvPr id="653" name="TextBox 13"/>
          <p:cNvSpPr txBox="1"/>
          <p:nvPr/>
        </p:nvSpPr>
        <p:spPr>
          <a:xfrm>
            <a:off x="685800" y="3419856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54" name="TextBox 14"/>
          <p:cNvSpPr txBox="1"/>
          <p:nvPr/>
        </p:nvSpPr>
        <p:spPr>
          <a:xfrm>
            <a:off x="868680" y="3419856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EAN 2.0 协议落地</a:t>
            </a:r>
            <a:endParaRPr sz="1600"/>
          </a:p>
        </p:txBody>
      </p:sp>
      <p:sp>
        <p:nvSpPr>
          <p:cNvPr id="655" name="TextBox 15"/>
          <p:cNvSpPr txBox="1"/>
          <p:nvPr/>
        </p:nvSpPr>
        <p:spPr>
          <a:xfrm>
            <a:off x="685800" y="3895344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56" name="TextBox 16"/>
          <p:cNvSpPr txBox="1"/>
          <p:nvPr/>
        </p:nvSpPr>
        <p:spPr>
          <a:xfrm>
            <a:off x="868680" y="3895344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四道发布门禁</a:t>
            </a:r>
            <a:endParaRPr sz="1600"/>
          </a:p>
        </p:txBody>
      </p:sp>
      <p:sp>
        <p:nvSpPr>
          <p:cNvPr id="657" name="TextBox 17"/>
          <p:cNvSpPr txBox="1"/>
          <p:nvPr/>
        </p:nvSpPr>
        <p:spPr>
          <a:xfrm>
            <a:off x="685800" y="4370832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58" name="TextBox 18"/>
          <p:cNvSpPr txBox="1"/>
          <p:nvPr/>
        </p:nvSpPr>
        <p:spPr>
          <a:xfrm>
            <a:off x="868680" y="4370832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MCP 33 个工具上线</a:t>
            </a:r>
            <a:endParaRPr sz="1600"/>
          </a:p>
        </p:txBody>
      </p:sp>
      <p:sp>
        <p:nvSpPr>
          <p:cNvPr id="659" name="Rounded Rectangle 19"/>
          <p:cNvSpPr/>
          <p:nvPr/>
        </p:nvSpPr>
        <p:spPr>
          <a:xfrm>
            <a:off x="3246120" y="1554480"/>
            <a:ext cx="2697480" cy="4846320"/>
          </a:xfrm>
          <a:prstGeom prst="roundRect">
            <a:avLst>
              <a:gd name="adj" fmla="val 3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0" name="Rounded Rectangle 20"/>
          <p:cNvSpPr/>
          <p:nvPr/>
        </p:nvSpPr>
        <p:spPr>
          <a:xfrm>
            <a:off x="3383280" y="1691639"/>
            <a:ext cx="2423160" cy="256032"/>
          </a:xfrm>
          <a:prstGeom prst="roundRect">
            <a:avLst>
              <a:gd name="adj" fmla="val 30000"/>
            </a:avLst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1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NEXT · 2026 Q4</a:t>
            </a:r>
            <a:endParaRPr sz="1600"/>
          </a:p>
        </p:txBody>
      </p:sp>
      <p:sp>
        <p:nvSpPr>
          <p:cNvPr id="661" name="TextBox 21"/>
          <p:cNvSpPr txBox="1"/>
          <p:nvPr/>
        </p:nvSpPr>
        <p:spPr>
          <a:xfrm>
            <a:off x="3429000" y="2057400"/>
            <a:ext cx="233172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EdgeOS 平台增强</a:t>
            </a:r>
            <a:endParaRPr sz="1600"/>
          </a:p>
        </p:txBody>
      </p:sp>
      <p:sp>
        <p:nvSpPr>
          <p:cNvPr id="662" name="TextBox 22"/>
          <p:cNvSpPr txBox="1"/>
          <p:nvPr/>
        </p:nvSpPr>
        <p:spPr>
          <a:xfrm>
            <a:off x="3474720" y="246888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63" name="TextBox 23"/>
          <p:cNvSpPr txBox="1"/>
          <p:nvPr/>
        </p:nvSpPr>
        <p:spPr>
          <a:xfrm>
            <a:off x="3657600" y="2468880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多 EdgeOS 集群联邦</a:t>
            </a:r>
            <a:endParaRPr sz="1600"/>
          </a:p>
        </p:txBody>
      </p:sp>
      <p:sp>
        <p:nvSpPr>
          <p:cNvPr id="664" name="TextBox 24"/>
          <p:cNvSpPr txBox="1"/>
          <p:nvPr/>
        </p:nvSpPr>
        <p:spPr>
          <a:xfrm>
            <a:off x="3474720" y="2944368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65" name="TextBox 25"/>
          <p:cNvSpPr txBox="1"/>
          <p:nvPr/>
        </p:nvSpPr>
        <p:spPr>
          <a:xfrm>
            <a:off x="3657600" y="2944368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跨域 Agent 编排</a:t>
            </a:r>
            <a:endParaRPr sz="1600"/>
          </a:p>
        </p:txBody>
      </p:sp>
      <p:sp>
        <p:nvSpPr>
          <p:cNvPr id="666" name="TextBox 26"/>
          <p:cNvSpPr txBox="1"/>
          <p:nvPr/>
        </p:nvSpPr>
        <p:spPr>
          <a:xfrm>
            <a:off x="3474720" y="3419856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67" name="TextBox 27"/>
          <p:cNvSpPr txBox="1"/>
          <p:nvPr/>
        </p:nvSpPr>
        <p:spPr>
          <a:xfrm>
            <a:off x="3657600" y="3419856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72h Soak 自动化验证</a:t>
            </a:r>
            <a:endParaRPr sz="1600"/>
          </a:p>
        </p:txBody>
      </p:sp>
      <p:sp>
        <p:nvSpPr>
          <p:cNvPr id="668" name="TextBox 28"/>
          <p:cNvSpPr txBox="1"/>
          <p:nvPr/>
        </p:nvSpPr>
        <p:spPr>
          <a:xfrm>
            <a:off x="3474720" y="3895344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69" name="TextBox 29"/>
          <p:cNvSpPr txBox="1"/>
          <p:nvPr/>
        </p:nvSpPr>
        <p:spPr>
          <a:xfrm>
            <a:off x="3657600" y="3895344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工业现场验证报告归档</a:t>
            </a:r>
            <a:endParaRPr sz="1600"/>
          </a:p>
        </p:txBody>
      </p:sp>
      <p:sp>
        <p:nvSpPr>
          <p:cNvPr id="670" name="TextBox 30"/>
          <p:cNvSpPr txBox="1"/>
          <p:nvPr/>
        </p:nvSpPr>
        <p:spPr>
          <a:xfrm>
            <a:off x="3474720" y="4370832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71" name="TextBox 31"/>
          <p:cNvSpPr txBox="1"/>
          <p:nvPr/>
        </p:nvSpPr>
        <p:spPr>
          <a:xfrm>
            <a:off x="3657600" y="4370832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AI 自主处置试点</a:t>
            </a:r>
            <a:endParaRPr sz="1600"/>
          </a:p>
        </p:txBody>
      </p:sp>
      <p:sp>
        <p:nvSpPr>
          <p:cNvPr id="672" name="Rounded Rectangle 32"/>
          <p:cNvSpPr/>
          <p:nvPr/>
        </p:nvSpPr>
        <p:spPr>
          <a:xfrm>
            <a:off x="6035040" y="1554480"/>
            <a:ext cx="2697480" cy="4846320"/>
          </a:xfrm>
          <a:prstGeom prst="roundRect">
            <a:avLst>
              <a:gd name="adj" fmla="val 3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3" name="Rounded Rectangle 33"/>
          <p:cNvSpPr/>
          <p:nvPr/>
        </p:nvSpPr>
        <p:spPr>
          <a:xfrm>
            <a:off x="6172200" y="1691639"/>
            <a:ext cx="2423160" cy="256032"/>
          </a:xfrm>
          <a:prstGeom prst="roundRect">
            <a:avLst>
              <a:gd name="adj" fmla="val 30000"/>
            </a:avLst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1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LATER · 2027 H1</a:t>
            </a:r>
            <a:endParaRPr sz="1600"/>
          </a:p>
        </p:txBody>
      </p:sp>
      <p:sp>
        <p:nvSpPr>
          <p:cNvPr id="674" name="TextBox 34"/>
          <p:cNvSpPr txBox="1"/>
          <p:nvPr/>
        </p:nvSpPr>
        <p:spPr>
          <a:xfrm>
            <a:off x="6217920" y="2057400"/>
            <a:ext cx="233172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EdgeStark 量产</a:t>
            </a:r>
            <a:endParaRPr sz="1600"/>
          </a:p>
        </p:txBody>
      </p:sp>
      <p:sp>
        <p:nvSpPr>
          <p:cNvPr id="675" name="TextBox 35"/>
          <p:cNvSpPr txBox="1"/>
          <p:nvPr/>
        </p:nvSpPr>
        <p:spPr>
          <a:xfrm>
            <a:off x="6263640" y="246888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76" name="TextBox 36"/>
          <p:cNvSpPr txBox="1"/>
          <p:nvPr/>
        </p:nvSpPr>
        <p:spPr>
          <a:xfrm>
            <a:off x="6446520" y="2468880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数字孪生场景模板库</a:t>
            </a:r>
            <a:endParaRPr sz="1600"/>
          </a:p>
        </p:txBody>
      </p:sp>
      <p:sp>
        <p:nvSpPr>
          <p:cNvPr id="677" name="TextBox 37"/>
          <p:cNvSpPr txBox="1"/>
          <p:nvPr/>
        </p:nvSpPr>
        <p:spPr>
          <a:xfrm>
            <a:off x="6263640" y="2944368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78" name="TextBox 38"/>
          <p:cNvSpPr txBox="1"/>
          <p:nvPr/>
        </p:nvSpPr>
        <p:spPr>
          <a:xfrm>
            <a:off x="6446520" y="2944368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VR/AR 产线验证</a:t>
            </a:r>
            <a:endParaRPr sz="1600"/>
          </a:p>
        </p:txBody>
      </p:sp>
      <p:sp>
        <p:nvSpPr>
          <p:cNvPr id="679" name="TextBox 39"/>
          <p:cNvSpPr txBox="1"/>
          <p:nvPr/>
        </p:nvSpPr>
        <p:spPr>
          <a:xfrm>
            <a:off x="6263640" y="3419856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80" name="TextBox 40"/>
          <p:cNvSpPr txBox="1"/>
          <p:nvPr/>
        </p:nvSpPr>
        <p:spPr>
          <a:xfrm>
            <a:off x="6446520" y="3419856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全息投影指挥座舱</a:t>
            </a:r>
            <a:endParaRPr sz="1600"/>
          </a:p>
        </p:txBody>
      </p:sp>
      <p:sp>
        <p:nvSpPr>
          <p:cNvPr id="681" name="TextBox 41"/>
          <p:cNvSpPr txBox="1"/>
          <p:nvPr/>
        </p:nvSpPr>
        <p:spPr>
          <a:xfrm>
            <a:off x="6263640" y="3895344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82" name="TextBox 42"/>
          <p:cNvSpPr txBox="1"/>
          <p:nvPr/>
        </p:nvSpPr>
        <p:spPr>
          <a:xfrm>
            <a:off x="6446520" y="3895344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物理引擎产线拆解演示</a:t>
            </a:r>
            <a:endParaRPr sz="1600"/>
          </a:p>
        </p:txBody>
      </p:sp>
      <p:sp>
        <p:nvSpPr>
          <p:cNvPr id="683" name="TextBox 43"/>
          <p:cNvSpPr txBox="1"/>
          <p:nvPr/>
        </p:nvSpPr>
        <p:spPr>
          <a:xfrm>
            <a:off x="6263640" y="4370832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84" name="TextBox 44"/>
          <p:cNvSpPr txBox="1"/>
          <p:nvPr/>
        </p:nvSpPr>
        <p:spPr>
          <a:xfrm>
            <a:off x="6446520" y="4370832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多终端协同交互</a:t>
            </a:r>
            <a:endParaRPr sz="1600"/>
          </a:p>
        </p:txBody>
      </p:sp>
      <p:sp>
        <p:nvSpPr>
          <p:cNvPr id="685" name="Rounded Rectangle 45"/>
          <p:cNvSpPr/>
          <p:nvPr/>
        </p:nvSpPr>
        <p:spPr>
          <a:xfrm>
            <a:off x="8823960" y="1554480"/>
            <a:ext cx="2697480" cy="4846320"/>
          </a:xfrm>
          <a:prstGeom prst="roundRect">
            <a:avLst>
              <a:gd name="adj" fmla="val 3000"/>
            </a:avLst>
          </a:prstGeom>
          <a:solidFill>
            <a:srgbClr val="12182A"/>
          </a:solidFill>
          <a:ln w="635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6" name="Rounded Rectangle 46"/>
          <p:cNvSpPr/>
          <p:nvPr/>
        </p:nvSpPr>
        <p:spPr>
          <a:xfrm>
            <a:off x="8961120" y="1691639"/>
            <a:ext cx="2423160" cy="256032"/>
          </a:xfrm>
          <a:prstGeom prst="roundRect">
            <a:avLst>
              <a:gd name="adj" fmla="val 30000"/>
            </a:avLst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800" b="1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VISION</a:t>
            </a:r>
            <a:endParaRPr sz="1600"/>
          </a:p>
        </p:txBody>
      </p:sp>
      <p:sp>
        <p:nvSpPr>
          <p:cNvPr id="687" name="TextBox 47"/>
          <p:cNvSpPr txBox="1"/>
          <p:nvPr/>
        </p:nvSpPr>
        <p:spPr>
          <a:xfrm>
            <a:off x="9006840" y="2057400"/>
            <a:ext cx="233172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工业智能助手生态</a:t>
            </a:r>
            <a:endParaRPr sz="1600"/>
          </a:p>
        </p:txBody>
      </p:sp>
      <p:sp>
        <p:nvSpPr>
          <p:cNvPr id="688" name="TextBox 48"/>
          <p:cNvSpPr txBox="1"/>
          <p:nvPr/>
        </p:nvSpPr>
        <p:spPr>
          <a:xfrm>
            <a:off x="9052560" y="2468880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89" name="TextBox 49"/>
          <p:cNvSpPr txBox="1"/>
          <p:nvPr/>
        </p:nvSpPr>
        <p:spPr>
          <a:xfrm>
            <a:off x="9235440" y="2468880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多助手协同</a:t>
            </a:r>
            <a:endParaRPr sz="1600"/>
          </a:p>
        </p:txBody>
      </p:sp>
      <p:sp>
        <p:nvSpPr>
          <p:cNvPr id="690" name="TextBox 50"/>
          <p:cNvSpPr txBox="1"/>
          <p:nvPr/>
        </p:nvSpPr>
        <p:spPr>
          <a:xfrm>
            <a:off x="9052560" y="2944368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91" name="TextBox 51"/>
          <p:cNvSpPr txBox="1"/>
          <p:nvPr/>
        </p:nvSpPr>
        <p:spPr>
          <a:xfrm>
            <a:off x="9235440" y="2944368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AI 自愈与自主运维</a:t>
            </a:r>
            <a:endParaRPr sz="1600"/>
          </a:p>
        </p:txBody>
      </p:sp>
      <p:sp>
        <p:nvSpPr>
          <p:cNvPr id="692" name="TextBox 52"/>
          <p:cNvSpPr txBox="1"/>
          <p:nvPr/>
        </p:nvSpPr>
        <p:spPr>
          <a:xfrm>
            <a:off x="9052560" y="3419856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93" name="TextBox 53"/>
          <p:cNvSpPr txBox="1"/>
          <p:nvPr/>
        </p:nvSpPr>
        <p:spPr>
          <a:xfrm>
            <a:off x="9235440" y="3419856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跨站点联邦学习</a:t>
            </a:r>
            <a:endParaRPr sz="1600"/>
          </a:p>
        </p:txBody>
      </p:sp>
      <p:sp>
        <p:nvSpPr>
          <p:cNvPr id="694" name="TextBox 54"/>
          <p:cNvSpPr txBox="1"/>
          <p:nvPr/>
        </p:nvSpPr>
        <p:spPr>
          <a:xfrm>
            <a:off x="9052560" y="3895344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95" name="TextBox 55"/>
          <p:cNvSpPr txBox="1"/>
          <p:nvPr/>
        </p:nvSpPr>
        <p:spPr>
          <a:xfrm>
            <a:off x="9235440" y="3895344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工业知识图谱</a:t>
            </a:r>
            <a:endParaRPr sz="1600"/>
          </a:p>
        </p:txBody>
      </p:sp>
      <p:sp>
        <p:nvSpPr>
          <p:cNvPr id="696" name="TextBox 56"/>
          <p:cNvSpPr txBox="1"/>
          <p:nvPr/>
        </p:nvSpPr>
        <p:spPr>
          <a:xfrm>
            <a:off x="9052560" y="4370832"/>
            <a:ext cx="137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•</a:t>
            </a:r>
            <a:endParaRPr sz="1600"/>
          </a:p>
        </p:txBody>
      </p:sp>
      <p:sp>
        <p:nvSpPr>
          <p:cNvPr id="697" name="TextBox 57"/>
          <p:cNvSpPr txBox="1"/>
          <p:nvPr/>
        </p:nvSpPr>
        <p:spPr>
          <a:xfrm>
            <a:off x="9235440" y="4370832"/>
            <a:ext cx="22402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600"/>
              <a:t>对外开放接口</a:t>
            </a:r>
            <a:endParaRPr sz="1600"/>
          </a:p>
        </p:txBody>
      </p:sp>
      <p:sp>
        <p:nvSpPr>
          <p:cNvPr id="698" name="TextBox 58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27 / 29</a:t>
            </a:r>
            <a:endParaRPr sz="1000"/>
          </a:p>
        </p:txBody>
      </p:sp>
      <p:sp>
        <p:nvSpPr>
          <p:cNvPr id="69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70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7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TextBox 1"/>
          <p:cNvSpPr txBox="1"/>
          <p:nvPr/>
        </p:nvSpPr>
        <p:spPr>
          <a:xfrm>
            <a:off x="457200" y="109728"/>
            <a:ext cx="5486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EdgeCore 工业物联网 + AI 人工智能解决方案</a:t>
            </a:r>
            <a:endParaRPr sz="1100"/>
          </a:p>
        </p:txBody>
      </p:sp>
      <p:sp>
        <p:nvSpPr>
          <p:cNvPr id="703" name="TextBox 2"/>
          <p:cNvSpPr txBox="1"/>
          <p:nvPr/>
        </p:nvSpPr>
        <p:spPr>
          <a:xfrm>
            <a:off x="5943600" y="109728"/>
            <a:ext cx="578815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100"/>
              <a:t>总结</a:t>
            </a:r>
            <a:endParaRPr sz="1100"/>
          </a:p>
        </p:txBody>
      </p:sp>
      <p:sp>
        <p:nvSpPr>
          <p:cNvPr id="704" name="Rectangle 3"/>
          <p:cNvSpPr/>
          <p:nvPr/>
        </p:nvSpPr>
        <p:spPr>
          <a:xfrm>
            <a:off x="457200" y="347472"/>
            <a:ext cx="11274552" cy="10972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5" name="TextBox 4"/>
          <p:cNvSpPr txBox="1"/>
          <p:nvPr/>
        </p:nvSpPr>
        <p:spPr>
          <a:xfrm>
            <a:off x="457200" y="548640"/>
            <a:ext cx="5486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2000"/>
              <a:t>Summary · 总结</a:t>
            </a:r>
            <a:endParaRPr sz="2000"/>
          </a:p>
        </p:txBody>
      </p:sp>
      <p:sp>
        <p:nvSpPr>
          <p:cNvPr id="706" name="TextBox 5"/>
          <p:cNvSpPr txBox="1"/>
          <p:nvPr/>
        </p:nvSpPr>
        <p:spPr>
          <a:xfrm>
            <a:off x="457200" y="914400"/>
            <a:ext cx="1005840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26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sz="2600"/>
              <a:t>EdgeCore 解决方案总结</a:t>
            </a:r>
            <a:endParaRPr sz="2600"/>
          </a:p>
        </p:txBody>
      </p:sp>
      <p:sp>
        <p:nvSpPr>
          <p:cNvPr id="707" name="Rounded Rectangle 6"/>
          <p:cNvSpPr/>
          <p:nvPr/>
        </p:nvSpPr>
        <p:spPr>
          <a:xfrm>
            <a:off x="457200" y="155448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8" name="Oval 7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1</a:t>
            </a:r>
            <a:endParaRPr sz="1600"/>
          </a:p>
        </p:txBody>
      </p:sp>
      <p:sp>
        <p:nvSpPr>
          <p:cNvPr id="709" name="TextBox 8"/>
          <p:cNvSpPr txBox="1"/>
          <p:nvPr/>
        </p:nvSpPr>
        <p:spPr>
          <a:xfrm>
            <a:off x="1143000" y="173736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设备连接</a:t>
            </a:r>
            <a:endParaRPr sz="1600"/>
          </a:p>
        </p:txBody>
      </p:sp>
      <p:sp>
        <p:nvSpPr>
          <p:cNvPr id="710" name="TextBox 9"/>
          <p:cNvSpPr txBox="1"/>
          <p:nvPr/>
        </p:nvSpPr>
        <p:spPr>
          <a:xfrm>
            <a:off x="1143000" y="2121408"/>
            <a:ext cx="42976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F4D03F"/>
                </a:solidFill>
                <a:latin typeface="微软雅黑" panose="020B0503020204020204" charset="-122"/>
              </a:defRPr>
            </a:pPr>
            <a:r>
              <a:rPr sz="1600"/>
              <a:t>13 种工业协议统一接入</a:t>
            </a:r>
            <a:endParaRPr sz="1600"/>
          </a:p>
        </p:txBody>
      </p:sp>
      <p:sp>
        <p:nvSpPr>
          <p:cNvPr id="711" name="TextBox 10"/>
          <p:cNvSpPr txBox="1"/>
          <p:nvPr/>
        </p:nvSpPr>
        <p:spPr>
          <a:xfrm>
            <a:off x="685800" y="2377440"/>
            <a:ext cx="4754880" cy="6400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Modbus / OPC UA / BACnet / S7 / EtherCAT / IEC 104 / DL/T645 等 13 种ofinet / KNXnet</a:t>
            </a:r>
            <a:endParaRPr sz="1800"/>
          </a:p>
        </p:txBody>
      </p:sp>
      <p:sp>
        <p:nvSpPr>
          <p:cNvPr id="712" name="Rounded Rectangle 11"/>
          <p:cNvSpPr/>
          <p:nvPr/>
        </p:nvSpPr>
        <p:spPr>
          <a:xfrm>
            <a:off x="6126480" y="155448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3" name="Oval 12"/>
          <p:cNvSpPr/>
          <p:nvPr/>
        </p:nvSpPr>
        <p:spPr>
          <a:xfrm>
            <a:off x="6309360" y="173736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2</a:t>
            </a:r>
            <a:endParaRPr sz="1600"/>
          </a:p>
        </p:txBody>
      </p:sp>
      <p:sp>
        <p:nvSpPr>
          <p:cNvPr id="714" name="TextBox 13"/>
          <p:cNvSpPr txBox="1"/>
          <p:nvPr/>
        </p:nvSpPr>
        <p:spPr>
          <a:xfrm>
            <a:off x="6812280" y="173736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实时状态</a:t>
            </a:r>
            <a:endParaRPr sz="1600"/>
          </a:p>
        </p:txBody>
      </p:sp>
      <p:sp>
        <p:nvSpPr>
          <p:cNvPr id="715" name="TextBox 14"/>
          <p:cNvSpPr txBox="1"/>
          <p:nvPr/>
        </p:nvSpPr>
        <p:spPr>
          <a:xfrm>
            <a:off x="6812280" y="2121408"/>
            <a:ext cx="42976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F4D03F"/>
                </a:solidFill>
                <a:latin typeface="微软雅黑" panose="020B0503020204020204" charset="-122"/>
              </a:defRPr>
            </a:pPr>
            <a:r>
              <a:rPr sz="1600"/>
              <a:t>ShadowCore 内存状态模型</a:t>
            </a:r>
            <a:endParaRPr sz="1600"/>
          </a:p>
        </p:txBody>
      </p:sp>
      <p:sp>
        <p:nvSpPr>
          <p:cNvPr id="716" name="TextBox 15"/>
          <p:cNvSpPr txBox="1"/>
          <p:nvPr/>
        </p:nvSpPr>
        <p:spPr>
          <a:xfrm>
            <a:off x="6355080" y="2377440"/>
            <a:ext cx="4754880" cy="6400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COW 快照 + 无锁读路径，读延迟 &lt; 5ms，万 Tag P95 = 1.56ms</a:t>
            </a:r>
            <a:endParaRPr sz="1800"/>
          </a:p>
        </p:txBody>
      </p:sp>
      <p:sp>
        <p:nvSpPr>
          <p:cNvPr id="717" name="Rounded Rectangle 16"/>
          <p:cNvSpPr/>
          <p:nvPr/>
        </p:nvSpPr>
        <p:spPr>
          <a:xfrm>
            <a:off x="457200" y="315468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8" name="Oval 17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3</a:t>
            </a:r>
            <a:endParaRPr sz="1600"/>
          </a:p>
        </p:txBody>
      </p:sp>
      <p:sp>
        <p:nvSpPr>
          <p:cNvPr id="719" name="TextBox 18"/>
          <p:cNvSpPr txBox="1"/>
          <p:nvPr/>
        </p:nvSpPr>
        <p:spPr>
          <a:xfrm>
            <a:off x="1143000" y="333756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智能协同</a:t>
            </a:r>
            <a:endParaRPr sz="1600"/>
          </a:p>
        </p:txBody>
      </p:sp>
      <p:sp>
        <p:nvSpPr>
          <p:cNvPr id="720" name="TextBox 19"/>
          <p:cNvSpPr txBox="1"/>
          <p:nvPr/>
        </p:nvSpPr>
        <p:spPr>
          <a:xfrm>
            <a:off x="1143000" y="3721608"/>
            <a:ext cx="42976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F4D03F"/>
                </a:solidFill>
                <a:latin typeface="微软雅黑" panose="020B0503020204020204" charset="-122"/>
              </a:defRPr>
            </a:pPr>
            <a:r>
              <a:rPr sz="1600"/>
              <a:t>AI MCP 标准化能力开放</a:t>
            </a:r>
            <a:endParaRPr sz="1600"/>
          </a:p>
        </p:txBody>
      </p:sp>
      <p:sp>
        <p:nvSpPr>
          <p:cNvPr id="721" name="TextBox 20"/>
          <p:cNvSpPr txBox="1"/>
          <p:nvPr/>
        </p:nvSpPr>
        <p:spPr>
          <a:xfrm>
            <a:off x="685800" y="3886200"/>
            <a:ext cx="4754880" cy="6400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33 Tool + 7 统一 MCP 工具。AI 自主发现设备、查询状态、受控操作</a:t>
            </a:r>
            <a:endParaRPr sz="1800"/>
          </a:p>
        </p:txBody>
      </p:sp>
      <p:sp>
        <p:nvSpPr>
          <p:cNvPr id="722" name="Rounded Rectangle 21"/>
          <p:cNvSpPr/>
          <p:nvPr/>
        </p:nvSpPr>
        <p:spPr>
          <a:xfrm>
            <a:off x="6126480" y="315468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3" name="Oval 22"/>
          <p:cNvSpPr/>
          <p:nvPr/>
        </p:nvSpPr>
        <p:spPr>
          <a:xfrm>
            <a:off x="6309360" y="333756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4</a:t>
            </a:r>
            <a:endParaRPr sz="1600"/>
          </a:p>
        </p:txBody>
      </p:sp>
      <p:sp>
        <p:nvSpPr>
          <p:cNvPr id="724" name="TextBox 23"/>
          <p:cNvSpPr txBox="1"/>
          <p:nvPr/>
        </p:nvSpPr>
        <p:spPr>
          <a:xfrm>
            <a:off x="6812280" y="333756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多网关协调</a:t>
            </a:r>
            <a:endParaRPr sz="1600"/>
          </a:p>
        </p:txBody>
      </p:sp>
      <p:sp>
        <p:nvSpPr>
          <p:cNvPr id="725" name="TextBox 24"/>
          <p:cNvSpPr txBox="1"/>
          <p:nvPr/>
        </p:nvSpPr>
        <p:spPr>
          <a:xfrm>
            <a:off x="6812280" y="3721608"/>
            <a:ext cx="42976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F4D03F"/>
                </a:solidFill>
                <a:latin typeface="微软雅黑" panose="020B0503020204020204" charset="-122"/>
              </a:defRPr>
            </a:pPr>
            <a:r>
              <a:rPr sz="1600"/>
              <a:t>EdgeOS + EAN 2.0</a:t>
            </a:r>
            <a:endParaRPr sz="1600"/>
          </a:p>
        </p:txBody>
      </p:sp>
      <p:sp>
        <p:nvSpPr>
          <p:cNvPr id="726" name="TextBox 25"/>
          <p:cNvSpPr txBox="1"/>
          <p:nvPr/>
        </p:nvSpPr>
        <p:spPr>
          <a:xfrm>
            <a:off x="6355080" y="3886200"/>
            <a:ext cx="4754880" cy="6400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12 台网关 7.5 万 Tag 实机验证，Discovery P99 = 48ms，Invoke P99 = 112ms</a:t>
            </a:r>
            <a:endParaRPr sz="1800"/>
          </a:p>
        </p:txBody>
      </p:sp>
      <p:sp>
        <p:nvSpPr>
          <p:cNvPr id="727" name="Rounded Rectangle 26"/>
          <p:cNvSpPr/>
          <p:nvPr/>
        </p:nvSpPr>
        <p:spPr>
          <a:xfrm>
            <a:off x="457200" y="475488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8" name="Oval 27"/>
          <p:cNvSpPr/>
          <p:nvPr/>
        </p:nvSpPr>
        <p:spPr>
          <a:xfrm>
            <a:off x="640080" y="493776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5</a:t>
            </a:r>
            <a:endParaRPr sz="1600"/>
          </a:p>
        </p:txBody>
      </p:sp>
      <p:sp>
        <p:nvSpPr>
          <p:cNvPr id="729" name="TextBox 28"/>
          <p:cNvSpPr txBox="1"/>
          <p:nvPr/>
        </p:nvSpPr>
        <p:spPr>
          <a:xfrm>
            <a:off x="1143000" y="493776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工厂落地</a:t>
            </a:r>
            <a:endParaRPr sz="1600"/>
          </a:p>
        </p:txBody>
      </p:sp>
      <p:sp>
        <p:nvSpPr>
          <p:cNvPr id="730" name="TextBox 29"/>
          <p:cNvSpPr txBox="1"/>
          <p:nvPr/>
        </p:nvSpPr>
        <p:spPr>
          <a:xfrm>
            <a:off x="1143000" y="5212080"/>
            <a:ext cx="42976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F4D03F"/>
                </a:solidFill>
                <a:latin typeface="微软雅黑" panose="020B0503020204020204" charset="-122"/>
              </a:defRPr>
            </a:pPr>
            <a:r>
              <a:rPr sz="1600"/>
              <a:t>压铸/注塑/五轴/楼宇/能源</a:t>
            </a:r>
            <a:endParaRPr sz="1600"/>
          </a:p>
        </p:txBody>
      </p:sp>
      <p:sp>
        <p:nvSpPr>
          <p:cNvPr id="731" name="TextBox 30"/>
          <p:cNvSpPr txBox="1"/>
          <p:nvPr/>
        </p:nvSpPr>
        <p:spPr>
          <a:xfrm>
            <a:off x="685800" y="5486400"/>
            <a:ext cx="4754880" cy="6400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每个场景均有具体协议、采集点位、边缘规则与实施效果数据</a:t>
            </a:r>
            <a:endParaRPr sz="1800"/>
          </a:p>
        </p:txBody>
      </p:sp>
      <p:sp>
        <p:nvSpPr>
          <p:cNvPr id="732" name="Rounded Rectangle 31"/>
          <p:cNvSpPr/>
          <p:nvPr/>
        </p:nvSpPr>
        <p:spPr>
          <a:xfrm>
            <a:off x="6126480" y="475488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12182A"/>
          </a:solidFill>
          <a:ln w="9525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3" name="Oval 32"/>
          <p:cNvSpPr/>
          <p:nvPr/>
        </p:nvSpPr>
        <p:spPr>
          <a:xfrm>
            <a:off x="6309360" y="4937760"/>
            <a:ext cx="365760" cy="365760"/>
          </a:xfrm>
          <a:prstGeom prst="ellipse">
            <a:avLst/>
          </a:prstGeom>
          <a:solidFill>
            <a:srgbClr val="1A2238"/>
          </a:solidFill>
          <a:ln w="12700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600"/>
              <a:t>6</a:t>
            </a:r>
            <a:endParaRPr sz="1600"/>
          </a:p>
        </p:txBody>
      </p:sp>
      <p:sp>
        <p:nvSpPr>
          <p:cNvPr id="734" name="TextBox 33"/>
          <p:cNvSpPr txBox="1"/>
          <p:nvPr/>
        </p:nvSpPr>
        <p:spPr>
          <a:xfrm>
            <a:off x="6812280" y="4937760"/>
            <a:ext cx="42976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sz="1600"/>
              <a:t>未来延伸</a:t>
            </a:r>
            <a:endParaRPr sz="1600"/>
          </a:p>
        </p:txBody>
      </p:sp>
      <p:sp>
        <p:nvSpPr>
          <p:cNvPr id="735" name="TextBox 34"/>
          <p:cNvSpPr txBox="1"/>
          <p:nvPr/>
        </p:nvSpPr>
        <p:spPr>
          <a:xfrm>
            <a:off x="6812280" y="5212080"/>
            <a:ext cx="42976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  <a:defRPr sz="1000" b="0">
                <a:solidFill>
                  <a:srgbClr val="F4D03F"/>
                </a:solidFill>
                <a:latin typeface="微软雅黑" panose="020B0503020204020204" charset="-122"/>
              </a:defRPr>
            </a:pPr>
            <a:r>
              <a:rPr sz="1600"/>
              <a:t>EdgeStark 数字孪生</a:t>
            </a:r>
            <a:endParaRPr sz="1600"/>
          </a:p>
        </p:txBody>
      </p:sp>
      <p:sp>
        <p:nvSpPr>
          <p:cNvPr id="736" name="TextBox 35"/>
          <p:cNvSpPr txBox="1"/>
          <p:nvPr/>
        </p:nvSpPr>
        <p:spPr>
          <a:xfrm>
            <a:off x="6355080" y="5486400"/>
            <a:ext cx="4754880" cy="6400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VR/AR/全息影像，10 万+ 点位元数据，60 FPS 桌面渲染</a:t>
            </a:r>
            <a:endParaRPr sz="1800"/>
          </a:p>
        </p:txBody>
      </p:sp>
      <p:sp>
        <p:nvSpPr>
          <p:cNvPr id="737" name="TextBox 36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28 / 29</a:t>
            </a:r>
            <a:endParaRPr sz="1000"/>
          </a:p>
        </p:txBody>
      </p:sp>
      <p:sp>
        <p:nvSpPr>
          <p:cNvPr id="73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73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A0E1A"/>
        </a:solidFill>
        <a:effectLst/>
      </p:bgPr>
    </p:bg>
    <p:spTree>
      <p:nvGrpSpPr>
        <p:cNvPr id="7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Rectangle 1"/>
          <p:cNvSpPr/>
          <p:nvPr/>
        </p:nvSpPr>
        <p:spPr>
          <a:xfrm>
            <a:off x="0" y="2560320"/>
            <a:ext cx="12188952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2" name="Rectangle 2"/>
          <p:cNvSpPr/>
          <p:nvPr/>
        </p:nvSpPr>
        <p:spPr>
          <a:xfrm>
            <a:off x="0" y="4206240"/>
            <a:ext cx="12188952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3" name="TextBox 3"/>
          <p:cNvSpPr txBox="1"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66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sz="4400"/>
              <a:t>谢 谢</a:t>
            </a:r>
            <a:endParaRPr sz="4400"/>
          </a:p>
        </p:txBody>
      </p:sp>
      <p:sp>
        <p:nvSpPr>
          <p:cNvPr id="744" name="TextBox 4"/>
          <p:cNvSpPr txBox="1"/>
          <p:nvPr/>
        </p:nvSpPr>
        <p:spPr>
          <a:xfrm>
            <a:off x="914400" y="4389120"/>
            <a:ext cx="10360152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16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sz="1800"/>
              <a:t>设备连接 · 实时状态 · 智能协同</a:t>
            </a:r>
            <a:endParaRPr sz="1800"/>
          </a:p>
        </p:txBody>
      </p:sp>
      <p:sp>
        <p:nvSpPr>
          <p:cNvPr id="745" name="Rounded Rectangle 5"/>
          <p:cNvSpPr/>
          <p:nvPr/>
        </p:nvSpPr>
        <p:spPr>
          <a:xfrm>
            <a:off x="4297680" y="5029200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1A2238"/>
          </a:solidFill>
          <a:ln w="9525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800"/>
              <a:t>EdgeCore</a:t>
            </a:r>
            <a:endParaRPr sz="1800"/>
          </a:p>
        </p:txBody>
      </p:sp>
      <p:sp>
        <p:nvSpPr>
          <p:cNvPr id="746" name="Rounded Rectangle 6"/>
          <p:cNvSpPr/>
          <p:nvPr/>
        </p:nvSpPr>
        <p:spPr>
          <a:xfrm>
            <a:off x="5669280" y="5029200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1A2238"/>
          </a:solidFill>
          <a:ln w="9525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800"/>
              <a:t>EdgeOS</a:t>
            </a:r>
            <a:endParaRPr sz="1800"/>
          </a:p>
        </p:txBody>
      </p:sp>
      <p:sp>
        <p:nvSpPr>
          <p:cNvPr id="747" name="Rounded Rectangle 7"/>
          <p:cNvSpPr/>
          <p:nvPr/>
        </p:nvSpPr>
        <p:spPr>
          <a:xfrm>
            <a:off x="7040880" y="5029200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1A2238"/>
          </a:solidFill>
          <a:ln w="9525">
            <a:solidFill>
              <a:srgbClr val="6B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lnSpc>
                <a:spcPct val="110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sz="1800"/>
              <a:t>EdgeStark</a:t>
            </a:r>
            <a:endParaRPr sz="1800"/>
          </a:p>
        </p:txBody>
      </p:sp>
      <p:sp>
        <p:nvSpPr>
          <p:cNvPr id="748" name="TextBox 8"/>
          <p:cNvSpPr txBox="1"/>
          <p:nvPr/>
        </p:nvSpPr>
        <p:spPr>
          <a:xfrm>
            <a:off x="914400" y="5852160"/>
            <a:ext cx="10360152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sz="1600"/>
              <a:t>anviod · 2026 · 工业物联网边缘计算</a:t>
            </a:r>
            <a:endParaRPr sz="1600"/>
          </a:p>
        </p:txBody>
      </p:sp>
      <p:sp>
        <p:nvSpPr>
          <p:cNvPr id="749" name="TextBox 9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 sz="1000"/>
              <a:t>29 / 29</a:t>
            </a:r>
            <a:endParaRPr sz="1000"/>
          </a:p>
        </p:txBody>
      </p:sp>
      <p:sp>
        <p:nvSpPr>
          <p:cNvPr id="75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/>
            <a:endParaRPr/>
          </a:p>
        </p:txBody>
      </p:sp>
      <p:sp>
        <p:nvSpPr>
          <p:cNvPr id="75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2026-08-18T15:47:07Z</dcterms:created>
  <dcterms:modified xsi:type="dcterms:W3CDTF">2026-08-18T15:47:07Z</dcterms:modified>
</cp:coreProperties>
</file>