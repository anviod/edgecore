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3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27" Type="http://schemas.openxmlformats.org/officeDocument/2006/relationships/slide" Target="slides/slide27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6" Type="http://schemas.openxmlformats.org/officeDocument/2006/relationships/slide" Target="slides/slide26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notesMaster" Target="notesMasters/notesMaster1.xml" 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0F89C1C7-3DCD-1040-A9CF-14679D8B5DDD}" type="datetimeFigureOut">
              <a:rPr lang="en-US" smtClean="0"/>
              <a:t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BB5E49A5-4136-284D-997B-48E1D791AD67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0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8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EdgeCore 是一套面向工厂的工业物联网边缘计算方案。核心价值是把工厂里各种品牌、各种协议的设备数据统一采集上来，让管理人员在电脑或手机上实时看到设备状态，不再依赖人工巡检。今天我会用压铸机、注塑机、五轴加工等具体工厂案例来说明它能解决什么问题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技术架构基于 Go 语言单二进制编译，CGO_ENABLED=0 无外部依赖，128MB 内存即可运行。支持 13 种工业协议（Modbus/OPC UA/BACnet/S7/EtherCAT 等），覆盖主流 PLC、仪表、楼宇设备。部署方式为 deb/rpm/tar.gz + systemd，适配 ARM64/x86/ARMv7 工业网关。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EdgeCore 有两个核心技术。第一个是调度引擎，相当于一个交通警察，指挥所有设备的数据采集任务，确保不堵车、不丢数据。第二个是状态模型，相当于一个实时数据库，设备数据一进来就存好，谁要看都能立刻看到，不用每次去问设备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ScanEngine：EDF 最早截止优先（d=r+50ms），四级优先级动力学（miss+2/success+1/fail-1），goroutine 上限 2048，连接上限 500，三级令牌桶背压，GC STW 时自动降速。ShadowCore：COW 快照原子切换，读路径无锁 &lt;5ms，ShadowIngress 4096 环形缓冲 8ms flush，支持跨设备公式衍生计算。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这页是实测数据，不是理论值。在 ARM64 工业网关上跑一万个数据点，调度延迟只有 1.56 毫秒，零丢失。最低 128MB 内存就能运行。13 种工业协议全部通过回归测试。这些数据是我们用真实硬件测出来的，不是拍脑袋的。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测试环境：RK3588 ARM64 工业网关。万 Tag @1s 采集周期：P95=1.56ms，0 miss，吞吐 9823 pts/s。长稳 Soak 测试 0% 内存漂移。ShadowCore 读延迟 5ms，较直接读 PLC 提速约 4.3 倍（论文实测值）。13 种协议 22/22 驱动测试通过。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第三节讲 EdgeOS 协调平台。当工厂里部署了多台 EdgeCore 网关时，EdgeOS 就是那个统一管理的平台。它负责发现新设备、协调跨网关的调用、路由事件消息，还能让 AI 安全地参与工业操作。简单说，EdgeCore 是一线员工，EdgeOS 是管理层。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EdgeOS 四层架构：治理层（ACL/审计/Metrics）→ 编排层（AI Planner/Scheduler/ResourceManager）→ 核心服务（Discovery/Invoke/Event）→ 高可用（双母皇主备/MQTT+NATS 双传输/AI MCP Runtime）。支持 N+2 高可用，主备切换 &lt;5s。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这张是 EdgeOS 的架构图。从上往下看：最上面是权限和审计，管谁能做什么；中间是编排层，安排任务怎么执行；再下面是核心服务，管设备发现、跨网关调用和事件推送；最下面是高可用机制，保证系统不宕机。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治理层：ACL 多租户+全链路审计+Metrics。编排层：AI Planner 工作流编排+优先级重试调度+工业资源锁。核心服务：Agent/Capability 全局索引+跨节点调用状态机+事件订阅路由。高可用：双母皇主备自动切换+MQTT v5/NATS 2.x 双传输+AI MCP 运行时。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EAN 2.0 是 EdgeCore 和 EdgeOS 之间说话的"语言"。有了它，多台网关之间能互相发现、互相调用、互传消息。这就像给网关装了对讲机，不再各自为政。12 台网关、7.5 万个数据点的规模已经实测通过。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EAN 2.0 五要素：Agent（注册/心跳 60s）→ Capability（63 原生能力/7 统一 MCP 工具）→ Discovery（全局索引）→ Invoke（跨节点调用状态机）→ Event（状态变更/告警推送）。传输层 MQTT v5+NATS 2.x 双总线，Topic 使用 $edgeos/ 斜杠形式。V1 命令面已下线。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这页讲 AI 怎么和工业设备结合。EdgeCore 通过一个标准协议（MCP）让 AI 能看懂工厂设备：能查设备状态、能做故障诊断、甚至能帮工程师配置新设备。但安全第一——所有写操作都要人工确认，AI 不会直接改设备参数。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MCP Server：33 Tool + 6 Resource + 13 Prompt，JSON-RPC/HTTP·SSE 协议。写门控 writeGate：读类直接放行，写类须审批，完整审计日志。协议逆向引擎：四阶段流水线（识别→解析→推理→生成），2 天人工逆向压缩为 30 分钟 AI 候选生成。Human-in-the-loop：AI 产出须经人工确认写入 config.db。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这张图把整个生态一次性展示出来。左边是 EdgeCore 数字底座——开源免费，装在网关上采集设备数据。右边是上层应用——EdgeOS 做多网关协同管理，EdgeStark 做数字孪生可视化。中间通过 EAN 2.0 协议连接。12 台网关 7.5 万数据点的规模已经实测验证。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EdgeCore 开源：ScanEngine+ShadowCore+13 协议+虚拟设备+边缘规则+北向通道。上层应用：EdgeOS（N+2 高可用/Discovery/Invoke/Event/AI MCP Runtime）+ EdgeStark（四端渲染/VR/AR/全息）。实测：12 台 EdgeCore 网关、7.5 万 Tag，Discovery P99=48ms，Invoke P99=112ms。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这页是 EdgeOS 协调平台的实测数据。12 台网关、7.5 万个数据点的规模下，设备发现只要 48 毫秒，跨网关调用 112 毫秒，主备切换不到 3 秒。全部测试用例 100% 通过。这些是在真实 ARM64 工业硬件上测的。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测试环境：ARM64 RK3588 工业网关 ×12，x86 工控机主备母皇，Mosquitto+NATS Server。Discovery P99=48ms（SLA &lt;100ms），Invoke P99=112ms（SLA &lt;200ms），心跳检测 100% 准确 0 误判，主备切换 2.8s（SLA &lt;5s），状态同步 78ms（SLA &lt;100ms），go test 100% 通过。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四节是大家最关心的——工厂里到底怎么用。我们会讲三个详细案例：压铸机、注塑机、五轴加工设备，每个都有具体的协议接入方式、采集哪些数据、怎么配置规则。还有楼宇自动化、能源管理等更多场景的快速介绍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案例覆盖：压铸机（Modbus TCP+OPC UA）、注塑机（Modbus TCP+OPC UA+SPI/Euromap 77）、五轴加工（OPC UA+MTConnect+Modbus TCP）。每个案例包含协议接入、采集点位、边缘规则、AI 查询、北向推送五个维度。另有 CNC、冲压、热处理、空压机、AGV 等 20 类场景。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压铸机案例。压铸机是汽车零件制造的核心设备，以前靠人工看 SCADA 画面，故障发现晚，模具寿命管理粗放。用 EdgeCore 后，设备数据实时采集，温度超限立刻告警，压力曲线异常自动标记，AI 还能基于趋势分析给出模具保养建议。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协议：Modbus TCP 采集 PLC + OPC UA 对接主机。采集点：压射压力、合模力、铝液温度、模具温度、循环次数、保压时间。边缘规则：温度超限告警/压力曲线异常标记/循环计数累加。AI MCP：read_points 查询寿命数据生成保养建议。北向：MQTT 推 MES + OPC UA 对接 SCADA。指标改善均为能力描述而非具体数值。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这四个问题是工厂里普遍存在的。第一，传统方案太重，工业网关只有 128MB 内存跑不了；第二，每个协议驱动各管各的，一个出问题可能拖垮整个系统；第三，业务系统直接读设备数据，互相干扰；第四，AI 虽然很火，但它根本看不懂工厂设备的数据。EdgeCore 就是为了解决这四个问题设计的。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问题 1：微服务+容器+DB 栈在 ARM 工业网关上 OOM。问题 2：驱动自治导致 goroutine 泄漏和重连风暴。问题 3：多系统并发读 PLC 造成 Modbus TCP 链路饱和。问题 4：设备点位/状态/操作能力固化在代码中，AI 无法通过标准协议获取。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注塑机案例。一个注塑车间通常有 20-50 台注塑机，品牌不同协议也不同。以前每台设备独立 SCADA，数据各管各的，OEE 靠人工抄表。用 EdgeCore 后，所有设备统一接入，OEE 实时自动计算，还能识别瓶颈设备帮助优化排产。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协议：Modbus TCP（海天/震雄）+ OPC UA（欧洲品牌）+ SPI/Euromap 77 适配。采集点：熔体温度、注射压力、保压压力、循环时间、射胶量、模具温度、冷却水流量。边缘计算：单台 OEE 实时计算+良品率统计+能耗分项计量。规则：射胶量偏差标记不良品/保压不足告警。北向：MQTT 推 MES + OPC UA 对接 SCADA + BACnet 对接楼宇。</a:t>
            </a:r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五轴加工案例。五轴加工中心单价千万级，刀具磨损和主轴振动直接影响加工精度。以前数据锁在机床 HMI 里出不来。用 EdgeCore 后，振动超阈值立刻停机保护，刀具寿命按实际切削时间计算，AI 还能做振动频谱分析辅助诊断。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协议：OPC UA 对接西门子 840D sl + MTConnect 对接 DMG MORI + Modbus TCP 辅助。采集点：主轴转速、进给速度、各轴位置、主轴功率、振动幅值、温度、刀具号、切削时间。边缘规则：振动超阈值停机保护/刀具寿命预警/主轴热补偿实时计算。AI MCP：read_points 查振动频谱 + get_diagnostics 获取健康度。指标改善均为能力描述。</a:t>
            </a:r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5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五轴加工案例。五轴加工中心单价千万级，刀具磨损和主轴振动直接影响加工精度。以前数据锁在机床 HMI 里出不来。用 EdgeCore 后，振动超阈值立刻停机保护，刀具寿命按实际切削时间计算，AI 还能做振动频谱分析辅助诊断。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协议：OPC UA 对接西门子 840D sl + MTConnect 对接 DMG MORI + Modbus TCP 辅助。采集点：主轴转速、进给速度、各轴位置、主轴功率、振动幅值、温度、刀具号、切削时间。边缘规则：振动超阈值停机保护/刀具寿命预警/主轴热补偿实时计算。AI MCP：read_points 查振动频谱 + get_diagnostics 获取健康度。指标改善均为能力描述。</a:t>
            </a:r>
            <a:endParaRPr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6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除了前面三个详细案例，EdgeCore 还能用在很多其他工厂场景。比如 CNC 加工中心、冲压机、热处理炉、空压机站房、AGV 小车、环境监测、能源计量、网络设备监控等。每个场景都有对应的协议支持，配置方式类似，不需要额外开发。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8 类扩展场景：CNC（Modbus/OPC UA）、冲压（Modbus TCP/RTU）、热处理（Modbus RTU）、空压机（Modbus/SNMP）、AGV/RGV（TCP/Modbus）、环境监测（BACnet/Modbus）、能源计量（DL/T645/IEC 104）、网络设备（SNMP v2c/v3）。均使用现有协议驱动，无需定制开发。</a:t>
            </a:r>
            <a:endParaRPr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6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这张全景图展示了 EdgeCore 能覆盖的 20 类工业现场应用，横跨五大领域：工业能源、智能制造、楼宇自动化、无人值守站点、网络设备监控。实际部署时可以按产线、车间、站点自由组合，延伸出几百种具体方案。每个领域都有对应的协议和配置模板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五大领域 20 类场景：工业能源（IEC 104/DL/T645 电力、光伏聚合、冷链、抄表、变电站）、智能制造（PLC 读写、跨协议联动、预测维护、OEE 统计、透传桥接）、楼宇自动化（BACnet/KNX 暖通照明、毫秒级告警、能耗分项）、无人值守（128MB 长稳运行、断点续传、环境监控）、网络 ICT（SNMP 监控、端口流量、OT+网络一体化）。</a:t>
            </a:r>
            <a:endParaRPr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7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最后一节讲未来。EdgeStark 是我们的数字孪生可视化平台，能把工厂设备数据变成 3D 可视化场景。戴上 VR 眼镜能在虚拟工厂里走动，用 AR 眼镜能看到设备实时状态叠加在真实设备上，还能做大屏全息投影指挥座舱。目前还在开发中。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EdgeStark 闭源授权。订阅 100+ EdgeCore 网关、1000+ 设备、10 万+ 元数据点。四端渲染：桌面 60FPS/10K 组件、VR 90FPS/5K 组件、AR 虚实叠加、全息投影。五层架构：Metadata Cache → Twin Runtime → Scene Runtime → Render Runtime（Rapier WASM 物理引擎）→ Holographic Runtime。P99 聚合延迟 &lt;200ms。</a:t>
            </a:r>
            <a:endParaRPr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7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EdgeStark 的核心能力是"四端渲染"——同一个数字孪生场景，能输出到电脑桌面、VR 眼镜、AR 眼镜和全息投影设备。工厂管理人员不用去现场，在办公室就能"走进"虚拟车间看设备运行情况。五层架构确保大数据量下仍然流畅。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四端统一输出：桌面 60FPS/10K 组件，VR 90FPS/5K 组件，AR 虚实叠加巡检，全息投影指挥座舱。五层分离：Metadata Cache（10 万+ 点位缓存）→ Twin Runtime（遥测融合）→ Scene Runtime（6 种绑定类型）→ Render Runtime（Rapier 物理引擎 WASM 碰撞检测）→ Holographic Runtime（统一场景模型多端输出）。</a:t>
            </a:r>
            <a:endParaRPr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7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这页是我们的发展路线图。现在（2026 Q3）EdgeCore 已经稳定运行，13 种协议全部验证通过。接下来（Q4）会增强 EdgeOS 多网关管理能力。明年上半年 EdgeStark 数字孪生平台量产。最终目标是实现工业智能体生态——AI 能自主发现问题、修复故障。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NOW 2026 Q3：ScanEngine 稳定+13 协议验证+EAN 2.0 落地+四道发布门禁+MCP 33 工具。NEXT Q4：多 EdgeOS 集群联邦+跨域 Agent 编排+72h Soak 自动化+AI 自主处置试点。LATER 2027 H1：数字孪生模板+VR/AR 产线验证+全息座舱+物理引擎拆解演示。VISION：多 Agent 协同+AI 自愈+联邦学习+知识图谱+开放能力市场。</a:t>
            </a:r>
            <a:endParaRPr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8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这页是我们的发展路线图。现在（2026 Q3）EdgeCore 已经稳定运行，13 种协议全部验证通过。接下来（Q4）会增强 EdgeOS 多网关管理能力。明年上半年 EdgeStark 数字孪生平台量产。最终目标是实现工业智能体生态——AI 能自主发现问题、修复故障。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NOW 2026 Q3：ScanEngine 稳定+13 协议验证+EAN 2.0 落地+四道发布门禁+MCP 33 工具。NEXT Q4：多 EdgeOS 集群联邦+跨域 Agent 编排+72h Soak 自动化+AI 自主处置试点。LATER 2027 H1：数字孪生模板+VR/AR 产线验证+全息座舱+物理引擎拆解演示。VISION：多 Agent 协同+AI 自愈+联邦学习+知识图谱+开放能力市场。</a:t>
            </a:r>
            <a:endParaRPr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8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感谢大家的时间。总结一下：EdgeCore 解决的是"设备数据怎么上来"的问题，EdgeOS 解决的是"多网关怎么管"的问题，EdgeStark 解决的是"数据怎么好看好用"的问题。三个产品组成完整的工业物联网方案。欢迎提问，也欢迎到现场参观实测。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技术沟通要点：EdgeCore 开源免费（Web 管理+13 协议+128MB），EdgeOS 12 台网关 7.5 万 Tag 实测通过（Discovery P99=48ms/Invoke P99=112ms），EdgeStark 四端渲染 10 万+ 点位。可提供 ARM64 deb 包现场部署演示。联系方式：anviod 工业互联网边缘计算研究室。</a:t>
            </a:r>
            <a:endParaRPr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9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今天的内容分五个部分：先讲工厂设备接入面临的问题，再介绍 EdgeCore 产品本身，然后是多网关协同和 AI 能力，接着是压铸机、注塑机、五轴加工等工厂实际案例，最后是数字孪生的未来规划。每个部分都有实测数据支撑，不讲空话。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五个章节覆盖从设备协议接入到 AI 协同的完整技术链。关键性能指标在 ARM64 RK3588 上实测：调度延迟 P95=1.56ms，万 Tag 零丢失，ShadowCore 读延迟 5ms。EdgeOS 12 台网关 7.5 万 Tag 实机联调，Discovery P99=48ms。</a:t>
            </a:r>
            <a:endParaRPr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9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第一节讲问题。工厂设备接入不是简单的"连个线"的事，它涉及四个系统性问题：架构太重跑不动、协议驱动各自为政、数据访问互相干扰、AI 想帮忙但看不懂工业数据。这些问题不解决，后面什么智能化都谈不上。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传统网关采用微服务+容器+数据库的重量级栈，128MB 级 ARM 设备无法运行。协议驱动自治导致资源竞争和异常扩散。业务直接访问 PLC 造成采集与消费强耦合。工业数据封装在私有逻辑中，AI Agent 无法自主发现设备能力。</a:t>
            </a:r>
            <a:endParaRPr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9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这四个问题是工厂里普遍存在的。第一，传统方案太重，工业网关只有 128MB 内存跑不了；第二，每个协议驱动各管各的，一个出问题可能拖垮整个系统；第三，业务系统直接读设备数据，互相干扰；第四，AI 虽然很火，但它根本看不懂工厂设备的数据。EdgeCore 就是为了解决这四个问题设计的。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问题 1：微服务+容器+DB 栈在 ARM 工业网关上 OOM。问题 2：驱动自治导致 goroutine 泄漏和重连风暴。问题 3：多系统并发读 PLC 造成 Modbus TCP 链路饱和。问题 4：设备点位/状态/操作能力固化在代码中，AI 无法通过标准协议获取。</a:t>
            </a:r>
            <a:endParaRPr/>
          </a:p>
        </p:txBody>
      </p:sp>
      <p:sp>
        <p:nvSpPr>
          <p:cNvPr id="10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0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这四个问题是工厂里普遍存在的。第一，传统方案太重，工业网关只有 128MB 内存跑不了；第二，每个协议驱动各管各的，一个出问题可能拖垮整个系统；第三，业务系统直接读设备数据，互相干扰；第四，AI 虽然很火，但它根本看不懂工厂设备的数据。EdgeCore 就是为了解决这四个问题设计的。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问题 1：微服务+容器+DB 栈在 ARM 工业网关上 OOM。问题 2：驱动自治导致 goroutine 泄漏和重连风暴。问题 3：多系统并发读 PLC 造成 Modbus TCP 链路饱和。问题 4：设备点位/状态/操作能力固化在代码中，AI 无法通过标准协议获取。</a:t>
            </a:r>
            <a:endParaRPr/>
          </a:p>
        </p:txBody>
      </p:sp>
      <p:sp>
        <p:nvSpPr>
          <p:cNvPr id="1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0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第二节介绍 EdgeCore 产品本身。简单说，它是一个轻量级的工业数据网关软件，装在工业网关硬件上，就能把工厂里的设备数据采集上来，统一处理后推送给业务系统。一个二进制文件，128MB 内存就能跑，免费开源。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EdgeCore 核心设计：单二进制静态编译（CGO_ENABLED=0），无外部依赖。五层架构：Protocol（驱动仅报文解析）→ ScanEngine（EDF 调度）→ ShadowCore（COW 快照状态真源）→ Business（虚拟设备+规则引擎）→ AI/MCP（能力开放）。存储采用配置 DB + 运行 DB 双库方案。</a:t>
            </a:r>
            <a:endParaRPr/>
          </a:p>
        </p:txBody>
      </p:sp>
      <p:sp>
        <p:nvSpPr>
          <p:cNvPr id="1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这张图是 EdgeCore 的整体架构。从下往上看：最底层连设备，往上是调度引擎管采集，再往上是状态模型存数据，然后是业务逻辑层，最上面是 AI 接口层。每一层各管各的事，互不干扰。这样设计的好处是：某一层出问题不会影响其他层。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五层架构：Protocol 层 Driver Execute Only，仅做报文编解码。ScanEngine 采用 EDF 调度+四级优先级+三级令牌背压+GC 联动降速。ShadowCore 用 COW 快照实现无锁读路径。Business 层支持虚拟影子设备和 expr 规则引擎。AI/MCP 层通过 JSON-RPC/HTTP·SSE 向 Agent 开放能力。</a:t>
            </a:r>
            <a:endParaRPr/>
          </a:p>
        </p:txBody>
      </p:sp>
      <p:sp>
        <p:nvSpPr>
          <p:cNvPr id="1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>
            <a:pPr/>
            <a:endParaRPr/>
          </a:p>
        </p:txBody>
      </p:sp>
      <p:sp>
        <p:nvSpPr>
          <p:cNvPr id="1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【讲给管理者】</a:t>
            </a:r>
            <a:endParaRPr/>
          </a:p>
          <a:p>
            <a:pPr/>
            <a:r>
              <a:rPr/>
              <a:t>这张图是 EdgeCore 的整体架构。从下往上看：最底层连设备，往上是调度引擎管采集，再往上是状态模型存数据，然后是业务逻辑层，最上面是 AI 接口层。每一层各管各的事，互不干扰。这样设计的好处是：某一层出问题不会影响其他层。</a:t>
            </a:r>
            <a:endParaRPr/>
          </a:p>
          <a:p>
            <a:pPr/>
            <a:endParaRPr/>
          </a:p>
          <a:p>
            <a:pPr/>
            <a:r>
              <a:rPr/>
              <a:t>【技术补充】</a:t>
            </a:r>
            <a:endParaRPr/>
          </a:p>
          <a:p>
            <a:pPr/>
            <a:r>
              <a:rPr/>
              <a:t>五层架构：Protocol 层 Driver Execute Only，仅做报文编解码。ScanEngine 采用 EDF 调度+四级优先级+三级令牌背压+GC 联动降速。ShadowCore 用 COW 快照实现无锁读路径。Business 层支持虚拟影子设备和 expr 规则引擎。AI/MCP 层通过 JSON-RPC/HTTP·SSE 向 Agent 开放能力。</a:t>
            </a:r>
            <a:endParaRPr/>
          </a:p>
        </p:txBody>
      </p:sp>
      <p:sp>
        <p:nvSpPr>
          <p:cNvPr id="1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/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4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5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6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8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9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8.xml" /><Relationship Id="rId2" Type="http://schemas.openxmlformats.org/officeDocument/2006/relationships/image" Target="media/image1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7.xml" /><Relationship Id="rId2" Type="http://schemas.openxmlformats.org/officeDocument/2006/relationships/image" Target="media/image2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9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0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2.xml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工业互联网与边缘计算 · 2026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0" y="731520"/>
            <a:ext cx="3017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Ecosystem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EdgeCore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EdgeOS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EdgeStark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9144000" cy="862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  <a:defRPr sz="4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1E293B"/>
                </a:solidFill>
              </a:rPr>
              <a:t>工业边缘计算的新范式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000" b="0">
                <a:solidFill>
                  <a:srgbClr val="F4D03F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从设备连接到智能协同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构建连接、状态、智能三位一体的工业边缘基础设施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5669280"/>
            <a:ext cx="22860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anviod · 2026-08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22" name="TextBox 2"/>
          <p:cNvSpPr txBox="1"/>
          <p:nvPr/>
        </p:nvSpPr>
        <p:spPr>
          <a:xfrm>
            <a:off x="5943600" y="13716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五层架构总览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23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4"/>
          <p:cNvSpPr txBox="1"/>
          <p:nvPr/>
        </p:nvSpPr>
        <p:spPr>
          <a:xfrm>
            <a:off x="457200" y="64008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Architecture Overview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25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接入 · 采集 · 状态 · 协同 · 应用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326" name="Rounded Rectangle 6"/>
          <p:cNvSpPr/>
          <p:nvPr/>
        </p:nvSpPr>
        <p:spPr>
          <a:xfrm>
            <a:off x="45720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EdgeCore 以五层架构统一接入工业现场：接入层 13 种协议，采集层 ScanEngine 调度，状态层 ShadowCore 真源，协同层 EAN 2.0 + AI MCP，应用层 EdgeOS / EdgeStark。</a:t>
            </a:r>
            <a:endParaRPr lang="zh-CN"/>
          </a:p>
        </p:txBody>
      </p:sp>
      <p:sp>
        <p:nvSpPr>
          <p:cNvPr id="327" name="Oval 7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01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328" name="TextBox 8"/>
          <p:cNvSpPr txBox="1"/>
          <p:nvPr/>
        </p:nvSpPr>
        <p:spPr>
          <a:xfrm>
            <a:off x="128016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接入层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29" name="TextBox 9"/>
          <p:cNvSpPr txBox="1"/>
          <p:nvPr/>
        </p:nvSpPr>
        <p:spPr>
          <a:xfrm>
            <a:off x="731520" y="2560320"/>
            <a:ext cx="1472692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13 种工业协议统一接入：Modbus / OPC UA / BACnet / S7 / EtherCAT / IEC 104 / DL/T645 等。Driver Execute Only 仅报文解析。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30" name="Rounded Rectangle 10"/>
          <p:cNvSpPr/>
          <p:nvPr/>
        </p:nvSpPr>
        <p:spPr>
          <a:xfrm>
            <a:off x="612648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11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02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332" name="TextBox 12"/>
          <p:cNvSpPr txBox="1"/>
          <p:nvPr/>
        </p:nvSpPr>
        <p:spPr>
          <a:xfrm>
            <a:off x="694944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采集层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33" name="TextBox 13"/>
          <p:cNvSpPr txBox="1"/>
          <p:nvPr/>
        </p:nvSpPr>
        <p:spPr>
          <a:xfrm>
            <a:off x="6400800" y="2560320"/>
            <a:ext cx="1449832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ScanEngine 统一调度内核，EDF 优先级调度，资源配额准入。万 Tag P95 = 1.56ms，SLA 100ms。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34" name="Rounded Rectangle 14"/>
          <p:cNvSpPr/>
          <p:nvPr/>
        </p:nvSpPr>
        <p:spPr>
          <a:xfrm>
            <a:off x="45720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15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03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336" name="TextBox 16"/>
          <p:cNvSpPr txBox="1"/>
          <p:nvPr/>
        </p:nvSpPr>
        <p:spPr>
          <a:xfrm>
            <a:off x="128016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状态层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37" name="TextBox 17"/>
          <p:cNvSpPr txBox="1"/>
          <p:nvPr/>
        </p:nvSpPr>
        <p:spPr>
          <a:xfrm>
            <a:off x="731520" y="4846320"/>
            <a:ext cx="1257808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内存状态模型，COW 快照 + 无锁读路径，读延迟 &lt; 5ms，状态真源单一可信。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38" name="Rounded Rectangle 18"/>
          <p:cNvSpPr/>
          <p:nvPr/>
        </p:nvSpPr>
        <p:spPr>
          <a:xfrm>
            <a:off x="612648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19"/>
          <p:cNvSpPr/>
          <p:nvPr/>
        </p:nvSpPr>
        <p:spPr>
          <a:xfrm>
            <a:off x="635508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04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340" name="TextBox 20"/>
          <p:cNvSpPr txBox="1"/>
          <p:nvPr/>
        </p:nvSpPr>
        <p:spPr>
          <a:xfrm>
            <a:off x="694944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协同层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41" name="TextBox 21"/>
          <p:cNvSpPr txBox="1"/>
          <p:nvPr/>
        </p:nvSpPr>
        <p:spPr>
          <a:xfrm>
            <a:off x="6400800" y="4846320"/>
            <a:ext cx="1306957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EAN 2.0 双传输总线（MQTT v5 + NATS 2.x）+ AI MCP 标准化能力开放（33 Tool + 6 Resource + 13 Prompt）。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42" name="TextBox 22"/>
          <p:cNvSpPr txBox="1"/>
          <p:nvPr/>
        </p:nvSpPr>
        <p:spPr>
          <a:xfrm>
            <a:off x="10515600" y="6400800"/>
            <a:ext cx="13716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 / 29</a:t>
            </a: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24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目录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25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Contents · 目录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27" name="TextBox 5"/>
          <p:cNvSpPr txBox="1"/>
          <p:nvPr/>
        </p:nvSpPr>
        <p:spPr>
          <a:xfrm>
            <a:off x="457200" y="914400"/>
            <a:ext cx="9144000" cy="56705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目录内容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728" name="Rounded Rectangle 6"/>
          <p:cNvSpPr/>
          <p:nvPr/>
        </p:nvSpPr>
        <p:spPr>
          <a:xfrm>
            <a:off x="457200" y="173736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TextBox 7"/>
          <p:cNvSpPr txBox="1"/>
          <p:nvPr/>
        </p:nvSpPr>
        <p:spPr>
          <a:xfrm>
            <a:off x="640080" y="1874519"/>
            <a:ext cx="731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2563EB"/>
                </a:solidFill>
              </a:rPr>
              <a:t>01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730" name="TextBox 8"/>
          <p:cNvSpPr txBox="1"/>
          <p:nvPr/>
        </p:nvSpPr>
        <p:spPr>
          <a:xfrm>
            <a:off x="1463040" y="192024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工业边缘计算的挑战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31" name="TextBox 9"/>
          <p:cNvSpPr txBox="1"/>
          <p:nvPr/>
        </p:nvSpPr>
        <p:spPr>
          <a:xfrm>
            <a:off x="1463040" y="23317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传统网关架构问题与协议接入难题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32" name="Rounded Rectangle 10"/>
          <p:cNvSpPr/>
          <p:nvPr/>
        </p:nvSpPr>
        <p:spPr>
          <a:xfrm>
            <a:off x="6217920" y="173736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TextBox 11"/>
          <p:cNvSpPr txBox="1"/>
          <p:nvPr/>
        </p:nvSpPr>
        <p:spPr>
          <a:xfrm>
            <a:off x="6400800" y="1874519"/>
            <a:ext cx="731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2563EB"/>
                </a:solidFill>
              </a:rPr>
              <a:t>02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734" name="TextBox 12"/>
          <p:cNvSpPr txBox="1"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工业数字底座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35" name="TextBox 13"/>
          <p:cNvSpPr txBox="1"/>
          <p:nvPr/>
        </p:nvSpPr>
        <p:spPr>
          <a:xfrm>
            <a:off x="7223760" y="23317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轻量化网关架构、调度内核与状态模型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36" name="Rounded Rectangle 14"/>
          <p:cNvSpPr/>
          <p:nvPr/>
        </p:nvSpPr>
        <p:spPr>
          <a:xfrm>
            <a:off x="457200" y="315468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TextBox 15"/>
          <p:cNvSpPr txBox="1"/>
          <p:nvPr/>
        </p:nvSpPr>
        <p:spPr>
          <a:xfrm>
            <a:off x="640080" y="3291840"/>
            <a:ext cx="731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2563EB"/>
                </a:solidFill>
              </a:rPr>
              <a:t>03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738" name="TextBox 16"/>
          <p:cNvSpPr txBox="1"/>
          <p:nvPr/>
        </p:nvSpPr>
        <p:spPr>
          <a:xfrm>
            <a:off x="1463040" y="333756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EdgeOS 边缘协调平台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39" name="TextBox 17"/>
          <p:cNvSpPr txBox="1"/>
          <p:nvPr/>
        </p:nvSpPr>
        <p:spPr>
          <a:xfrm>
            <a:off x="1463040" y="374904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多网关协同、能力发现与 AI MCP 协同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40" name="Rounded Rectangle 18"/>
          <p:cNvSpPr/>
          <p:nvPr/>
        </p:nvSpPr>
        <p:spPr>
          <a:xfrm>
            <a:off x="6217920" y="315468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TextBox 19"/>
          <p:cNvSpPr txBox="1"/>
          <p:nvPr/>
        </p:nvSpPr>
        <p:spPr>
          <a:xfrm>
            <a:off x="6400800" y="3291840"/>
            <a:ext cx="731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2563EB"/>
                </a:solidFill>
              </a:rPr>
              <a:t>04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742" name="TextBox 20"/>
          <p:cNvSpPr txBox="1"/>
          <p:nvPr/>
        </p:nvSpPr>
        <p:spPr>
          <a:xfrm>
            <a:off x="7223760" y="333756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工厂应用案例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43" name="TextBox 21"/>
          <p:cNvSpPr txBox="1"/>
          <p:nvPr/>
        </p:nvSpPr>
        <p:spPr>
          <a:xfrm>
            <a:off x="7223760" y="374904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压铸机、注塑机、五轴加工设备等落地实践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44" name="Rounded Rectangle 22"/>
          <p:cNvSpPr/>
          <p:nvPr/>
        </p:nvSpPr>
        <p:spPr>
          <a:xfrm>
            <a:off x="457200" y="4572000"/>
            <a:ext cx="5303520" cy="12344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5" name="TextBox 23"/>
          <p:cNvSpPr txBox="1"/>
          <p:nvPr/>
        </p:nvSpPr>
        <p:spPr>
          <a:xfrm>
            <a:off x="640080" y="4709160"/>
            <a:ext cx="731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2563EB"/>
                </a:solidFill>
              </a:rPr>
              <a:t>05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746" name="TextBox 24"/>
          <p:cNvSpPr txBox="1"/>
          <p:nvPr/>
        </p:nvSpPr>
        <p:spPr>
          <a:xfrm>
            <a:off x="1463040" y="475488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5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EdgeStark 未来展望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47" name="TextBox 25"/>
          <p:cNvSpPr txBox="1"/>
          <p:nvPr/>
        </p:nvSpPr>
        <p:spPr>
          <a:xfrm>
            <a:off x="1463040" y="516636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数字孪生、VR/AR 全息影像与生态路线图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48" name="TextBox 26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3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TextBox 1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0" b="1">
                <a:solidFill>
                  <a:srgbClr val="1A223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BFDBFE"/>
                </a:solidFill>
              </a:rPr>
              <a:t>01</a:t>
            </a:r>
            <a:endParaRPr lang="zh-CN">
              <a:solidFill>
                <a:srgbClr val="BFDBFE"/>
              </a:solidFill>
            </a:endParaRPr>
          </a:p>
        </p:txBody>
      </p:sp>
      <p:sp>
        <p:nvSpPr>
          <p:cNvPr id="751" name="TextBox 2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Section · 01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52" name="TextBox 3"/>
          <p:cNvSpPr txBox="1"/>
          <p:nvPr/>
        </p:nvSpPr>
        <p:spPr>
          <a:xfrm>
            <a:off x="731520" y="2377440"/>
            <a:ext cx="7315200" cy="862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4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工业边缘计算的挑战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753" name="TextBox 4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Challenges in Industrial Edge Computing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754" name="Rectangle 5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传统工业网关在资源、协议、数据与智能化四个维度面临系统性瓶颈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56" name="TextBox 7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4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59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核心问题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60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1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Problem · 核心问题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62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传统网关的四个问题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763" name="Rounded Rectangle 6"/>
          <p:cNvSpPr/>
          <p:nvPr/>
        </p:nvSpPr>
        <p:spPr>
          <a:xfrm>
            <a:off x="45720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Oval 7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01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65" name="TextBox 8"/>
          <p:cNvSpPr txBox="1"/>
          <p:nvPr/>
        </p:nvSpPr>
        <p:spPr>
          <a:xfrm>
            <a:off x="128016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复杂架构导致部署困难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66" name="TextBox 9"/>
          <p:cNvSpPr txBox="1"/>
          <p:nvPr/>
        </p:nvSpPr>
        <p:spPr>
          <a:xfrm>
            <a:off x="731520" y="2560320"/>
            <a:ext cx="4663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微服务 + 容器 + 数据库 + 消息组件的重量级栈，资源占用高，故障链路长。128 MB 级别 ARM 工业网关难以落地。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67" name="Rounded Rectangle 10"/>
          <p:cNvSpPr/>
          <p:nvPr/>
        </p:nvSpPr>
        <p:spPr>
          <a:xfrm>
            <a:off x="612648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Oval 11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02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69" name="TextBox 12"/>
          <p:cNvSpPr txBox="1"/>
          <p:nvPr/>
        </p:nvSpPr>
        <p:spPr>
          <a:xfrm>
            <a:off x="694944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协议驱动各自为政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0" name="TextBox 13"/>
          <p:cNvSpPr txBox="1"/>
          <p:nvPr/>
        </p:nvSpPr>
        <p:spPr>
          <a:xfrm>
            <a:off x="6400800" y="2560320"/>
            <a:ext cx="4663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每个驱动各自维护定时器、重连逻辑与线程缓存，造成资源竞争与异常扩散。单驱动重连风暴可拖垮整个网关。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1" name="Rounded Rectangle 14"/>
          <p:cNvSpPr/>
          <p:nvPr/>
        </p:nvSpPr>
        <p:spPr>
          <a:xfrm>
            <a:off x="45720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Oval 15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03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73" name="TextBox 16"/>
          <p:cNvSpPr txBox="1"/>
          <p:nvPr/>
        </p:nvSpPr>
        <p:spPr>
          <a:xfrm>
            <a:off x="128016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数据各管各的与访问耦合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4" name="TextBox 17"/>
          <p:cNvSpPr txBox="1"/>
          <p:nvPr/>
        </p:nvSpPr>
        <p:spPr>
          <a:xfrm>
            <a:off x="731520" y="4846320"/>
            <a:ext cx="4663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业务直接访问设备，采集与消费强耦合。每次访问占用现场链路，设备通信压力大，响应速度受限。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5" name="Rounded Rectangle 18"/>
          <p:cNvSpPr/>
          <p:nvPr/>
        </p:nvSpPr>
        <p:spPr>
          <a:xfrm>
            <a:off x="612648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Oval 19"/>
          <p:cNvSpPr/>
          <p:nvPr/>
        </p:nvSpPr>
        <p:spPr>
          <a:xfrm>
            <a:off x="635508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04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77" name="TextBox 20"/>
          <p:cNvSpPr txBox="1"/>
          <p:nvPr/>
        </p:nvSpPr>
        <p:spPr>
          <a:xfrm>
            <a:off x="694944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工业数据无法被 AI 理解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8" name="TextBox 21"/>
          <p:cNvSpPr txBox="1"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设备点位、状态、操作能力固化在私有程序逻辑中。AI Agent 无法直接理解设备暴露了什么、状态如何、可执行什么操作。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79" name="TextBox 22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5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82" name="TextBox 2"/>
          <p:cNvSpPr txBox="1"/>
          <p:nvPr/>
        </p:nvSpPr>
        <p:spPr>
          <a:xfrm>
            <a:off x="5943600" y="13716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产品定位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783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TextBox 4"/>
          <p:cNvSpPr txBox="1"/>
          <p:nvPr/>
        </p:nvSpPr>
        <p:spPr>
          <a:xfrm>
            <a:off x="457200" y="64008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Product · 产品定位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85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EdgeCore 是什么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786" name="Rounded Rectangle 6"/>
          <p:cNvSpPr/>
          <p:nvPr/>
        </p:nvSpPr>
        <p:spPr>
          <a:xfrm>
            <a:off x="45720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/>
              <a:t>轻量化工业边缘计算网关，支持 13 种工业协议统一接入，内置 AI MCP 能力开放接口。</a:t>
            </a:r>
            <a:endParaRPr/>
          </a:p>
        </p:txBody>
      </p:sp>
      <p:sp>
        <p:nvSpPr>
          <p:cNvPr id="787" name="Oval 7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01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88" name="TextBox 8"/>
          <p:cNvSpPr txBox="1"/>
          <p:nvPr/>
        </p:nvSpPr>
        <p:spPr>
          <a:xfrm>
            <a:off x="128016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轻量化部署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89" name="TextBox 9"/>
          <p:cNvSpPr txBox="1"/>
          <p:nvPr/>
        </p:nvSpPr>
        <p:spPr>
          <a:xfrm>
            <a:off x="731520" y="2560320"/>
            <a:ext cx="1422400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单二进制静态编译，无外部依赖。最低 128 MB 内存可运行，支持 x86_64 / ARM64 / ARMv7。deb / rpm / tar.gz / systemd 安装。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0" name="Rounded Rectangle 10"/>
          <p:cNvSpPr/>
          <p:nvPr/>
        </p:nvSpPr>
        <p:spPr>
          <a:xfrm>
            <a:off x="612648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Oval 11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02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92" name="TextBox 12"/>
          <p:cNvSpPr txBox="1"/>
          <p:nvPr/>
        </p:nvSpPr>
        <p:spPr>
          <a:xfrm>
            <a:off x="6949440" y="1993391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协议覆盖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3" name="TextBox 13"/>
          <p:cNvSpPr txBox="1"/>
          <p:nvPr/>
        </p:nvSpPr>
        <p:spPr>
          <a:xfrm>
            <a:off x="6400800" y="2560320"/>
            <a:ext cx="1449832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13 种工业协议：Modbus / OPC UA / BACnet / S7 / EtherCAT / IEC 104 / DL/T645 等。Driver Execute Only 架构，仅报文解析。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4" name="Rounded Rectangle 14"/>
          <p:cNvSpPr/>
          <p:nvPr/>
        </p:nvSpPr>
        <p:spPr>
          <a:xfrm>
            <a:off x="45720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Oval 15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03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96" name="TextBox 16"/>
          <p:cNvSpPr txBox="1"/>
          <p:nvPr/>
        </p:nvSpPr>
        <p:spPr>
          <a:xfrm>
            <a:off x="128016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状态真源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7" name="TextBox 17"/>
          <p:cNvSpPr txBox="1"/>
          <p:nvPr/>
        </p:nvSpPr>
        <p:spPr>
          <a:xfrm>
            <a:off x="731520" y="4846320"/>
            <a:ext cx="1257808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内存状态模型，COW 快照 + 无锁读路径，读延迟 &lt; 5ms。ScanEngine EDF 调度，万 Tag P95 = 1.56ms。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8" name="Rounded Rectangle 18"/>
          <p:cNvSpPr/>
          <p:nvPr/>
        </p:nvSpPr>
        <p:spPr>
          <a:xfrm>
            <a:off x="612648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Oval 19"/>
          <p:cNvSpPr/>
          <p:nvPr/>
        </p:nvSpPr>
        <p:spPr>
          <a:xfrm>
            <a:off x="6355080" y="425196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04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800" name="TextBox 20"/>
          <p:cNvSpPr txBox="1"/>
          <p:nvPr/>
        </p:nvSpPr>
        <p:spPr>
          <a:xfrm>
            <a:off x="6949440" y="4279392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能力开放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01" name="TextBox 21"/>
          <p:cNvSpPr txBox="1"/>
          <p:nvPr/>
        </p:nvSpPr>
        <p:spPr>
          <a:xfrm>
            <a:off x="6400800" y="4846320"/>
            <a:ext cx="1306957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MCP 标准协议向 AI Agent 开放工业能力。33 Tool + 6 Resource + 13 Prompt。AI 自主发现设备、查询状态、受控操作。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02" name="TextBox 22"/>
          <p:cNvSpPr txBox="1"/>
          <p:nvPr/>
        </p:nvSpPr>
        <p:spPr>
          <a:xfrm>
            <a:off x="10515600" y="6400800"/>
            <a:ext cx="13716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6 / 29</a:t>
            </a: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8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extBox 1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0" b="1">
                <a:solidFill>
                  <a:srgbClr val="1A223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BFDBFE"/>
                </a:solidFill>
              </a:rPr>
              <a:t>02</a:t>
            </a:r>
            <a:endParaRPr lang="zh-CN">
              <a:solidFill>
                <a:srgbClr val="BFDBFE"/>
              </a:solidFill>
            </a:endParaRPr>
          </a:p>
        </p:txBody>
      </p:sp>
      <p:sp>
        <p:nvSpPr>
          <p:cNvPr id="805" name="TextBox 2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Section · 02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806" name="TextBox 3"/>
          <p:cNvSpPr txBox="1"/>
          <p:nvPr/>
        </p:nvSpPr>
        <p:spPr>
          <a:xfrm>
            <a:off x="731520" y="2377440"/>
            <a:ext cx="7315200" cy="862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4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EdgeCore工业数字底座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807" name="TextBox 4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Industrial Digital Foundation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808" name="Rectangle 5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单二进制、静态编译、低依赖的轻量化工业边缘计算网关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10" name="TextBox 7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7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8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813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总体架构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814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Architecture · 总体架构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816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五层架构模型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817" name="Rounded Rectangle 6"/>
          <p:cNvSpPr/>
          <p:nvPr/>
        </p:nvSpPr>
        <p:spPr>
          <a:xfrm>
            <a:off x="457200" y="1600200"/>
            <a:ext cx="1463040" cy="777240"/>
          </a:xfrm>
          <a:prstGeom prst="roundRect">
            <a:avLst>
              <a:gd name="adj" fmla="val 8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AI / MCP 能力开放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818" name="Rounded Rectangle 7"/>
          <p:cNvSpPr/>
          <p:nvPr/>
        </p:nvSpPr>
        <p:spPr>
          <a:xfrm>
            <a:off x="2103120" y="1600200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TextBox 8"/>
          <p:cNvSpPr txBox="1"/>
          <p:nvPr/>
        </p:nvSpPr>
        <p:spPr>
          <a:xfrm>
            <a:off x="2240279" y="1691640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MCP Server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JSON-RPC / HTTP·SSE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0" name="Rounded Rectangle 9"/>
          <p:cNvSpPr/>
          <p:nvPr/>
        </p:nvSpPr>
        <p:spPr>
          <a:xfrm>
            <a:off x="5257800" y="1600200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TextBox 10"/>
          <p:cNvSpPr txBox="1"/>
          <p:nvPr/>
        </p:nvSpPr>
        <p:spPr>
          <a:xfrm>
            <a:off x="5394960" y="1691640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EAN 2.0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Agent / Capability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2" name="Rounded Rectangle 11"/>
          <p:cNvSpPr/>
          <p:nvPr/>
        </p:nvSpPr>
        <p:spPr>
          <a:xfrm>
            <a:off x="8412480" y="1600200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TextBox 12"/>
          <p:cNvSpPr txBox="1"/>
          <p:nvPr/>
        </p:nvSpPr>
        <p:spPr>
          <a:xfrm>
            <a:off x="8549640" y="1691640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Copilot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协议逆向 / 诊断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4" name="Rounded Rectangle 13"/>
          <p:cNvSpPr/>
          <p:nvPr/>
        </p:nvSpPr>
        <p:spPr>
          <a:xfrm>
            <a:off x="457200" y="2487168"/>
            <a:ext cx="1463040" cy="777240"/>
          </a:xfrm>
          <a:prstGeom prst="roundRect">
            <a:avLst>
              <a:gd name="adj" fmla="val 8000"/>
            </a:avLst>
          </a:prstGeom>
          <a:solidFill>
            <a:srgbClr val="E2E8F0">
              <a:alpha val="100000"/>
            </a:srgbClr>
          </a:solidFill>
          <a:ln w="9525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Business 边缘业务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5" name="Rounded Rectangle 14"/>
          <p:cNvSpPr/>
          <p:nvPr/>
        </p:nvSpPr>
        <p:spPr>
          <a:xfrm>
            <a:off x="2103120" y="2487168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TextBox 15"/>
          <p:cNvSpPr txBox="1"/>
          <p:nvPr/>
        </p:nvSpPr>
        <p:spPr>
          <a:xfrm>
            <a:off x="2240279" y="2578608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虚拟设备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Virtual Shadow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7" name="Rounded Rectangle 16"/>
          <p:cNvSpPr/>
          <p:nvPr/>
        </p:nvSpPr>
        <p:spPr>
          <a:xfrm>
            <a:off x="5257800" y="2487168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TextBox 17"/>
          <p:cNvSpPr txBox="1"/>
          <p:nvPr/>
        </p:nvSpPr>
        <p:spPr>
          <a:xfrm>
            <a:off x="5394960" y="2578608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边缘规则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expr / RMW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29" name="Rounded Rectangle 18"/>
          <p:cNvSpPr/>
          <p:nvPr/>
        </p:nvSpPr>
        <p:spPr>
          <a:xfrm>
            <a:off x="8412480" y="2487168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TextBox 19"/>
          <p:cNvSpPr txBox="1"/>
          <p:nvPr/>
        </p:nvSpPr>
        <p:spPr>
          <a:xfrm>
            <a:off x="8549640" y="2578608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北向通道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MQTT / OPC UA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31" name="Rounded Rectangle 20"/>
          <p:cNvSpPr/>
          <p:nvPr/>
        </p:nvSpPr>
        <p:spPr>
          <a:xfrm>
            <a:off x="457200" y="3374135"/>
            <a:ext cx="1463040" cy="777240"/>
          </a:xfrm>
          <a:prstGeom prst="roundRect">
            <a:avLst>
              <a:gd name="adj" fmla="val 8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ShadowCore 状态真源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832" name="Rounded Rectangle 21"/>
          <p:cNvSpPr/>
          <p:nvPr/>
        </p:nvSpPr>
        <p:spPr>
          <a:xfrm>
            <a:off x="2103120" y="3374135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TextBox 22"/>
          <p:cNvSpPr txBox="1"/>
          <p:nvPr/>
        </p:nvSpPr>
        <p:spPr>
          <a:xfrm>
            <a:off x="2240279" y="3465575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COW 快照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版本化内存态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34" name="Rounded Rectangle 23"/>
          <p:cNvSpPr/>
          <p:nvPr/>
        </p:nvSpPr>
        <p:spPr>
          <a:xfrm>
            <a:off x="5257800" y="3374135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TextBox 24"/>
          <p:cNvSpPr txBox="1"/>
          <p:nvPr/>
        </p:nvSpPr>
        <p:spPr>
          <a:xfrm>
            <a:off x="5394960" y="3465575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通信画像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RTT / 稳定性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36" name="Rounded Rectangle 25"/>
          <p:cNvSpPr/>
          <p:nvPr/>
        </p:nvSpPr>
        <p:spPr>
          <a:xfrm>
            <a:off x="8412480" y="3374135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7" name="TextBox 26"/>
          <p:cNvSpPr txBox="1"/>
          <p:nvPr/>
        </p:nvSpPr>
        <p:spPr>
          <a:xfrm>
            <a:off x="8549640" y="3465575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无锁读路径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统一数据底座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38" name="Rounded Rectangle 27"/>
          <p:cNvSpPr/>
          <p:nvPr/>
        </p:nvSpPr>
        <p:spPr>
          <a:xfrm>
            <a:off x="457200" y="4261103"/>
            <a:ext cx="1463040" cy="777240"/>
          </a:xfrm>
          <a:prstGeom prst="roundRect">
            <a:avLst>
              <a:gd name="adj" fmla="val 8000"/>
            </a:avLst>
          </a:prstGeom>
          <a:solidFill>
            <a:srgbClr val="E2E8F0">
              <a:alpha val="100000"/>
            </a:srgbClr>
          </a:solidFill>
          <a:ln w="9525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ScanEngine 调度内核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39" name="Rounded Rectangle 28"/>
          <p:cNvSpPr/>
          <p:nvPr/>
        </p:nvSpPr>
        <p:spPr>
          <a:xfrm>
            <a:off x="2103120" y="4261103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TextBox 29"/>
          <p:cNvSpPr txBox="1"/>
          <p:nvPr/>
        </p:nvSpPr>
        <p:spPr>
          <a:xfrm>
            <a:off x="2240279" y="4352543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EDF 调度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最早截止优先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1" name="Rounded Rectangle 30"/>
          <p:cNvSpPr/>
          <p:nvPr/>
        </p:nvSpPr>
        <p:spPr>
          <a:xfrm>
            <a:off x="5257800" y="4261103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2" name="TextBox 31"/>
          <p:cNvSpPr txBox="1"/>
          <p:nvPr/>
        </p:nvSpPr>
        <p:spPr>
          <a:xfrm>
            <a:off x="5394960" y="4352543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资源配额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限流 / 熔断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3" name="Rounded Rectangle 32"/>
          <p:cNvSpPr/>
          <p:nvPr/>
        </p:nvSpPr>
        <p:spPr>
          <a:xfrm>
            <a:off x="8412480" y="4261103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TextBox 33"/>
          <p:cNvSpPr txBox="1"/>
          <p:nvPr/>
        </p:nvSpPr>
        <p:spPr>
          <a:xfrm>
            <a:off x="8549640" y="4352543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自适应退避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失败恢复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5" name="Rounded Rectangle 34"/>
          <p:cNvSpPr/>
          <p:nvPr/>
        </p:nvSpPr>
        <p:spPr>
          <a:xfrm>
            <a:off x="457200" y="5148071"/>
            <a:ext cx="1463040" cy="777240"/>
          </a:xfrm>
          <a:prstGeom prst="roundRect">
            <a:avLst>
              <a:gd name="adj" fmla="val 8000"/>
            </a:avLst>
          </a:prstGeom>
          <a:solidFill>
            <a:srgbClr val="E2E8F0">
              <a:alpha val="100000"/>
            </a:srgbClr>
          </a:solidFill>
          <a:ln w="9525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Protocol 协议驱动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6" name="Rounded Rectangle 35"/>
          <p:cNvSpPr/>
          <p:nvPr/>
        </p:nvSpPr>
        <p:spPr>
          <a:xfrm>
            <a:off x="2103120" y="5148071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7" name="TextBox 36"/>
          <p:cNvSpPr txBox="1"/>
          <p:nvPr/>
        </p:nvSpPr>
        <p:spPr>
          <a:xfrm>
            <a:off x="2240279" y="5239511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Driver Execute Only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仅报文解析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8" name="Rounded Rectangle 37"/>
          <p:cNvSpPr/>
          <p:nvPr/>
        </p:nvSpPr>
        <p:spPr>
          <a:xfrm>
            <a:off x="5257800" y="5148071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9" name="TextBox 38"/>
          <p:cNvSpPr txBox="1"/>
          <p:nvPr/>
        </p:nvSpPr>
        <p:spPr>
          <a:xfrm>
            <a:off x="5394960" y="5239511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13 种协议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/ S7 / OPC UA...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50" name="Rounded Rectangle 39"/>
          <p:cNvSpPr/>
          <p:nvPr/>
        </p:nvSpPr>
        <p:spPr>
          <a:xfrm>
            <a:off x="8412480" y="5148071"/>
            <a:ext cx="3063240" cy="7772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1" name="TextBox 40"/>
          <p:cNvSpPr txBox="1"/>
          <p:nvPr/>
        </p:nvSpPr>
        <p:spPr>
          <a:xfrm>
            <a:off x="8549640" y="5239511"/>
            <a:ext cx="2788920" cy="59435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ConnectionManager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统一连接治理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52" name="TextBox 41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8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8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855" name="TextBox 2"/>
          <p:cNvSpPr txBox="1"/>
          <p:nvPr/>
        </p:nvSpPr>
        <p:spPr>
          <a:xfrm>
            <a:off x="5943600" y="13716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协议支持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856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TextBox 4"/>
          <p:cNvSpPr txBox="1"/>
          <p:nvPr/>
        </p:nvSpPr>
        <p:spPr>
          <a:xfrm>
            <a:off x="457200" y="64008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Protocols · 工业协议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858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13 种工业协议统一接入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859" name="TextBox 41"/>
          <p:cNvSpPr txBox="1"/>
          <p:nvPr/>
        </p:nvSpPr>
        <p:spPr>
          <a:xfrm>
            <a:off x="10515600" y="6400800"/>
            <a:ext cx="13716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9 / 29</a:t>
            </a:r>
            <a:endParaRPr lang="zh-CN">
              <a:solidFill>
                <a:srgbClr val="64748B"/>
              </a:solidFill>
            </a:endParaRPr>
          </a:p>
        </p:txBody>
      </p:sp>
      <p:graphicFrame>
        <p:nvGraphicFramePr>
          <p:cNvPr id="860" name=""/>
          <p:cNvGraphicFramePr/>
          <p:nvPr/>
        </p:nvGraphicFramePr>
        <p:xfrm>
          <a:off x="762000" y="1587500"/>
          <a:ext cx="10668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val="1"/>
                    </a:ext>
                  </a:extLst>
                </a:gridCol>
                <a:gridCol w="2667000">
                  <a:extLst>
                    <a:ext uri="{9D8B030D-6E8A-4147-A177-3AD203B41FA5}">
                      <a16:colId val="2"/>
                    </a:ext>
                  </a:extLst>
                </a:gridCol>
                <a:gridCol w="2667000">
                  <a:extLst>
                    <a:ext uri="{9D8B030D-6E8A-4147-A177-3AD203B41FA5}">
                      <a16:colId val="3"/>
                    </a:ext>
                  </a:extLst>
                </a:gridCol>
                <a:gridCol w="266700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协议名称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注册标识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测试覆盖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典型设备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Modbus TCP/RTU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modbus-tcp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65.9%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PLC / 仪表 / 变频器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OPC UA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opc-ua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47.9%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西门子 / 罗克韦尔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BACnet 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bacnet-ip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66.1%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楼宇暖通 / 消防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Siemens S7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61.3%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S7-200/300/400/1200/1500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EtherNet/IP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ethernet-ip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62.2%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AB / 罗克韦尔 PLC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6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Omron FINS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omron-fins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43.3%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欧姆龙 CJ/CP 系列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7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SNMP v2c/v3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snmp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63.7%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交换机 / 路由器 / UPS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8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IEC 60870-5-104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iec-104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60.2%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电力远动 / 配电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9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DL/T645-2007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dlt645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76.5%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电能表 / 水气热表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0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Mitsubishi SLMP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mitsubishi-slmp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70.7%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三菱 Q/L 系列 PLC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1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Profinet IO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profinet-io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55.9%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西门子 ET200 / S7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2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KNXnet/IP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knxnet-ip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77.2%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智能照明 / 窗帘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3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EtherCAT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ethercat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87.8%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伺服电机 / 运动控制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6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核心技术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7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Core Technology · 核心技术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两大核心引擎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20" name="Rounded Rectangle 6"/>
          <p:cNvSpPr/>
          <p:nvPr/>
        </p:nvSpPr>
        <p:spPr>
          <a:xfrm>
            <a:off x="457200" y="173736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/>
          <p:cNvSpPr txBox="1"/>
          <p:nvPr/>
        </p:nvSpPr>
        <p:spPr>
          <a:xfrm>
            <a:off x="640080" y="1874519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调度内核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640080" y="2194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0F172A"/>
                </a:solidFill>
              </a:rPr>
              <a:t>ScanEngine 统一调度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将所有设备的采集任务收拢到单一调度内核，在集中式决策下实现周期控制、优先级、限流与失败恢复。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777240" y="33832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1005840" y="338328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EDF 最早截止优先：常数松弛截止期 d = r + 50ms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6" name="TextBox 12"/>
          <p:cNvSpPr txBox="1"/>
          <p:nvPr/>
        </p:nvSpPr>
        <p:spPr>
          <a:xfrm>
            <a:off x="777240" y="388620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1005840" y="388620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四级优先级动力学：miss +2、success +1、fail -1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8" name="TextBox 14"/>
          <p:cNvSpPr txBox="1"/>
          <p:nvPr/>
        </p:nvSpPr>
        <p:spPr>
          <a:xfrm>
            <a:off x="777240" y="438912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29" name="TextBox 15"/>
          <p:cNvSpPr txBox="1"/>
          <p:nvPr/>
        </p:nvSpPr>
        <p:spPr>
          <a:xfrm>
            <a:off x="1005840" y="43891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资源配额准入：goroutine 2048 / connection 500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" name="TextBox 16"/>
          <p:cNvSpPr txBox="1"/>
          <p:nvPr/>
        </p:nvSpPr>
        <p:spPr>
          <a:xfrm>
            <a:off x="777240" y="489204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1005840" y="48920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三级令牌背压：全局 + 设备 + 协议令牌桶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2" name="TextBox 18"/>
          <p:cNvSpPr txBox="1"/>
          <p:nvPr/>
        </p:nvSpPr>
        <p:spPr>
          <a:xfrm>
            <a:off x="777240" y="539496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1005840" y="539496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GC 联动降速：STW 雪崩防护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4" name="Rounded Rectangle 20"/>
          <p:cNvSpPr/>
          <p:nvPr/>
        </p:nvSpPr>
        <p:spPr>
          <a:xfrm>
            <a:off x="6126480" y="173736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1"/>
          <p:cNvSpPr txBox="1"/>
          <p:nvPr/>
        </p:nvSpPr>
        <p:spPr>
          <a:xfrm>
            <a:off x="6309360" y="1874519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状态真源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36" name="TextBox 22"/>
          <p:cNvSpPr txBox="1"/>
          <p:nvPr/>
        </p:nvSpPr>
        <p:spPr>
          <a:xfrm>
            <a:off x="6309360" y="2194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0F172A"/>
                </a:solidFill>
              </a:rPr>
              <a:t>ShadowCore 实时状态模型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37" name="TextBox 23"/>
          <p:cNvSpPr txBox="1"/>
          <p:nvPr/>
        </p:nvSpPr>
        <p:spPr>
          <a:xfrm>
            <a:off x="6309360" y="2743200"/>
            <a:ext cx="5029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以版本化 COW 内存快照作为唯一数据真源（SoT），解耦南向采集与北向消费，热路径无锁。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8" name="TextBox 24"/>
          <p:cNvSpPr txBox="1"/>
          <p:nvPr/>
        </p:nvSpPr>
        <p:spPr>
          <a:xfrm>
            <a:off x="6446520" y="33832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9" name="TextBox 25"/>
          <p:cNvSpPr txBox="1"/>
          <p:nvPr/>
        </p:nvSpPr>
        <p:spPr>
          <a:xfrm>
            <a:off x="6675120" y="338328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写时复制快照：单锁批量 + COW 更新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" name="TextBox 26"/>
          <p:cNvSpPr txBox="1"/>
          <p:nvPr/>
        </p:nvSpPr>
        <p:spPr>
          <a:xfrm>
            <a:off x="6446520" y="388620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1" name="TextBox 27"/>
          <p:cNvSpPr txBox="1"/>
          <p:nvPr/>
        </p:nvSpPr>
        <p:spPr>
          <a:xfrm>
            <a:off x="6675120" y="388620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无锁读路径：UI / OPC UA / 北向 / AI 统一读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2" name="TextBox 28"/>
          <p:cNvSpPr txBox="1"/>
          <p:nvPr/>
        </p:nvSpPr>
        <p:spPr>
          <a:xfrm>
            <a:off x="6446520" y="438912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3" name="TextBox 29"/>
          <p:cNvSpPr txBox="1"/>
          <p:nvPr/>
        </p:nvSpPr>
        <p:spPr>
          <a:xfrm>
            <a:off x="6675120" y="43891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ShadowIngress：4096 环形缓冲 + 8ms 批量 flush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" name="TextBox 30"/>
          <p:cNvSpPr txBox="1"/>
          <p:nvPr/>
        </p:nvSpPr>
        <p:spPr>
          <a:xfrm>
            <a:off x="6446520" y="489204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5" name="TextBox 31"/>
          <p:cNvSpPr txBox="1"/>
          <p:nvPr/>
        </p:nvSpPr>
        <p:spPr>
          <a:xfrm>
            <a:off x="6675120" y="489204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虚拟影子设备：跨设备公式衍生计算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" name="TextBox 32"/>
          <p:cNvSpPr txBox="1"/>
          <p:nvPr/>
        </p:nvSpPr>
        <p:spPr>
          <a:xfrm>
            <a:off x="6446520" y="539496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7" name="TextBox 33"/>
          <p:cNvSpPr txBox="1"/>
          <p:nvPr/>
        </p:nvSpPr>
        <p:spPr>
          <a:xfrm>
            <a:off x="6675120" y="539496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边缘规则引擎：expr + RMW 位操作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" name="TextBox 34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10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1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性能验证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Performance · 性能验证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4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EdgeCore 关键性能指标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55" name="Rounded Rectangle 6"/>
          <p:cNvSpPr/>
          <p:nvPr/>
        </p:nvSpPr>
        <p:spPr>
          <a:xfrm>
            <a:off x="45720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7"/>
          <p:cNvSpPr txBox="1"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调度延迟 P95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" name="TextBox 8"/>
          <p:cNvSpPr txBox="1"/>
          <p:nvPr/>
        </p:nvSpPr>
        <p:spPr>
          <a:xfrm>
            <a:off x="640080" y="224028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1.56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8" name="TextBox 9"/>
          <p:cNvSpPr txBox="1"/>
          <p:nvPr/>
        </p:nvSpPr>
        <p:spPr>
          <a:xfrm>
            <a:off x="1664208" y="2423160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ms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59" name="TextBox 10"/>
          <p:cNvSpPr txBox="1"/>
          <p:nvPr/>
        </p:nvSpPr>
        <p:spPr>
          <a:xfrm>
            <a:off x="640080" y="310896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万 Tag 场景，SLA 门限 100ms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0" name="Rounded Rectangle 11"/>
          <p:cNvSpPr/>
          <p:nvPr/>
        </p:nvSpPr>
        <p:spPr>
          <a:xfrm>
            <a:off x="329184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2"/>
          <p:cNvSpPr txBox="1"/>
          <p:nvPr/>
        </p:nvSpPr>
        <p:spPr>
          <a:xfrm>
            <a:off x="3474720" y="192024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任务丢失 (miss)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" name="TextBox 13"/>
          <p:cNvSpPr txBox="1"/>
          <p:nvPr/>
        </p:nvSpPr>
        <p:spPr>
          <a:xfrm>
            <a:off x="3474720" y="224028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0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" name="TextBox 14"/>
          <p:cNvSpPr txBox="1"/>
          <p:nvPr/>
        </p:nvSpPr>
        <p:spPr>
          <a:xfrm>
            <a:off x="3474720" y="310896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10,000 Tag @1s 零 miss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4" name="Rounded Rectangle 15"/>
          <p:cNvSpPr/>
          <p:nvPr/>
        </p:nvSpPr>
        <p:spPr>
          <a:xfrm>
            <a:off x="612648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6"/>
          <p:cNvSpPr txBox="1"/>
          <p:nvPr/>
        </p:nvSpPr>
        <p:spPr>
          <a:xfrm>
            <a:off x="6309360" y="192024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吞吐量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6" name="TextBox 17"/>
          <p:cNvSpPr txBox="1"/>
          <p:nvPr/>
        </p:nvSpPr>
        <p:spPr>
          <a:xfrm>
            <a:off x="6309360" y="224028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9823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7" name="TextBox 18"/>
          <p:cNvSpPr txBox="1"/>
          <p:nvPr/>
        </p:nvSpPr>
        <p:spPr>
          <a:xfrm>
            <a:off x="7333488" y="2423160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pts/s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68" name="TextBox 19"/>
          <p:cNvSpPr txBox="1"/>
          <p:nvPr/>
        </p:nvSpPr>
        <p:spPr>
          <a:xfrm>
            <a:off x="6309360" y="310896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ARM64 RK3588 实测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" name="Rounded Rectangle 20"/>
          <p:cNvSpPr/>
          <p:nvPr/>
        </p:nvSpPr>
        <p:spPr>
          <a:xfrm>
            <a:off x="896112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21"/>
          <p:cNvSpPr txBox="1"/>
          <p:nvPr/>
        </p:nvSpPr>
        <p:spPr>
          <a:xfrm>
            <a:off x="9144000" y="1920240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内存漂移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1" name="TextBox 22"/>
          <p:cNvSpPr txBox="1"/>
          <p:nvPr/>
        </p:nvSpPr>
        <p:spPr>
          <a:xfrm>
            <a:off x="9144000" y="2240280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0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2" name="TextBox 23"/>
          <p:cNvSpPr txBox="1"/>
          <p:nvPr/>
        </p:nvSpPr>
        <p:spPr>
          <a:xfrm>
            <a:off x="9400032" y="2423160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%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73" name="TextBox 24"/>
          <p:cNvSpPr txBox="1"/>
          <p:nvPr/>
        </p:nvSpPr>
        <p:spPr>
          <a:xfrm>
            <a:off x="9144000" y="310896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长稳 Soak 0% 漂移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4" name="Rounded Rectangle 25"/>
          <p:cNvSpPr/>
          <p:nvPr/>
        </p:nvSpPr>
        <p:spPr>
          <a:xfrm>
            <a:off x="45720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6"/>
          <p:cNvSpPr txBox="1"/>
          <p:nvPr/>
        </p:nvSpPr>
        <p:spPr>
          <a:xfrm>
            <a:off x="640080" y="425195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最低内存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6" name="TextBox 27"/>
          <p:cNvSpPr txBox="1"/>
          <p:nvPr/>
        </p:nvSpPr>
        <p:spPr>
          <a:xfrm>
            <a:off x="640080" y="4571999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128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7" name="TextBox 28"/>
          <p:cNvSpPr txBox="1"/>
          <p:nvPr/>
        </p:nvSpPr>
        <p:spPr>
          <a:xfrm>
            <a:off x="1408176" y="4754879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MB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78" name="TextBox 29"/>
          <p:cNvSpPr txBox="1"/>
          <p:nvPr/>
        </p:nvSpPr>
        <p:spPr>
          <a:xfrm>
            <a:off x="640080" y="5440679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ARM 工业网关可运行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9" name="Rounded Rectangle 30"/>
          <p:cNvSpPr/>
          <p:nvPr/>
        </p:nvSpPr>
        <p:spPr>
          <a:xfrm>
            <a:off x="329184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31"/>
          <p:cNvSpPr txBox="1"/>
          <p:nvPr/>
        </p:nvSpPr>
        <p:spPr>
          <a:xfrm>
            <a:off x="3474720" y="425195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协议覆盖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1" name="TextBox 32"/>
          <p:cNvSpPr txBox="1"/>
          <p:nvPr/>
        </p:nvSpPr>
        <p:spPr>
          <a:xfrm>
            <a:off x="3474720" y="4571999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13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82" name="TextBox 33"/>
          <p:cNvSpPr txBox="1"/>
          <p:nvPr/>
        </p:nvSpPr>
        <p:spPr>
          <a:xfrm>
            <a:off x="3986784" y="4754879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种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83" name="TextBox 34"/>
          <p:cNvSpPr txBox="1"/>
          <p:nvPr/>
        </p:nvSpPr>
        <p:spPr>
          <a:xfrm>
            <a:off x="3474720" y="5440679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/ S7 / OPC UA...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4" name="Rounded Rectangle 35"/>
          <p:cNvSpPr/>
          <p:nvPr/>
        </p:nvSpPr>
        <p:spPr>
          <a:xfrm>
            <a:off x="612648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36"/>
          <p:cNvSpPr txBox="1"/>
          <p:nvPr/>
        </p:nvSpPr>
        <p:spPr>
          <a:xfrm>
            <a:off x="6309360" y="425195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读延迟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6" name="TextBox 37"/>
          <p:cNvSpPr txBox="1"/>
          <p:nvPr/>
        </p:nvSpPr>
        <p:spPr>
          <a:xfrm>
            <a:off x="6309360" y="4571999"/>
            <a:ext cx="2286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5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87" name="TextBox 38"/>
          <p:cNvSpPr txBox="1"/>
          <p:nvPr/>
        </p:nvSpPr>
        <p:spPr>
          <a:xfrm>
            <a:off x="6565392" y="4754879"/>
            <a:ext cx="914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ms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88" name="TextBox 39"/>
          <p:cNvSpPr txBox="1"/>
          <p:nvPr/>
        </p:nvSpPr>
        <p:spPr>
          <a:xfrm>
            <a:off x="6309360" y="5440679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较直接访问 PLC 提速 10x+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89" name="Rounded Rectangle 40"/>
          <p:cNvSpPr/>
          <p:nvPr/>
        </p:nvSpPr>
        <p:spPr>
          <a:xfrm>
            <a:off x="896112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41"/>
          <p:cNvSpPr txBox="1"/>
          <p:nvPr/>
        </p:nvSpPr>
        <p:spPr>
          <a:xfrm>
            <a:off x="9144000" y="425195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驱动测试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91" name="TextBox 42"/>
          <p:cNvSpPr txBox="1"/>
          <p:nvPr/>
        </p:nvSpPr>
        <p:spPr>
          <a:xfrm>
            <a:off x="9144000" y="4571999"/>
            <a:ext cx="22860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36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2563EB"/>
                </a:solidFill>
              </a:rPr>
              <a:t>22/22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92" name="TextBox 43"/>
          <p:cNvSpPr txBox="1"/>
          <p:nvPr/>
        </p:nvSpPr>
        <p:spPr>
          <a:xfrm>
            <a:off x="9144000" y="5440679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全量回归 PASS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93" name="TextBox 44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11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0" b="1">
                <a:solidFill>
                  <a:srgbClr val="1A223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03</a:t>
            </a:r>
            <a:endParaRPr lang="zh-CN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6" name="TextBox 2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Section · 03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97" name="TextBox 3"/>
          <p:cNvSpPr txBox="1"/>
          <p:nvPr/>
        </p:nvSpPr>
        <p:spPr>
          <a:xfrm>
            <a:off x="731520" y="2377440"/>
            <a:ext cx="7315200" cy="862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4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EdgeOS边缘协调平台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Edge Coordination Platform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多网关协同、能力发现、AI MCP 运行时与安全治理的协同平台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01" name="TextBox 7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12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04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平台架构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EdgeOS Architecture · 平台架构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107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EdgeOS 架构概览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108" name="Rounded Rectangle 6"/>
          <p:cNvSpPr/>
          <p:nvPr/>
        </p:nvSpPr>
        <p:spPr>
          <a:xfrm>
            <a:off x="457200" y="1600200"/>
            <a:ext cx="1280160" cy="960120"/>
          </a:xfrm>
          <a:prstGeom prst="roundRect">
            <a:avLst>
              <a:gd name="adj" fmla="val 6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治理层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09" name="Rounded Rectangle 7"/>
          <p:cNvSpPr/>
          <p:nvPr/>
        </p:nvSpPr>
        <p:spPr>
          <a:xfrm>
            <a:off x="1920240" y="160020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8"/>
          <p:cNvSpPr txBox="1"/>
          <p:nvPr/>
        </p:nvSpPr>
        <p:spPr>
          <a:xfrm>
            <a:off x="2057400" y="170992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权限分区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ACL / 多租户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11" name="Rounded Rectangle 9"/>
          <p:cNvSpPr/>
          <p:nvPr/>
        </p:nvSpPr>
        <p:spPr>
          <a:xfrm>
            <a:off x="5257800" y="160020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0"/>
          <p:cNvSpPr txBox="1"/>
          <p:nvPr/>
        </p:nvSpPr>
        <p:spPr>
          <a:xfrm>
            <a:off x="5394960" y="170992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审计记录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全程追溯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13" name="Rounded Rectangle 11"/>
          <p:cNvSpPr/>
          <p:nvPr/>
        </p:nvSpPr>
        <p:spPr>
          <a:xfrm>
            <a:off x="8595360" y="160020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2"/>
          <p:cNvSpPr txBox="1"/>
          <p:nvPr/>
        </p:nvSpPr>
        <p:spPr>
          <a:xfrm>
            <a:off x="8732520" y="170992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Metrics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invoke / latency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15" name="Rounded Rectangle 13"/>
          <p:cNvSpPr/>
          <p:nvPr/>
        </p:nvSpPr>
        <p:spPr>
          <a:xfrm>
            <a:off x="457200" y="2697480"/>
            <a:ext cx="1280160" cy="960120"/>
          </a:xfrm>
          <a:prstGeom prst="roundRect">
            <a:avLst>
              <a:gd name="adj" fmla="val 6000"/>
            </a:avLst>
          </a:prstGeom>
          <a:solidFill>
            <a:srgbClr val="E2E8F0">
              <a:alpha val="100000"/>
            </a:srgbClr>
          </a:solidFill>
          <a:ln w="9525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编排层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16" name="Rounded Rectangle 14"/>
          <p:cNvSpPr/>
          <p:nvPr/>
        </p:nvSpPr>
        <p:spPr>
          <a:xfrm>
            <a:off x="1920240" y="269748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5"/>
          <p:cNvSpPr txBox="1"/>
          <p:nvPr/>
        </p:nvSpPr>
        <p:spPr>
          <a:xfrm>
            <a:off x="2057400" y="280720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Workflow Center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Planner 编排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18" name="Rounded Rectangle 16"/>
          <p:cNvSpPr/>
          <p:nvPr/>
        </p:nvSpPr>
        <p:spPr>
          <a:xfrm>
            <a:off x="5257800" y="269748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7"/>
          <p:cNvSpPr txBox="1"/>
          <p:nvPr/>
        </p:nvSpPr>
        <p:spPr>
          <a:xfrm>
            <a:off x="5394960" y="280720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Scheduler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优先级 / 重试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20" name="Rounded Rectangle 18"/>
          <p:cNvSpPr/>
          <p:nvPr/>
        </p:nvSpPr>
        <p:spPr>
          <a:xfrm>
            <a:off x="8595360" y="269748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9"/>
          <p:cNvSpPr txBox="1"/>
          <p:nvPr/>
        </p:nvSpPr>
        <p:spPr>
          <a:xfrm>
            <a:off x="8732520" y="280720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Resource Manager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工业资源锁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22" name="Rounded Rectangle 20"/>
          <p:cNvSpPr/>
          <p:nvPr/>
        </p:nvSpPr>
        <p:spPr>
          <a:xfrm>
            <a:off x="457200" y="3794760"/>
            <a:ext cx="1280160" cy="960120"/>
          </a:xfrm>
          <a:prstGeom prst="roundRect">
            <a:avLst>
              <a:gd name="adj" fmla="val 6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核心服务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23" name="Rounded Rectangle 21"/>
          <p:cNvSpPr/>
          <p:nvPr/>
        </p:nvSpPr>
        <p:spPr>
          <a:xfrm>
            <a:off x="1920240" y="379476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22"/>
          <p:cNvSpPr txBox="1"/>
          <p:nvPr/>
        </p:nvSpPr>
        <p:spPr>
          <a:xfrm>
            <a:off x="2057400" y="390448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Discovery Center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Agent / Capability 索引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25" name="Rounded Rectangle 23"/>
          <p:cNvSpPr/>
          <p:nvPr/>
        </p:nvSpPr>
        <p:spPr>
          <a:xfrm>
            <a:off x="5257800" y="379476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24"/>
          <p:cNvSpPr txBox="1"/>
          <p:nvPr/>
        </p:nvSpPr>
        <p:spPr>
          <a:xfrm>
            <a:off x="5394960" y="390448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Invoke Orchestrator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跨节点调用编排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27" name="Rounded Rectangle 25"/>
          <p:cNvSpPr/>
          <p:nvPr/>
        </p:nvSpPr>
        <p:spPr>
          <a:xfrm>
            <a:off x="8595360" y="379476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26"/>
          <p:cNvSpPr txBox="1"/>
          <p:nvPr/>
        </p:nvSpPr>
        <p:spPr>
          <a:xfrm>
            <a:off x="8732520" y="390448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Event Center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事件订阅 / 路由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29" name="Rounded Rectangle 27"/>
          <p:cNvSpPr/>
          <p:nvPr/>
        </p:nvSpPr>
        <p:spPr>
          <a:xfrm>
            <a:off x="457200" y="4892040"/>
            <a:ext cx="1280160" cy="960120"/>
          </a:xfrm>
          <a:prstGeom prst="roundRect">
            <a:avLst>
              <a:gd name="adj" fmla="val 6000"/>
            </a:avLst>
          </a:prstGeom>
          <a:solidFill>
            <a:srgbClr val="E2E8F0">
              <a:alpha val="100000"/>
            </a:srgbClr>
          </a:solidFill>
          <a:ln w="9525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高可用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30" name="Rounded Rectangle 28"/>
          <p:cNvSpPr/>
          <p:nvPr/>
        </p:nvSpPr>
        <p:spPr>
          <a:xfrm>
            <a:off x="1920240" y="489204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29"/>
          <p:cNvSpPr txBox="1"/>
          <p:nvPr/>
        </p:nvSpPr>
        <p:spPr>
          <a:xfrm>
            <a:off x="2057400" y="500176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双母皇模式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主备自动切换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32" name="Rounded Rectangle 30"/>
          <p:cNvSpPr/>
          <p:nvPr/>
        </p:nvSpPr>
        <p:spPr>
          <a:xfrm>
            <a:off x="5257800" y="489204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31"/>
          <p:cNvSpPr txBox="1"/>
          <p:nvPr/>
        </p:nvSpPr>
        <p:spPr>
          <a:xfrm>
            <a:off x="5394960" y="500176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MQTT / NATS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双传输消息总线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34" name="Rounded Rectangle 32"/>
          <p:cNvSpPr/>
          <p:nvPr/>
        </p:nvSpPr>
        <p:spPr>
          <a:xfrm>
            <a:off x="8595360" y="4892040"/>
            <a:ext cx="3246120" cy="96012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E2E8F0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33"/>
          <p:cNvSpPr txBox="1"/>
          <p:nvPr/>
        </p:nvSpPr>
        <p:spPr>
          <a:xfrm>
            <a:off x="8732520" y="5001768"/>
            <a:ext cx="2971800" cy="7406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MCP Runtime</a:t>
            </a:r>
            <a:endParaRPr lang="zh-CN">
              <a:solidFill>
                <a:srgbClr val="1E293B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协同运行时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36" name="TextBox 34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13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39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EAN 2.0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EAN 2.0 · 边缘 AI 助手网络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142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EAN 2.0 统一能力协议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640080" y="164592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7"/>
          <p:cNvSpPr/>
          <p:nvPr/>
        </p:nvSpPr>
        <p:spPr>
          <a:xfrm>
            <a:off x="1325880" y="178308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A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45" name="TextBox 8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Agent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46" name="TextBox 9"/>
          <p:cNvSpPr txBox="1"/>
          <p:nvPr/>
        </p:nvSpPr>
        <p:spPr>
          <a:xfrm>
            <a:off x="731519" y="2560320"/>
            <a:ext cx="1645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网关上线/下线</a:t>
            </a:r>
            <a:endParaRPr lang="zh-CN" b="1">
              <a:solidFill>
                <a:srgbClr val="0F172A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心跳保活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47" name="TextBox 10"/>
          <p:cNvSpPr txBox="1"/>
          <p:nvPr/>
        </p:nvSpPr>
        <p:spPr>
          <a:xfrm>
            <a:off x="2487168" y="2103120"/>
            <a:ext cx="320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→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48" name="Rounded Rectangle 11"/>
          <p:cNvSpPr/>
          <p:nvPr/>
        </p:nvSpPr>
        <p:spPr>
          <a:xfrm>
            <a:off x="2788920" y="164592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2"/>
          <p:cNvSpPr/>
          <p:nvPr/>
        </p:nvSpPr>
        <p:spPr>
          <a:xfrm>
            <a:off x="3474720" y="178308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C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50" name="TextBox 13"/>
          <p:cNvSpPr txBox="1"/>
          <p:nvPr/>
        </p:nvSpPr>
        <p:spPr>
          <a:xfrm>
            <a:off x="2788920" y="2286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Capability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51" name="TextBox 14"/>
          <p:cNvSpPr txBox="1"/>
          <p:nvPr/>
        </p:nvSpPr>
        <p:spPr>
          <a:xfrm>
            <a:off x="2880360" y="2560320"/>
            <a:ext cx="1645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63 条原生能力</a:t>
            </a:r>
            <a:endParaRPr lang="zh-CN" b="1">
              <a:solidFill>
                <a:srgbClr val="0F172A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7 统一 MCP 工具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52" name="TextBox 15"/>
          <p:cNvSpPr txBox="1"/>
          <p:nvPr/>
        </p:nvSpPr>
        <p:spPr>
          <a:xfrm>
            <a:off x="4636007" y="2103120"/>
            <a:ext cx="320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→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53" name="Rounded Rectangle 16"/>
          <p:cNvSpPr/>
          <p:nvPr/>
        </p:nvSpPr>
        <p:spPr>
          <a:xfrm>
            <a:off x="4937760" y="164592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7"/>
          <p:cNvSpPr/>
          <p:nvPr/>
        </p:nvSpPr>
        <p:spPr>
          <a:xfrm>
            <a:off x="5623560" y="178308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D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55" name="TextBox 18"/>
          <p:cNvSpPr txBox="1"/>
          <p:nvPr/>
        </p:nvSpPr>
        <p:spPr>
          <a:xfrm>
            <a:off x="4937760" y="2286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Discovery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56" name="TextBox 19"/>
          <p:cNvSpPr txBox="1"/>
          <p:nvPr/>
        </p:nvSpPr>
        <p:spPr>
          <a:xfrm>
            <a:off x="5029200" y="2560320"/>
            <a:ext cx="1645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全局索引</a:t>
            </a:r>
            <a:endParaRPr lang="zh-CN" b="1">
              <a:solidFill>
                <a:srgbClr val="0F172A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按需检索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57" name="TextBox 20"/>
          <p:cNvSpPr txBox="1"/>
          <p:nvPr/>
        </p:nvSpPr>
        <p:spPr>
          <a:xfrm>
            <a:off x="6784848" y="2103120"/>
            <a:ext cx="320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→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58" name="Rounded Rectangle 21"/>
          <p:cNvSpPr/>
          <p:nvPr/>
        </p:nvSpPr>
        <p:spPr>
          <a:xfrm>
            <a:off x="7086600" y="164592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22"/>
          <p:cNvSpPr/>
          <p:nvPr/>
        </p:nvSpPr>
        <p:spPr>
          <a:xfrm>
            <a:off x="7772400" y="178308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I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60" name="TextBox 23"/>
          <p:cNvSpPr txBox="1"/>
          <p:nvPr/>
        </p:nvSpPr>
        <p:spPr>
          <a:xfrm>
            <a:off x="7086600" y="2286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Invoke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61" name="TextBox 24"/>
          <p:cNvSpPr txBox="1"/>
          <p:nvPr/>
        </p:nvSpPr>
        <p:spPr>
          <a:xfrm>
            <a:off x="7178040" y="2560320"/>
            <a:ext cx="1645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跨节点调用</a:t>
            </a:r>
            <a:endParaRPr lang="zh-CN" b="1">
              <a:solidFill>
                <a:srgbClr val="0F172A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状态机追踪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62" name="TextBox 25"/>
          <p:cNvSpPr txBox="1"/>
          <p:nvPr/>
        </p:nvSpPr>
        <p:spPr>
          <a:xfrm>
            <a:off x="8933688" y="2103120"/>
            <a:ext cx="320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→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63" name="Rounded Rectangle 26"/>
          <p:cNvSpPr/>
          <p:nvPr/>
        </p:nvSpPr>
        <p:spPr>
          <a:xfrm>
            <a:off x="9235440" y="164592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27"/>
          <p:cNvSpPr/>
          <p:nvPr/>
        </p:nvSpPr>
        <p:spPr>
          <a:xfrm>
            <a:off x="9921240" y="1783080"/>
            <a:ext cx="457200" cy="457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4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65" name="TextBox 28"/>
          <p:cNvSpPr txBox="1"/>
          <p:nvPr/>
        </p:nvSpPr>
        <p:spPr>
          <a:xfrm>
            <a:off x="9235440" y="2286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Event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66" name="TextBox 29"/>
          <p:cNvSpPr txBox="1"/>
          <p:nvPr/>
        </p:nvSpPr>
        <p:spPr>
          <a:xfrm>
            <a:off x="9326880" y="2560320"/>
            <a:ext cx="16459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状态变更</a:t>
            </a:r>
            <a:endParaRPr lang="zh-CN" b="1">
              <a:solidFill>
                <a:srgbClr val="0F172A"/>
              </a:solidFill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告警推送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167" name="Rounded Rectangle 30"/>
          <p:cNvSpPr/>
          <p:nvPr/>
        </p:nvSpPr>
        <p:spPr>
          <a:xfrm>
            <a:off x="457200" y="347472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31"/>
          <p:cNvSpPr txBox="1"/>
          <p:nvPr/>
        </p:nvSpPr>
        <p:spPr>
          <a:xfrm>
            <a:off x="685800" y="365760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MQTT v5 / NATS 2.x 双传输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69" name="TextBox 32"/>
          <p:cNvSpPr txBox="1"/>
          <p:nvPr/>
        </p:nvSpPr>
        <p:spPr>
          <a:xfrm>
            <a:off x="685800" y="4023359"/>
            <a:ext cx="50292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Topic 统一使用 $edgeos/... 斜杠形式，NATS 适配器自动转换为点分隔 Subject。Bridge 代码经统一 Bus 接口对称实现。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70" name="Rounded Rectangle 33"/>
          <p:cNvSpPr/>
          <p:nvPr/>
        </p:nvSpPr>
        <p:spPr>
          <a:xfrm>
            <a:off x="6126480" y="347472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34"/>
          <p:cNvSpPr txBox="1"/>
          <p:nvPr/>
        </p:nvSpPr>
        <p:spPr>
          <a:xfrm>
            <a:off x="6355080" y="365760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V1 兼容与命令面下线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72" name="TextBox 35"/>
          <p:cNvSpPr txBox="1"/>
          <p:nvPr/>
        </p:nvSpPr>
        <p:spPr>
          <a:xfrm>
            <a:off x="6355080" y="4023359"/>
            <a:ext cx="50292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V1 数据面默认常开；EAN 能力层按需开启；V1 命令面已在 v1.9 全面下线，命令统一走 EAN Invoke。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73" name="TextBox 36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14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76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智能协同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177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AI Collaboration · 智能协同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179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AI MCP 能力开放与协同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180" name="Rounded Rectangle 6"/>
          <p:cNvSpPr/>
          <p:nvPr/>
        </p:nvSpPr>
        <p:spPr>
          <a:xfrm>
            <a:off x="45720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7"/>
          <p:cNvSpPr/>
          <p:nvPr/>
        </p:nvSpPr>
        <p:spPr>
          <a:xfrm>
            <a:off x="685800" y="2011679"/>
            <a:ext cx="502920" cy="50292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6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M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82" name="TextBox 8"/>
          <p:cNvSpPr txBox="1"/>
          <p:nvPr/>
        </p:nvSpPr>
        <p:spPr>
          <a:xfrm>
            <a:off x="1371600" y="2011679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MCP Server 标准协议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83" name="TextBox 9"/>
          <p:cNvSpPr txBox="1"/>
          <p:nvPr/>
        </p:nvSpPr>
        <p:spPr>
          <a:xfrm>
            <a:off x="731520" y="2651760"/>
            <a:ext cx="46634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33 个 Tool + 6 个 Resource + 13 个 Prompt。AI Agent 可通过 Model Context Protocol 以统一协议发现和调用工业资源。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6126480" y="1737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1"/>
          <p:cNvSpPr/>
          <p:nvPr/>
        </p:nvSpPr>
        <p:spPr>
          <a:xfrm>
            <a:off x="6355080" y="2011679"/>
            <a:ext cx="502920" cy="50292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6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W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86" name="TextBox 12"/>
          <p:cNvSpPr txBox="1"/>
          <p:nvPr/>
        </p:nvSpPr>
        <p:spPr>
          <a:xfrm>
            <a:off x="7040880" y="2011679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写门控安全机制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87" name="TextBox 13"/>
          <p:cNvSpPr txBox="1"/>
          <p:nvPr/>
        </p:nvSpPr>
        <p:spPr>
          <a:xfrm>
            <a:off x="6400800" y="2651760"/>
            <a:ext cx="46634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读类工具直接允许；写类工具须经 writeGate 审批。每次调用记录 Agent / Tool / Parameter / Result / Time 完整审计。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88" name="Rounded Rectangle 14"/>
          <p:cNvSpPr/>
          <p:nvPr/>
        </p:nvSpPr>
        <p:spPr>
          <a:xfrm>
            <a:off x="45720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5"/>
          <p:cNvSpPr/>
          <p:nvPr/>
        </p:nvSpPr>
        <p:spPr>
          <a:xfrm>
            <a:off x="685800" y="4297680"/>
            <a:ext cx="502920" cy="50292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6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R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90" name="TextBox 16"/>
          <p:cNvSpPr txBox="1"/>
          <p:nvPr/>
        </p:nvSpPr>
        <p:spPr>
          <a:xfrm>
            <a:off x="1371600" y="429768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协议逆向工程引擎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91" name="TextBox 17"/>
          <p:cNvSpPr txBox="1"/>
          <p:nvPr/>
        </p:nvSpPr>
        <p:spPr>
          <a:xfrm>
            <a:off x="731520" y="4937760"/>
            <a:ext cx="46634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94A3B8"/>
                </a:solidFill>
              </a:rPr>
              <a:t>四阶段流水线：协议识别 → 报文解析 → 物理量推理 → 配置生成。将"工程师 2 天人工逆向"压缩为"AI 30 分钟候选生成"。</a:t>
            </a:r>
            <a:endParaRPr lang="zh-CN">
              <a:solidFill>
                <a:srgbClr val="94A3B8"/>
              </a:solidFill>
            </a:endParaRPr>
          </a:p>
        </p:txBody>
      </p:sp>
      <p:sp>
        <p:nvSpPr>
          <p:cNvPr id="192" name="Rounded Rectangle 18"/>
          <p:cNvSpPr/>
          <p:nvPr/>
        </p:nvSpPr>
        <p:spPr>
          <a:xfrm>
            <a:off x="6126480" y="402336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6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H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194" name="TextBox 20"/>
          <p:cNvSpPr txBox="1"/>
          <p:nvPr/>
        </p:nvSpPr>
        <p:spPr>
          <a:xfrm>
            <a:off x="7040880" y="429768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Human-in-the-loop</a:t>
            </a:r>
            <a:endParaRPr lang="zh-CN">
              <a:solidFill>
                <a:srgbClr val="64748B"/>
              </a:solidFill>
            </a:endParaRPr>
          </a:p>
        </p:txBody>
      </p:sp>
      <p:sp>
        <p:nvSpPr>
          <p:cNvPr id="195" name="TextBox 21"/>
          <p:cNvSpPr txBox="1"/>
          <p:nvPr/>
        </p:nvSpPr>
        <p:spPr>
          <a:xfrm>
            <a:off x="6400800" y="4937760"/>
            <a:ext cx="46634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所有 AI 产出须经人工确认后方可写入 config.db。AI 故障不影响工业采集与规则执行，确保工业可控性。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196" name="TextBox 22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15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矩形 109"/>
          <p:cNvSpPr/>
          <p:nvPr/>
        </p:nvSpPr>
        <p:spPr>
          <a:xfrm>
            <a:off x="457200" y="533400"/>
            <a:ext cx="11277600" cy="127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199" name="矩形 110"/>
          <p:cNvSpPr/>
          <p:nvPr/>
        </p:nvSpPr>
        <p:spPr>
          <a:xfrm>
            <a:off x="457200" y="228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2563EB"/>
                </a:solidFill>
              </a:rPr>
              <a:t>Ecosystem · 生态全景</a:t>
            </a:r>
            <a:endParaRPr lang="zh-CN" sz="1300">
              <a:solidFill>
                <a:srgbClr val="2563EB"/>
              </a:solidFill>
            </a:endParaRPr>
          </a:p>
        </p:txBody>
      </p:sp>
      <p:sp>
        <p:nvSpPr>
          <p:cNvPr id="200" name="矩形 111"/>
          <p:cNvSpPr/>
          <p:nvPr/>
        </p:nvSpPr>
        <p:spPr>
          <a:xfrm>
            <a:off x="457200" y="635000"/>
            <a:ext cx="76200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E293B"/>
                </a:solidFill>
              </a:rPr>
              <a:t>数字底座 — EAN 网络 — 平级上层应用</a:t>
            </a:r>
            <a:endParaRPr lang="zh-CN" sz="2600">
              <a:solidFill>
                <a:srgbClr val="1E293B"/>
              </a:solidFill>
            </a:endParaRPr>
          </a:p>
        </p:txBody>
      </p:sp>
      <p:sp>
        <p:nvSpPr>
          <p:cNvPr id="201" name="矩形 112"/>
          <p:cNvSpPr/>
          <p:nvPr/>
        </p:nvSpPr>
        <p:spPr>
          <a:xfrm>
            <a:off x="457200" y="12192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</a:rPr>
              <a:t>EdgeCore 与 EdgeOS、EdgeStark 通过 EAN 2.0 双传输总线形成完整工业边缘生态</a:t>
            </a:r>
            <a:endParaRPr lang="zh-CN" sz="1200">
              <a:solidFill>
                <a:srgbClr val="64748B"/>
              </a:solidFill>
            </a:endParaRPr>
          </a:p>
        </p:txBody>
      </p:sp>
      <p:pic>
        <p:nvPicPr>
          <p:cNvPr id="202" name="图片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3302000" y="1524000"/>
            <a:ext cx="5438530" cy="3721100"/>
          </a:xfrm>
          <a:prstGeom prst="rect">
            <a:avLst/>
          </a:prstGeom>
        </p:spPr>
      </p:pic>
      <p:sp>
        <p:nvSpPr>
          <p:cNvPr id="203" name="圆角矩形 114"/>
          <p:cNvSpPr/>
          <p:nvPr/>
        </p:nvSpPr>
        <p:spPr>
          <a:xfrm>
            <a:off x="457200" y="1778000"/>
            <a:ext cx="2540000" cy="3302000"/>
          </a:xfrm>
          <a:prstGeom prst="roundRect">
            <a:avLst>
              <a:gd name="adj" fmla="val 437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4" name="矩形 115"/>
          <p:cNvSpPr/>
          <p:nvPr/>
        </p:nvSpPr>
        <p:spPr>
          <a:xfrm>
            <a:off x="635000" y="19304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1E293B"/>
                </a:solidFill>
              </a:rPr>
              <a:t>EdgeCore 数字底座</a:t>
            </a:r>
            <a:endParaRPr lang="zh-CN" sz="1500">
              <a:solidFill>
                <a:srgbClr val="1E293B"/>
              </a:solidFill>
            </a:endParaRPr>
          </a:p>
        </p:txBody>
      </p:sp>
      <p:sp>
        <p:nvSpPr>
          <p:cNvPr id="205" name="矩形 116"/>
          <p:cNvSpPr/>
          <p:nvPr/>
        </p:nvSpPr>
        <p:spPr>
          <a:xfrm>
            <a:off x="635000" y="2311400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2563EB"/>
                </a:solidFill>
              </a:rPr>
              <a:t>开源 · 免费 · Web</a:t>
            </a:r>
            <a:endParaRPr lang="zh-CN" sz="1100">
              <a:solidFill>
                <a:srgbClr val="2563EB"/>
              </a:solidFill>
            </a:endParaRPr>
          </a:p>
        </p:txBody>
      </p:sp>
      <p:sp>
        <p:nvSpPr>
          <p:cNvPr id="206" name="矩形 117"/>
          <p:cNvSpPr/>
          <p:nvPr/>
        </p:nvSpPr>
        <p:spPr>
          <a:xfrm>
            <a:off x="736600" y="26924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ScanEngine 统一调度内核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07" name="矩形 118"/>
          <p:cNvSpPr/>
          <p:nvPr/>
        </p:nvSpPr>
        <p:spPr>
          <a:xfrm>
            <a:off x="736600" y="30226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ShadowCore 实时状态真源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08" name="矩形 119"/>
          <p:cNvSpPr/>
          <p:nvPr/>
        </p:nvSpPr>
        <p:spPr>
          <a:xfrm>
            <a:off x="736600" y="33528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13 类工业协议接入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09" name="矩形 120"/>
          <p:cNvSpPr/>
          <p:nvPr/>
        </p:nvSpPr>
        <p:spPr>
          <a:xfrm>
            <a:off x="736600" y="3683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虚拟设备 / 边缘规则引擎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0" name="矩形 121"/>
          <p:cNvSpPr/>
          <p:nvPr/>
        </p:nvSpPr>
        <p:spPr>
          <a:xfrm>
            <a:off x="736600" y="40132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MQTT / OPC UA / BACnet 北向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1" name="矩形 122"/>
          <p:cNvSpPr/>
          <p:nvPr/>
        </p:nvSpPr>
        <p:spPr>
          <a:xfrm>
            <a:off x="736600" y="43434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128 MB 内存即可运行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2" name="圆角矩形 123"/>
          <p:cNvSpPr/>
          <p:nvPr/>
        </p:nvSpPr>
        <p:spPr>
          <a:xfrm>
            <a:off x="9194800" y="1778000"/>
            <a:ext cx="2540000" cy="3302000"/>
          </a:xfrm>
          <a:prstGeom prst="roundRect">
            <a:avLst>
              <a:gd name="adj" fmla="val 437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矩形 124"/>
          <p:cNvSpPr/>
          <p:nvPr/>
        </p:nvSpPr>
        <p:spPr>
          <a:xfrm>
            <a:off x="9372600" y="19304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1E293B"/>
                </a:solidFill>
              </a:rPr>
              <a:t>平级上层应用</a:t>
            </a:r>
            <a:endParaRPr lang="zh-CN" sz="1500">
              <a:solidFill>
                <a:srgbClr val="1E293B"/>
              </a:solidFill>
            </a:endParaRPr>
          </a:p>
        </p:txBody>
      </p:sp>
      <p:sp>
        <p:nvSpPr>
          <p:cNvPr id="214" name="矩形 125"/>
          <p:cNvSpPr/>
          <p:nvPr/>
        </p:nvSpPr>
        <p:spPr>
          <a:xfrm>
            <a:off x="9372600" y="2311400"/>
            <a:ext cx="2184400" cy="609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B45309"/>
                </a:solidFill>
              </a:rPr>
              <a:t>EdgeOS：开源协同平台
EdgeStark：数字孪生可视化</a:t>
            </a:r>
            <a:endParaRPr lang="zh-CN" sz="1100">
              <a:solidFill>
                <a:srgbClr val="B45309"/>
              </a:solidFill>
            </a:endParaRPr>
          </a:p>
        </p:txBody>
      </p:sp>
      <p:sp>
        <p:nvSpPr>
          <p:cNvPr id="215" name="矩形 126"/>
          <p:cNvSpPr/>
          <p:nvPr/>
        </p:nvSpPr>
        <p:spPr>
          <a:xfrm>
            <a:off x="9474200" y="3048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N+2 双母皇高可用架构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6" name="矩形 127"/>
          <p:cNvSpPr/>
          <p:nvPr/>
        </p:nvSpPr>
        <p:spPr>
          <a:xfrm>
            <a:off x="9474200" y="33782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Discovery / Invoke / Event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7" name="矩形 128"/>
          <p:cNvSpPr/>
          <p:nvPr/>
        </p:nvSpPr>
        <p:spPr>
          <a:xfrm>
            <a:off x="9474200" y="37084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AI MCP 运行时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8" name="矩形 129"/>
          <p:cNvSpPr/>
          <p:nvPr/>
        </p:nvSpPr>
        <p:spPr>
          <a:xfrm>
            <a:off x="9474200" y="40386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四端渲染 VR/AR/全息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19" name="矩形 130"/>
          <p:cNvSpPr/>
          <p:nvPr/>
        </p:nvSpPr>
        <p:spPr>
          <a:xfrm>
            <a:off x="9474200" y="43688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大屏智能座舱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20" name="矩形 131"/>
          <p:cNvSpPr/>
          <p:nvPr/>
        </p:nvSpPr>
        <p:spPr>
          <a:xfrm>
            <a:off x="9474200" y="4699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告警 / 预测 / 分析联动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221" name="圆角矩形 132"/>
          <p:cNvSpPr/>
          <p:nvPr/>
        </p:nvSpPr>
        <p:spPr>
          <a:xfrm>
            <a:off x="457200" y="5461000"/>
            <a:ext cx="2590800" cy="1016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2" name="矩形 133"/>
          <p:cNvSpPr/>
          <p:nvPr/>
        </p:nvSpPr>
        <p:spPr>
          <a:xfrm>
            <a:off x="609600" y="5638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2563EB"/>
                </a:solidFill>
              </a:rPr>
              <a:t>12</a:t>
            </a:r>
            <a:endParaRPr lang="zh-CN" sz="2200">
              <a:solidFill>
                <a:srgbClr val="2563EB"/>
              </a:solidFill>
            </a:endParaRPr>
          </a:p>
        </p:txBody>
      </p:sp>
      <p:sp>
        <p:nvSpPr>
          <p:cNvPr id="223" name="矩形 134"/>
          <p:cNvSpPr/>
          <p:nvPr/>
        </p:nvSpPr>
        <p:spPr>
          <a:xfrm>
            <a:off x="609600" y="6070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</a:rPr>
              <a:t>台 EdgeCore 网关</a:t>
            </a:r>
            <a:endParaRPr lang="zh-CN" sz="1100">
              <a:solidFill>
                <a:srgbClr val="64748B"/>
              </a:solidFill>
            </a:endParaRPr>
          </a:p>
        </p:txBody>
      </p:sp>
      <p:sp>
        <p:nvSpPr>
          <p:cNvPr id="224" name="圆角矩形 135"/>
          <p:cNvSpPr/>
          <p:nvPr/>
        </p:nvSpPr>
        <p:spPr>
          <a:xfrm>
            <a:off x="3352800" y="5461000"/>
            <a:ext cx="2590800" cy="1016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矩形 136"/>
          <p:cNvSpPr/>
          <p:nvPr/>
        </p:nvSpPr>
        <p:spPr>
          <a:xfrm>
            <a:off x="3505200" y="5638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2563EB"/>
                </a:solidFill>
              </a:rPr>
              <a:t>7.5 万</a:t>
            </a:r>
            <a:endParaRPr lang="zh-CN" sz="2200">
              <a:solidFill>
                <a:srgbClr val="2563EB"/>
              </a:solidFill>
            </a:endParaRPr>
          </a:p>
        </p:txBody>
      </p:sp>
      <p:sp>
        <p:nvSpPr>
          <p:cNvPr id="226" name="矩形 137"/>
          <p:cNvSpPr/>
          <p:nvPr/>
        </p:nvSpPr>
        <p:spPr>
          <a:xfrm>
            <a:off x="3505200" y="6070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</a:rPr>
              <a:t>Tag 规模实测</a:t>
            </a:r>
            <a:endParaRPr lang="zh-CN" sz="1100">
              <a:solidFill>
                <a:srgbClr val="64748B"/>
              </a:solidFill>
            </a:endParaRPr>
          </a:p>
        </p:txBody>
      </p:sp>
      <p:sp>
        <p:nvSpPr>
          <p:cNvPr id="227" name="圆角矩形 138"/>
          <p:cNvSpPr/>
          <p:nvPr/>
        </p:nvSpPr>
        <p:spPr>
          <a:xfrm>
            <a:off x="6248400" y="5461000"/>
            <a:ext cx="2590800" cy="1016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8" name="矩形 139"/>
          <p:cNvSpPr/>
          <p:nvPr/>
        </p:nvSpPr>
        <p:spPr>
          <a:xfrm>
            <a:off x="6400800" y="5638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2563EB"/>
                </a:solidFill>
              </a:rPr>
              <a:t>48 ms</a:t>
            </a:r>
            <a:endParaRPr lang="zh-CN" sz="2200">
              <a:solidFill>
                <a:srgbClr val="2563EB"/>
              </a:solidFill>
            </a:endParaRPr>
          </a:p>
        </p:txBody>
      </p:sp>
      <p:sp>
        <p:nvSpPr>
          <p:cNvPr id="229" name="矩形 140"/>
          <p:cNvSpPr/>
          <p:nvPr/>
        </p:nvSpPr>
        <p:spPr>
          <a:xfrm>
            <a:off x="6400800" y="6070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</a:rPr>
              <a:t>Discovery P99</a:t>
            </a:r>
            <a:endParaRPr lang="zh-CN" sz="1100">
              <a:solidFill>
                <a:srgbClr val="64748B"/>
              </a:solidFill>
            </a:endParaRPr>
          </a:p>
        </p:txBody>
      </p:sp>
      <p:sp>
        <p:nvSpPr>
          <p:cNvPr id="230" name="圆角矩形 141"/>
          <p:cNvSpPr/>
          <p:nvPr/>
        </p:nvSpPr>
        <p:spPr>
          <a:xfrm>
            <a:off x="9144000" y="5461000"/>
            <a:ext cx="2590800" cy="1016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1" name="矩形 142"/>
          <p:cNvSpPr/>
          <p:nvPr/>
        </p:nvSpPr>
        <p:spPr>
          <a:xfrm>
            <a:off x="9296400" y="56388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2563EB"/>
                </a:solidFill>
              </a:rPr>
              <a:t>112 ms</a:t>
            </a:r>
            <a:endParaRPr lang="zh-CN" sz="2200">
              <a:solidFill>
                <a:srgbClr val="2563EB"/>
              </a:solidFill>
            </a:endParaRPr>
          </a:p>
        </p:txBody>
      </p:sp>
      <p:sp>
        <p:nvSpPr>
          <p:cNvPr id="232" name="矩形 143"/>
          <p:cNvSpPr/>
          <p:nvPr/>
        </p:nvSpPr>
        <p:spPr>
          <a:xfrm>
            <a:off x="9296400" y="6070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64748B"/>
                </a:solidFill>
              </a:rPr>
              <a:t>Invoke P99</a:t>
            </a:r>
            <a:endParaRPr lang="zh-CN" sz="1100">
              <a:solidFill>
                <a:srgbClr val="64748B"/>
              </a:solidFill>
            </a:endParaRPr>
          </a:p>
        </p:txBody>
      </p:sp>
      <p:sp>
        <p:nvSpPr>
          <p:cNvPr id="233" name="矩形 144"/>
          <p:cNvSpPr/>
          <p:nvPr/>
        </p:nvSpPr>
        <p:spPr>
          <a:xfrm>
            <a:off x="10515600" y="6400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16 / 29</a:t>
            </a:r>
            <a:endParaRPr lang="zh-C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矩形 146"/>
          <p:cNvSpPr/>
          <p:nvPr/>
        </p:nvSpPr>
        <p:spPr>
          <a:xfrm>
            <a:off x="457200" y="533400"/>
            <a:ext cx="11277600" cy="127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236" name="矩形 147"/>
          <p:cNvSpPr/>
          <p:nvPr/>
        </p:nvSpPr>
        <p:spPr>
          <a:xfrm>
            <a:off x="457200" y="228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2563EB"/>
                </a:solidFill>
              </a:rPr>
              <a:t>Performance · EdgeOS 性能验证</a:t>
            </a:r>
            <a:endParaRPr lang="zh-CN" sz="1300">
              <a:solidFill>
                <a:srgbClr val="2563EB"/>
              </a:solidFill>
            </a:endParaRPr>
          </a:p>
        </p:txBody>
      </p:sp>
      <p:sp>
        <p:nvSpPr>
          <p:cNvPr id="237" name="矩形 148"/>
          <p:cNvSpPr/>
          <p:nvPr/>
        </p:nvSpPr>
        <p:spPr>
          <a:xfrm>
            <a:off x="457200" y="635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E293B"/>
                </a:solidFill>
              </a:rPr>
              <a:t>EdgeOS 协调平台关键性能指标</a:t>
            </a:r>
            <a:endParaRPr lang="zh-CN" sz="2600">
              <a:solidFill>
                <a:srgbClr val="1E293B"/>
              </a:solidFill>
            </a:endParaRPr>
          </a:p>
        </p:txBody>
      </p:sp>
      <p:sp>
        <p:nvSpPr>
          <p:cNvPr id="238" name="矩形 149"/>
          <p:cNvSpPr/>
          <p:nvPr/>
        </p:nvSpPr>
        <p:spPr>
          <a:xfrm>
            <a:off x="457200" y="1219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</a:rPr>
              <a:t>12 台 EdgeCore 网关（RK3588）· 7.5 万 Tag · MQTT/NATS 双传输实机联调</a:t>
            </a:r>
            <a:endParaRPr lang="zh-CN" sz="1200">
              <a:solidFill>
                <a:srgbClr val="64748B"/>
              </a:solidFill>
            </a:endParaRPr>
          </a:p>
        </p:txBody>
      </p:sp>
      <p:sp>
        <p:nvSpPr>
          <p:cNvPr id="239" name="圆角矩形 150"/>
          <p:cNvSpPr/>
          <p:nvPr/>
        </p:nvSpPr>
        <p:spPr>
          <a:xfrm>
            <a:off x="457200" y="17780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矩形 151"/>
          <p:cNvSpPr/>
          <p:nvPr/>
        </p:nvSpPr>
        <p:spPr>
          <a:xfrm>
            <a:off x="711200" y="20320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48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41" name="矩形 152"/>
          <p:cNvSpPr/>
          <p:nvPr/>
        </p:nvSpPr>
        <p:spPr>
          <a:xfrm>
            <a:off x="1320800" y="2184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ms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42" name="矩形 153"/>
          <p:cNvSpPr/>
          <p:nvPr/>
        </p:nvSpPr>
        <p:spPr>
          <a:xfrm>
            <a:off x="711200" y="27432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Discovery 索引同步 P99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43" name="矩形 154"/>
          <p:cNvSpPr/>
          <p:nvPr/>
        </p:nvSpPr>
        <p:spPr>
          <a:xfrm>
            <a:off x="711200" y="30734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&lt; 100 ms SLA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44" name="圆角矩形 155"/>
          <p:cNvSpPr/>
          <p:nvPr/>
        </p:nvSpPr>
        <p:spPr>
          <a:xfrm>
            <a:off x="4318000" y="17780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5" name="矩形 156"/>
          <p:cNvSpPr/>
          <p:nvPr/>
        </p:nvSpPr>
        <p:spPr>
          <a:xfrm>
            <a:off x="4572000" y="20320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112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46" name="矩形 157"/>
          <p:cNvSpPr/>
          <p:nvPr/>
        </p:nvSpPr>
        <p:spPr>
          <a:xfrm>
            <a:off x="5435600" y="2184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ms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47" name="矩形 158"/>
          <p:cNvSpPr/>
          <p:nvPr/>
        </p:nvSpPr>
        <p:spPr>
          <a:xfrm>
            <a:off x="4572000" y="27432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Invoke 端到端 P99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48" name="矩形 159"/>
          <p:cNvSpPr/>
          <p:nvPr/>
        </p:nvSpPr>
        <p:spPr>
          <a:xfrm>
            <a:off x="4572000" y="30734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&lt; 200 ms SLA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49" name="圆角矩形 160"/>
          <p:cNvSpPr/>
          <p:nvPr/>
        </p:nvSpPr>
        <p:spPr>
          <a:xfrm>
            <a:off x="8178800" y="17780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0" name="矩形 161"/>
          <p:cNvSpPr/>
          <p:nvPr/>
        </p:nvSpPr>
        <p:spPr>
          <a:xfrm>
            <a:off x="8432800" y="20320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100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51" name="矩形 162"/>
          <p:cNvSpPr/>
          <p:nvPr/>
        </p:nvSpPr>
        <p:spPr>
          <a:xfrm>
            <a:off x="9296400" y="21844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%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52" name="矩形 163"/>
          <p:cNvSpPr/>
          <p:nvPr/>
        </p:nvSpPr>
        <p:spPr>
          <a:xfrm>
            <a:off x="8432800" y="27432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心跳超时检测准确率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53" name="矩形 164"/>
          <p:cNvSpPr/>
          <p:nvPr/>
        </p:nvSpPr>
        <p:spPr>
          <a:xfrm>
            <a:off x="8432800" y="30734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0 误判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54" name="圆角矩形 165"/>
          <p:cNvSpPr/>
          <p:nvPr/>
        </p:nvSpPr>
        <p:spPr>
          <a:xfrm>
            <a:off x="457200" y="38608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5" name="矩形 166"/>
          <p:cNvSpPr/>
          <p:nvPr/>
        </p:nvSpPr>
        <p:spPr>
          <a:xfrm>
            <a:off x="711200" y="41148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2.8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56" name="矩形 167"/>
          <p:cNvSpPr/>
          <p:nvPr/>
        </p:nvSpPr>
        <p:spPr>
          <a:xfrm>
            <a:off x="1219200" y="4267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s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57" name="矩形 168"/>
          <p:cNvSpPr/>
          <p:nvPr/>
        </p:nvSpPr>
        <p:spPr>
          <a:xfrm>
            <a:off x="711200" y="4826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主备切换耗时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58" name="矩形 169"/>
          <p:cNvSpPr/>
          <p:nvPr/>
        </p:nvSpPr>
        <p:spPr>
          <a:xfrm>
            <a:off x="711200" y="5156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&lt; 5 s SLA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59" name="圆角矩形 170"/>
          <p:cNvSpPr/>
          <p:nvPr/>
        </p:nvSpPr>
        <p:spPr>
          <a:xfrm>
            <a:off x="4318000" y="38608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0" name="矩形 171"/>
          <p:cNvSpPr/>
          <p:nvPr/>
        </p:nvSpPr>
        <p:spPr>
          <a:xfrm>
            <a:off x="4572000" y="41148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78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61" name="矩形 172"/>
          <p:cNvSpPr/>
          <p:nvPr/>
        </p:nvSpPr>
        <p:spPr>
          <a:xfrm>
            <a:off x="5181600" y="4267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ms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62" name="矩形 173"/>
          <p:cNvSpPr/>
          <p:nvPr/>
        </p:nvSpPr>
        <p:spPr>
          <a:xfrm>
            <a:off x="4572000" y="4826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主备状态同步延迟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63" name="矩形 174"/>
          <p:cNvSpPr/>
          <p:nvPr/>
        </p:nvSpPr>
        <p:spPr>
          <a:xfrm>
            <a:off x="4572000" y="5156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&lt; 100 ms SLA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64" name="圆角矩形 175"/>
          <p:cNvSpPr/>
          <p:nvPr/>
        </p:nvSpPr>
        <p:spPr>
          <a:xfrm>
            <a:off x="8178800" y="3860800"/>
            <a:ext cx="3556000" cy="1778000"/>
          </a:xfrm>
          <a:prstGeom prst="roundRect">
            <a:avLst>
              <a:gd name="adj" fmla="val 43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5" name="矩形 176"/>
          <p:cNvSpPr/>
          <p:nvPr/>
        </p:nvSpPr>
        <p:spPr>
          <a:xfrm>
            <a:off x="8432800" y="4114800"/>
            <a:ext cx="2286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2563EB"/>
                </a:solidFill>
              </a:rPr>
              <a:t>100</a:t>
            </a:r>
            <a:endParaRPr lang="zh-CN" sz="3600">
              <a:solidFill>
                <a:srgbClr val="2563EB"/>
              </a:solidFill>
            </a:endParaRPr>
          </a:p>
        </p:txBody>
      </p:sp>
      <p:sp>
        <p:nvSpPr>
          <p:cNvPr id="266" name="矩形 177"/>
          <p:cNvSpPr/>
          <p:nvPr/>
        </p:nvSpPr>
        <p:spPr>
          <a:xfrm>
            <a:off x="9296400" y="4267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64748B"/>
                </a:solidFill>
              </a:rPr>
              <a:t>%</a:t>
            </a:r>
            <a:endParaRPr lang="zh-CN" sz="1400">
              <a:solidFill>
                <a:srgbClr val="64748B"/>
              </a:solidFill>
            </a:endParaRPr>
          </a:p>
        </p:txBody>
      </p:sp>
      <p:sp>
        <p:nvSpPr>
          <p:cNvPr id="267" name="矩形 178"/>
          <p:cNvSpPr/>
          <p:nvPr/>
        </p:nvSpPr>
        <p:spPr>
          <a:xfrm>
            <a:off x="8432800" y="4826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E293B"/>
                </a:solidFill>
              </a:rPr>
              <a:t>go test 用例通过</a:t>
            </a:r>
            <a:endParaRPr lang="zh-CN" sz="1400">
              <a:solidFill>
                <a:srgbClr val="1E293B"/>
              </a:solidFill>
            </a:endParaRPr>
          </a:p>
        </p:txBody>
      </p:sp>
      <p:sp>
        <p:nvSpPr>
          <p:cNvPr id="268" name="矩形 179"/>
          <p:cNvSpPr/>
          <p:nvPr/>
        </p:nvSpPr>
        <p:spPr>
          <a:xfrm>
            <a:off x="8432800" y="5156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94A3B8"/>
                </a:solidFill>
              </a:rPr>
              <a:t>全模块覆盖</a:t>
            </a:r>
            <a:endParaRPr lang="zh-CN" sz="1100">
              <a:solidFill>
                <a:srgbClr val="94A3B8"/>
              </a:solidFill>
            </a:endParaRPr>
          </a:p>
        </p:txBody>
      </p:sp>
      <p:sp>
        <p:nvSpPr>
          <p:cNvPr id="269" name="矩形 180"/>
          <p:cNvSpPr/>
          <p:nvPr/>
        </p:nvSpPr>
        <p:spPr>
          <a:xfrm>
            <a:off x="457200" y="58420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测试环境：ARM64 RK3588 工业网关 × 12 · x86 工控机主备母皇 · Mosquitto + NATS Server</a:t>
            </a:r>
            <a:endParaRPr lang="zh-CN" sz="1000">
              <a:solidFill>
                <a:srgbClr val="94A3B8"/>
              </a:solidFill>
            </a:endParaRPr>
          </a:p>
        </p:txBody>
      </p:sp>
      <p:sp>
        <p:nvSpPr>
          <p:cNvPr id="270" name="矩形 181"/>
          <p:cNvSpPr/>
          <p:nvPr/>
        </p:nvSpPr>
        <p:spPr>
          <a:xfrm>
            <a:off x="10515600" y="6400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17 / 29</a:t>
            </a:r>
            <a:endParaRPr lang="zh-C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0" b="1">
                <a:solidFill>
                  <a:srgbClr val="1A223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chemeClr val="accent1">
                    <a:lumMod val="20000"/>
                    <a:lumOff val="80000"/>
                  </a:schemeClr>
                </a:solidFill>
              </a:rPr>
              <a:t>04</a:t>
            </a:r>
            <a:endParaRPr lang="zh-CN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3" name="TextBox 2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Section · 04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74" name="TextBox 3"/>
          <p:cNvSpPr txBox="1"/>
          <p:nvPr/>
        </p:nvSpPr>
        <p:spPr>
          <a:xfrm>
            <a:off x="731520" y="2377440"/>
            <a:ext cx="73152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4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工厂应用案例</a:t>
            </a:r>
            <a:endParaRPr lang="zh-CN" b="1">
              <a:solidFill>
                <a:srgbClr val="1E293B"/>
              </a:solidFill>
            </a:endParaRPr>
          </a:p>
          <a:p>
            <a:pPr/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275" name="TextBox 4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Factory Application Cases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压铸机、注塑机、五轴加工设备等典型工厂场景的 EdgeCore 落地实践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78" name="TextBox 7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18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281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压铸机案例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282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Case Study 01 · 压铸机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284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压铸机智能监控与预测性维护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285" name="Rounded Rectangle 6"/>
          <p:cNvSpPr/>
          <p:nvPr/>
        </p:nvSpPr>
        <p:spPr>
          <a:xfrm>
            <a:off x="45720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7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场景概述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287" name="TextBox 8"/>
          <p:cNvSpPr txBox="1"/>
          <p:nvPr/>
        </p:nvSpPr>
        <p:spPr>
          <a:xfrm>
            <a:off x="640080" y="2194560"/>
            <a:ext cx="45720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压铸机是汽车零部件制造的核心设备，涉及高温铝液注入、高压成型、模具冷却等关键工序。传统监控依赖人工巡检 SCADA 画面，故障发现滞后，模具寿命管理粗放。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88" name="TextBox 9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方案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89" name="TextBox 10"/>
          <p:cNvSpPr txBox="1"/>
          <p:nvPr/>
        </p:nvSpPr>
        <p:spPr>
          <a:xfrm>
            <a:off x="777240" y="338328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协议接入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0" name="TextBox 11"/>
          <p:cNvSpPr txBox="1"/>
          <p:nvPr/>
        </p:nvSpPr>
        <p:spPr>
          <a:xfrm>
            <a:off x="1920240" y="338328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TCP 采集 PLC 控制器数据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OPC UA 对接压铸机主机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1" name="TextBox 12"/>
          <p:cNvSpPr txBox="1"/>
          <p:nvPr/>
        </p:nvSpPr>
        <p:spPr>
          <a:xfrm>
            <a:off x="777240" y="411480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2" name="TextBox 13"/>
          <p:cNvSpPr txBox="1"/>
          <p:nvPr/>
        </p:nvSpPr>
        <p:spPr>
          <a:xfrm>
            <a:off x="1920240" y="411480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压射压力、合模力、铝液温度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模具温度、循环次数、保压时间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3" name="TextBox 14"/>
          <p:cNvSpPr txBox="1"/>
          <p:nvPr/>
        </p:nvSpPr>
        <p:spPr>
          <a:xfrm>
            <a:off x="777240" y="484632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边缘规则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4" name="TextBox 15"/>
          <p:cNvSpPr txBox="1"/>
          <p:nvPr/>
        </p:nvSpPr>
        <p:spPr>
          <a:xfrm>
            <a:off x="1920240" y="484632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温度超限即时告警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压力曲线异常自动标记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5" name="TextBox 16"/>
          <p:cNvSpPr txBox="1"/>
          <p:nvPr/>
        </p:nvSpPr>
        <p:spPr>
          <a:xfrm>
            <a:off x="777240" y="557784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MCP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296" name="TextBox 17"/>
          <p:cNvSpPr txBox="1"/>
          <p:nvPr/>
        </p:nvSpPr>
        <p:spPr>
          <a:xfrm>
            <a:off x="1920240" y="557784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94A3B8"/>
                </a:solidFill>
              </a:rPr>
              <a:t>AI Agent 查询模具寿命预测</a:t>
            </a:r>
            <a:endParaRPr lang="zh-CN">
              <a:solidFill>
                <a:srgbClr val="94A3B8"/>
              </a:solidFill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94A3B8"/>
                </a:solidFill>
              </a:rPr>
              <a:t>自动生成保养建议工单</a:t>
            </a:r>
            <a:endParaRPr lang="zh-CN">
              <a:solidFill>
                <a:srgbClr val="94A3B8"/>
              </a:solidFill>
            </a:endParaRPr>
          </a:p>
        </p:txBody>
      </p:sp>
      <p:sp>
        <p:nvSpPr>
          <p:cNvPr id="297" name="Rounded Rectangle 18"/>
          <p:cNvSpPr/>
          <p:nvPr/>
        </p:nvSpPr>
        <p:spPr>
          <a:xfrm>
            <a:off x="5760720" y="173736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19"/>
          <p:cNvSpPr txBox="1"/>
          <p:nvPr/>
        </p:nvSpPr>
        <p:spPr>
          <a:xfrm>
            <a:off x="5943600" y="187451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落地价值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299" name="TextBox 20"/>
          <p:cNvSpPr txBox="1"/>
          <p:nvPr/>
        </p:nvSpPr>
        <p:spPr>
          <a:xfrm>
            <a:off x="5943600" y="21945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关键指标改善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0" name="TextBox 21"/>
          <p:cNvSpPr txBox="1"/>
          <p:nvPr/>
        </p:nvSpPr>
        <p:spPr>
          <a:xfrm>
            <a:off x="5943600" y="27432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故障发现时间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1" name="TextBox 22"/>
          <p:cNvSpPr txBox="1"/>
          <p:nvPr/>
        </p:nvSpPr>
        <p:spPr>
          <a:xfrm>
            <a:off x="8046720" y="27432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30 min → 3 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2" name="TextBox 23"/>
          <p:cNvSpPr txBox="1"/>
          <p:nvPr/>
        </p:nvSpPr>
        <p:spPr>
          <a:xfrm>
            <a:off x="5943600" y="30358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实时告警替代人工巡检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3" name="Rectangle 24"/>
          <p:cNvSpPr/>
          <p:nvPr/>
        </p:nvSpPr>
        <p:spPr>
          <a:xfrm>
            <a:off x="5943600" y="33832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TextBox 25"/>
          <p:cNvSpPr txBox="1"/>
          <p:nvPr/>
        </p:nvSpPr>
        <p:spPr>
          <a:xfrm>
            <a:off x="5943600" y="34290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模具寿命预测准确率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5" name="TextBox 26"/>
          <p:cNvSpPr txBox="1"/>
          <p:nvPr/>
        </p:nvSpPr>
        <p:spPr>
          <a:xfrm>
            <a:off x="8046720" y="34290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趋势分析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6" name="TextBox 27"/>
          <p:cNvSpPr txBox="1"/>
          <p:nvPr/>
        </p:nvSpPr>
        <p:spPr>
          <a:xfrm>
            <a:off x="5943600" y="37216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基于压力曲线趋势分析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7" name="Rectangle 28"/>
          <p:cNvSpPr/>
          <p:nvPr/>
        </p:nvSpPr>
        <p:spPr>
          <a:xfrm>
            <a:off x="5943600" y="40690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TextBox 29"/>
          <p:cNvSpPr txBox="1"/>
          <p:nvPr/>
        </p:nvSpPr>
        <p:spPr>
          <a:xfrm>
            <a:off x="5943600" y="41148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非计划停机降低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09" name="TextBox 30"/>
          <p:cNvSpPr txBox="1"/>
          <p:nvPr/>
        </p:nvSpPr>
        <p:spPr>
          <a:xfrm>
            <a:off x="8046720" y="41148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提前预警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0" name="TextBox 31"/>
          <p:cNvSpPr txBox="1"/>
          <p:nvPr/>
        </p:nvSpPr>
        <p:spPr>
          <a:xfrm>
            <a:off x="5943600" y="44074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预测性维护提前干预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1" name="Rectangle 32"/>
          <p:cNvSpPr/>
          <p:nvPr/>
        </p:nvSpPr>
        <p:spPr>
          <a:xfrm>
            <a:off x="5943600" y="47548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TextBox 33"/>
          <p:cNvSpPr txBox="1"/>
          <p:nvPr/>
        </p:nvSpPr>
        <p:spPr>
          <a:xfrm>
            <a:off x="5943600" y="48006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数据采集频率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3" name="TextBox 34"/>
          <p:cNvSpPr txBox="1"/>
          <p:nvPr/>
        </p:nvSpPr>
        <p:spPr>
          <a:xfrm>
            <a:off x="8046720" y="48006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 s → 100 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4" name="TextBox 35"/>
          <p:cNvSpPr txBox="1"/>
          <p:nvPr/>
        </p:nvSpPr>
        <p:spPr>
          <a:xfrm>
            <a:off x="5943600" y="50932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高频快照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5" name="Rectangle 36"/>
          <p:cNvSpPr/>
          <p:nvPr/>
        </p:nvSpPr>
        <p:spPr>
          <a:xfrm>
            <a:off x="5943600" y="54406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TextBox 37"/>
          <p:cNvSpPr txBox="1"/>
          <p:nvPr/>
        </p:nvSpPr>
        <p:spPr>
          <a:xfrm>
            <a:off x="5943600" y="54864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OEE 提升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7" name="TextBox 38"/>
          <p:cNvSpPr txBox="1"/>
          <p:nvPr/>
        </p:nvSpPr>
        <p:spPr>
          <a:xfrm>
            <a:off x="8046720" y="548640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节拍统计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8" name="TextBox 39"/>
          <p:cNvSpPr txBox="1"/>
          <p:nvPr/>
        </p:nvSpPr>
        <p:spPr>
          <a:xfrm>
            <a:off x="5943600" y="57790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节拍统计 + 质量追溯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19" name="TextBox 40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19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45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注塑机案例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46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Case Study 02 · 注塑机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48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注塑机产线数据采集与 OEE 优化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349" name="Rounded Rectangle 6"/>
          <p:cNvSpPr/>
          <p:nvPr/>
        </p:nvSpPr>
        <p:spPr>
          <a:xfrm>
            <a:off x="45720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TextBox 7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场景概述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351" name="TextBox 8"/>
          <p:cNvSpPr txBox="1"/>
          <p:nvPr/>
        </p:nvSpPr>
        <p:spPr>
          <a:xfrm>
            <a:off x="640080" y="2194560"/>
            <a:ext cx="45720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注塑车间通常部署 20-50 台注塑机，涉及不同品牌（海天、震雄、博创等），协议各异。传统方案每台设备独立 SCADA，数据各管各的严重，OEE 统计依赖人工抄表。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2" name="TextBox 9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方案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3" name="TextBox 10"/>
          <p:cNvSpPr txBox="1"/>
          <p:nvPr/>
        </p:nvSpPr>
        <p:spPr>
          <a:xfrm>
            <a:off x="777240" y="338328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多协议接入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4" name="TextBox 11"/>
          <p:cNvSpPr txBox="1"/>
          <p:nvPr/>
        </p:nvSpPr>
        <p:spPr>
          <a:xfrm>
            <a:off x="1920240" y="338328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TCP 对接海天/震雄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OPC UA 对接欧洲品牌注塑机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SPI/Euromap 77 协议适配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5" name="TextBox 12"/>
          <p:cNvSpPr txBox="1"/>
          <p:nvPr/>
        </p:nvSpPr>
        <p:spPr>
          <a:xfrm>
            <a:off x="777240" y="411480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6" name="TextBox 13"/>
          <p:cNvSpPr txBox="1"/>
          <p:nvPr/>
        </p:nvSpPr>
        <p:spPr>
          <a:xfrm>
            <a:off x="1920240" y="411480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熔体温度、注射压力、保压压力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循环时间、射胶量、残量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模具温度、冷却水流量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7" name="TextBox 14"/>
          <p:cNvSpPr txBox="1"/>
          <p:nvPr/>
        </p:nvSpPr>
        <p:spPr>
          <a:xfrm>
            <a:off x="777240" y="484632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边缘计算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8" name="TextBox 15"/>
          <p:cNvSpPr txBox="1"/>
          <p:nvPr/>
        </p:nvSpPr>
        <p:spPr>
          <a:xfrm>
            <a:off x="1920240" y="484632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单台 OEE 实时计算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良品率/不良品率统计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能耗分项计量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59" name="TextBox 16"/>
          <p:cNvSpPr txBox="1"/>
          <p:nvPr/>
        </p:nvSpPr>
        <p:spPr>
          <a:xfrm>
            <a:off x="777240" y="557784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北向推送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0" name="TextBox 17"/>
          <p:cNvSpPr txBox="1"/>
          <p:nvPr/>
        </p:nvSpPr>
        <p:spPr>
          <a:xfrm>
            <a:off x="1920240" y="557784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MQTT 推送 MES 系统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OPC UA 对接 SCADA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BACnet 对接楼宇暖通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1" name="Rounded Rectangle 18"/>
          <p:cNvSpPr/>
          <p:nvPr/>
        </p:nvSpPr>
        <p:spPr>
          <a:xfrm>
            <a:off x="5760720" y="173736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19"/>
          <p:cNvSpPr txBox="1"/>
          <p:nvPr/>
        </p:nvSpPr>
        <p:spPr>
          <a:xfrm>
            <a:off x="5943600" y="187451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落地价值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363" name="TextBox 20"/>
          <p:cNvSpPr txBox="1"/>
          <p:nvPr/>
        </p:nvSpPr>
        <p:spPr>
          <a:xfrm>
            <a:off x="5943600" y="21945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关键指标改善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4" name="TextBox 21"/>
          <p:cNvSpPr txBox="1"/>
          <p:nvPr/>
        </p:nvSpPr>
        <p:spPr>
          <a:xfrm>
            <a:off x="5943600" y="27432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OEE 统计精度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5" name="TextBox 22"/>
          <p:cNvSpPr txBox="1"/>
          <p:nvPr/>
        </p:nvSpPr>
        <p:spPr>
          <a:xfrm>
            <a:off x="8046720" y="27432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人工抄表 → 实时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6" name="TextBox 23"/>
          <p:cNvSpPr txBox="1"/>
          <p:nvPr/>
        </p:nvSpPr>
        <p:spPr>
          <a:xfrm>
            <a:off x="5943600" y="30358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30 台注塑机 OEE 自动汇总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7" name="Rectangle 24"/>
          <p:cNvSpPr/>
          <p:nvPr/>
        </p:nvSpPr>
        <p:spPr>
          <a:xfrm>
            <a:off x="5943600" y="33832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25"/>
          <p:cNvSpPr txBox="1"/>
          <p:nvPr/>
        </p:nvSpPr>
        <p:spPr>
          <a:xfrm>
            <a:off x="5943600" y="34290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设备利用率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69" name="TextBox 26"/>
          <p:cNvSpPr txBox="1"/>
          <p:nvPr/>
        </p:nvSpPr>
        <p:spPr>
          <a:xfrm>
            <a:off x="8046720" y="34290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排产优化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0" name="TextBox 27"/>
          <p:cNvSpPr txBox="1"/>
          <p:nvPr/>
        </p:nvSpPr>
        <p:spPr>
          <a:xfrm>
            <a:off x="5943600" y="37216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瓶颈设备识别与排产优化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1" name="Rectangle 28"/>
          <p:cNvSpPr/>
          <p:nvPr/>
        </p:nvSpPr>
        <p:spPr>
          <a:xfrm>
            <a:off x="5943600" y="40690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29"/>
          <p:cNvSpPr txBox="1"/>
          <p:nvPr/>
        </p:nvSpPr>
        <p:spPr>
          <a:xfrm>
            <a:off x="5943600" y="41148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不良品追溯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3" name="TextBox 30"/>
          <p:cNvSpPr txBox="1"/>
          <p:nvPr/>
        </p:nvSpPr>
        <p:spPr>
          <a:xfrm>
            <a:off x="8046720" y="41148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批次级 → 单件级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4" name="TextBox 31"/>
          <p:cNvSpPr txBox="1"/>
          <p:nvPr/>
        </p:nvSpPr>
        <p:spPr>
          <a:xfrm>
            <a:off x="5943600" y="44074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注射压力曲线关联质量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5" name="Rectangle 32"/>
          <p:cNvSpPr/>
          <p:nvPr/>
        </p:nvSpPr>
        <p:spPr>
          <a:xfrm>
            <a:off x="5943600" y="47548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3"/>
          <p:cNvSpPr txBox="1"/>
          <p:nvPr/>
        </p:nvSpPr>
        <p:spPr>
          <a:xfrm>
            <a:off x="5943600" y="48006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能耗降低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7" name="TextBox 34"/>
          <p:cNvSpPr txBox="1"/>
          <p:nvPr/>
        </p:nvSpPr>
        <p:spPr>
          <a:xfrm>
            <a:off x="8046720" y="48006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待机识别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8" name="TextBox 35"/>
          <p:cNvSpPr txBox="1"/>
          <p:nvPr/>
        </p:nvSpPr>
        <p:spPr>
          <a:xfrm>
            <a:off x="5943600" y="50932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待机识别 + 优化排产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79" name="Rectangle 36"/>
          <p:cNvSpPr/>
          <p:nvPr/>
        </p:nvSpPr>
        <p:spPr>
          <a:xfrm>
            <a:off x="5943600" y="54406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"/>
          <p:cNvSpPr txBox="1"/>
          <p:nvPr/>
        </p:nvSpPr>
        <p:spPr>
          <a:xfrm>
            <a:off x="5943600" y="54864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数据采集点数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81" name="TextBox 38"/>
          <p:cNvSpPr txBox="1"/>
          <p:nvPr/>
        </p:nvSpPr>
        <p:spPr>
          <a:xfrm>
            <a:off x="8046720" y="54864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1200+ Tag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82" name="TextBox 39"/>
          <p:cNvSpPr txBox="1"/>
          <p:nvPr/>
        </p:nvSpPr>
        <p:spPr>
          <a:xfrm>
            <a:off x="5943600" y="57790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30 台设备 × 40 点位/台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83" name="TextBox 40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20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86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五轴加工案例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387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Case Study 03 · 五轴加工设备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389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五轴加工设备状态监控与刀具管理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390" name="Rounded Rectangle 6"/>
          <p:cNvSpPr/>
          <p:nvPr/>
        </p:nvSpPr>
        <p:spPr>
          <a:xfrm>
            <a:off x="45720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7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场景概述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392" name="TextBox 8"/>
          <p:cNvSpPr txBox="1"/>
          <p:nvPr/>
        </p:nvSpPr>
        <p:spPr>
          <a:xfrm>
            <a:off x="640080" y="2194560"/>
            <a:ext cx="45720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五轴加工中心是航空航天、精密模具领域的核心设备，单价千万级。刀具磨损、主轴振动、热变形直接影响加工精度。传统监控依赖机床自带 HMI，数据封闭无法联动分析。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3" name="TextBox 9"/>
          <p:cNvSpPr txBox="1"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方案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4" name="TextBox 10"/>
          <p:cNvSpPr txBox="1"/>
          <p:nvPr/>
        </p:nvSpPr>
        <p:spPr>
          <a:xfrm>
            <a:off x="777240" y="338328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协议接入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5" name="TextBox 11"/>
          <p:cNvSpPr txBox="1"/>
          <p:nvPr/>
        </p:nvSpPr>
        <p:spPr>
          <a:xfrm>
            <a:off x="1920240" y="338328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OPC UA 对接西门子 840D sl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MTConnect 对接 DMG MORI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TCP 辅助采集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6" name="TextBox 12"/>
          <p:cNvSpPr txBox="1"/>
          <p:nvPr/>
        </p:nvSpPr>
        <p:spPr>
          <a:xfrm>
            <a:off x="777240" y="411480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7" name="TextBox 13"/>
          <p:cNvSpPr txBox="1"/>
          <p:nvPr/>
        </p:nvSpPr>
        <p:spPr>
          <a:xfrm>
            <a:off x="1920240" y="411480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主轴转速、进给速度、各轴位置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主轴功率、振动幅值、温度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刀具号、切削时间、负载率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8" name="TextBox 14"/>
          <p:cNvSpPr txBox="1"/>
          <p:nvPr/>
        </p:nvSpPr>
        <p:spPr>
          <a:xfrm>
            <a:off x="777240" y="484632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边缘规则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399" name="TextBox 15"/>
          <p:cNvSpPr txBox="1"/>
          <p:nvPr/>
        </p:nvSpPr>
        <p:spPr>
          <a:xfrm>
            <a:off x="1920240" y="484632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振动超阈值即时停机保护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刀具寿命到期预警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主轴热补偿值实时计算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0" name="TextBox 16"/>
          <p:cNvSpPr txBox="1"/>
          <p:nvPr/>
        </p:nvSpPr>
        <p:spPr>
          <a:xfrm>
            <a:off x="777240" y="5577840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MCP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1" name="TextBox 17"/>
          <p:cNvSpPr txBox="1"/>
          <p:nvPr/>
        </p:nvSpPr>
        <p:spPr>
          <a:xfrm>
            <a:off x="1920240" y="5577840"/>
            <a:ext cx="32918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Agent 调用 read_points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查询设备实时状态</a:t>
            </a:r>
            <a:endParaRPr lang="zh-CN">
              <a:solidFill>
                <a:srgbClr val="1E293B"/>
              </a:solidFill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调用 scan_devices 发现新设备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2" name="Rounded Rectangle 18"/>
          <p:cNvSpPr/>
          <p:nvPr/>
        </p:nvSpPr>
        <p:spPr>
          <a:xfrm>
            <a:off x="5760720" y="173736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TextBox 19"/>
          <p:cNvSpPr txBox="1"/>
          <p:nvPr/>
        </p:nvSpPr>
        <p:spPr>
          <a:xfrm>
            <a:off x="5943600" y="187451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落地价值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404" name="TextBox 20"/>
          <p:cNvSpPr txBox="1"/>
          <p:nvPr/>
        </p:nvSpPr>
        <p:spPr>
          <a:xfrm>
            <a:off x="5943600" y="21945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关键指标改善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5" name="TextBox 21"/>
          <p:cNvSpPr txBox="1"/>
          <p:nvPr/>
        </p:nvSpPr>
        <p:spPr>
          <a:xfrm>
            <a:off x="5943600" y="27432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刀具寿命利用率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6" name="TextBox 22"/>
          <p:cNvSpPr txBox="1"/>
          <p:nvPr/>
        </p:nvSpPr>
        <p:spPr>
          <a:xfrm>
            <a:off x="8046720" y="27432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实切计量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7" name="TextBox 23"/>
          <p:cNvSpPr txBox="1"/>
          <p:nvPr/>
        </p:nvSpPr>
        <p:spPr>
          <a:xfrm>
            <a:off x="5943600" y="30358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基于实际切削时间而非估算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08" name="Rectangle 24"/>
          <p:cNvSpPr/>
          <p:nvPr/>
        </p:nvSpPr>
        <p:spPr>
          <a:xfrm>
            <a:off x="5943600" y="33832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TextBox 25"/>
          <p:cNvSpPr txBox="1"/>
          <p:nvPr/>
        </p:nvSpPr>
        <p:spPr>
          <a:xfrm>
            <a:off x="5943600" y="34290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非计划停机降低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0" name="TextBox 26"/>
          <p:cNvSpPr txBox="1"/>
          <p:nvPr/>
        </p:nvSpPr>
        <p:spPr>
          <a:xfrm>
            <a:off x="8046720" y="34290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振动预警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1" name="TextBox 27"/>
          <p:cNvSpPr txBox="1"/>
          <p:nvPr/>
        </p:nvSpPr>
        <p:spPr>
          <a:xfrm>
            <a:off x="5943600" y="37216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振动预警提前干预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2" name="Rectangle 28"/>
          <p:cNvSpPr/>
          <p:nvPr/>
        </p:nvSpPr>
        <p:spPr>
          <a:xfrm>
            <a:off x="5943600" y="40690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TextBox 29"/>
          <p:cNvSpPr txBox="1"/>
          <p:nvPr/>
        </p:nvSpPr>
        <p:spPr>
          <a:xfrm>
            <a:off x="5943600" y="41148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加工精度一致性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4" name="TextBox 30"/>
          <p:cNvSpPr txBox="1"/>
          <p:nvPr/>
        </p:nvSpPr>
        <p:spPr>
          <a:xfrm>
            <a:off x="8046720" y="41148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热补偿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5" name="TextBox 31"/>
          <p:cNvSpPr txBox="1"/>
          <p:nvPr/>
        </p:nvSpPr>
        <p:spPr>
          <a:xfrm>
            <a:off x="5943600" y="44074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热补偿实时联动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6" name="Rectangle 32"/>
          <p:cNvSpPr/>
          <p:nvPr/>
        </p:nvSpPr>
        <p:spPr>
          <a:xfrm>
            <a:off x="5943600" y="47548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TextBox 33"/>
          <p:cNvSpPr txBox="1"/>
          <p:nvPr/>
        </p:nvSpPr>
        <p:spPr>
          <a:xfrm>
            <a:off x="5943600" y="48006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数据采集延迟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8" name="TextBox 34"/>
          <p:cNvSpPr txBox="1"/>
          <p:nvPr/>
        </p:nvSpPr>
        <p:spPr>
          <a:xfrm>
            <a:off x="8046720" y="48006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&lt; 5 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19" name="TextBox 35"/>
          <p:cNvSpPr txBox="1"/>
          <p:nvPr/>
        </p:nvSpPr>
        <p:spPr>
          <a:xfrm>
            <a:off x="5943600" y="50932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无锁读路径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20" name="Rectangle 36"/>
          <p:cNvSpPr/>
          <p:nvPr/>
        </p:nvSpPr>
        <p:spPr>
          <a:xfrm>
            <a:off x="5943600" y="54406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TextBox 37"/>
          <p:cNvSpPr txBox="1"/>
          <p:nvPr/>
        </p:nvSpPr>
        <p:spPr>
          <a:xfrm>
            <a:off x="5943600" y="5486400"/>
            <a:ext cx="20116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诊断准确率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22" name="TextBox 38"/>
          <p:cNvSpPr txBox="1"/>
          <p:nvPr/>
        </p:nvSpPr>
        <p:spPr>
          <a:xfrm>
            <a:off x="8046720" y="548640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频谱分析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23" name="TextBox 39"/>
          <p:cNvSpPr txBox="1"/>
          <p:nvPr/>
        </p:nvSpPr>
        <p:spPr>
          <a:xfrm>
            <a:off x="5943600" y="5779008"/>
            <a:ext cx="50292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振动频谱 + 切削参数分析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24" name="TextBox 40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21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4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427" name="TextBox 2"/>
          <p:cNvSpPr txBox="1"/>
          <p:nvPr/>
        </p:nvSpPr>
        <p:spPr>
          <a:xfrm>
            <a:off x="5943600" y="13716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楼宇与能源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428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TextBox 4"/>
          <p:cNvSpPr txBox="1"/>
          <p:nvPr/>
        </p:nvSpPr>
        <p:spPr>
          <a:xfrm>
            <a:off x="457200" y="64008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Case Study 04/05 · 楼宇自动化与能源管理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30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楼宇自动化与能源管理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431" name="Rounded Rectangle 6"/>
          <p:cNvSpPr/>
          <p:nvPr/>
        </p:nvSpPr>
        <p:spPr>
          <a:xfrm>
            <a:off x="457200" y="173736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TextBox 7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场景概述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433" name="TextBox 8"/>
          <p:cNvSpPr txBox="1"/>
          <p:nvPr/>
        </p:nvSpPr>
        <p:spPr>
          <a:xfrm>
            <a:off x="640080" y="2194560"/>
            <a:ext cx="1780159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楼宇自动化：BACnet/KNXnet 接入暖通、照明、窗帘，多协议转换与联动控制。能源管理：DL/T645 电表 + IEC 104 电力 + Modbus 水气热表，能源分项计量与能耗分析。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4" name="TextBox 9"/>
          <p:cNvSpPr txBox="1"/>
          <p:nvPr/>
        </p:nvSpPr>
        <p:spPr>
          <a:xfrm>
            <a:off x="640080" y="3017520"/>
            <a:ext cx="2743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技术方案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5" name="TextBox 10"/>
          <p:cNvSpPr txBox="1"/>
          <p:nvPr/>
        </p:nvSpPr>
        <p:spPr>
          <a:xfrm>
            <a:off x="777240" y="3383280"/>
            <a:ext cx="11938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楼宇自动化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6" name="TextBox 11"/>
          <p:cNvSpPr txBox="1"/>
          <p:nvPr/>
        </p:nvSpPr>
        <p:spPr>
          <a:xfrm>
            <a:off x="1920240" y="3383280"/>
            <a:ext cx="1404112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BACnet 设备自动发现、对象/点位扫描、COV 订阅推送、KNXnet 网关发现导入、温度联动空调启停、照明时间表控制、MQTT 推楼宇平台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7" name="TextBox 12"/>
          <p:cNvSpPr txBox="1"/>
          <p:nvPr/>
        </p:nvSpPr>
        <p:spPr>
          <a:xfrm>
            <a:off x="777240" y="4114800"/>
            <a:ext cx="10972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能源管理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8" name="TextBox 13"/>
          <p:cNvSpPr txBox="1"/>
          <p:nvPr/>
        </p:nvSpPr>
        <p:spPr>
          <a:xfrm>
            <a:off x="1920240" y="4114800"/>
            <a:ext cx="1466977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DL/T645 电表自动读取、IEC 104 遥测/遥信、Modbus 水气热表采集、功率因数实时计算、峰谷平电价标记、能耗分项计量、MQTT 推能源平台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39" name="TextBox 14"/>
          <p:cNvSpPr txBox="1"/>
          <p:nvPr/>
        </p:nvSpPr>
        <p:spPr>
          <a:xfrm>
            <a:off x="777240" y="4846320"/>
            <a:ext cx="10972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联动控制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0" name="TextBox 15"/>
          <p:cNvSpPr txBox="1"/>
          <p:nvPr/>
        </p:nvSpPr>
        <p:spPr>
          <a:xfrm>
            <a:off x="1920240" y="4846320"/>
            <a:ext cx="82804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温度越限即时告警联动空调启停。照明按时间表自动开关。能耗超阈值触发告警。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1" name="TextBox 16"/>
          <p:cNvSpPr txBox="1"/>
          <p:nvPr/>
        </p:nvSpPr>
        <p:spPr>
          <a:xfrm>
            <a:off x="777240" y="5577840"/>
            <a:ext cx="10972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北向推送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2" name="TextBox 17"/>
          <p:cNvSpPr txBox="1"/>
          <p:nvPr/>
        </p:nvSpPr>
        <p:spPr>
          <a:xfrm>
            <a:off x="1920240" y="5577840"/>
            <a:ext cx="870331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MQTT 推送楼宇/能源平台。OPC UA 对接 SCADA 看板。BACnet 对接楼宇暖通系统。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3" name="Rounded Rectangle 18"/>
          <p:cNvSpPr/>
          <p:nvPr/>
        </p:nvSpPr>
        <p:spPr>
          <a:xfrm>
            <a:off x="5760720" y="1737360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TextBox 19"/>
          <p:cNvSpPr txBox="1"/>
          <p:nvPr/>
        </p:nvSpPr>
        <p:spPr>
          <a:xfrm>
            <a:off x="5943600" y="1874519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落地价值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445" name="TextBox 20"/>
          <p:cNvSpPr txBox="1"/>
          <p:nvPr/>
        </p:nvSpPr>
        <p:spPr>
          <a:xfrm>
            <a:off x="5943600" y="21945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关键指标改善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6" name="TextBox 21"/>
          <p:cNvSpPr txBox="1"/>
          <p:nvPr/>
        </p:nvSpPr>
        <p:spPr>
          <a:xfrm>
            <a:off x="5943600" y="2743200"/>
            <a:ext cx="20116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楼宇联动效率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7" name="TextBox 22"/>
          <p:cNvSpPr txBox="1"/>
          <p:nvPr/>
        </p:nvSpPr>
        <p:spPr>
          <a:xfrm>
            <a:off x="8046720" y="2743200"/>
            <a:ext cx="22860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自动联动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8" name="TextBox 23"/>
          <p:cNvSpPr txBox="1"/>
          <p:nvPr/>
        </p:nvSpPr>
        <p:spPr>
          <a:xfrm>
            <a:off x="5943600" y="3035808"/>
            <a:ext cx="5029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温度越限毫秒级告警联动空调启停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49" name="Rectangle 24"/>
          <p:cNvSpPr/>
          <p:nvPr/>
        </p:nvSpPr>
        <p:spPr>
          <a:xfrm>
            <a:off x="5943600" y="33832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TextBox 25"/>
          <p:cNvSpPr txBox="1"/>
          <p:nvPr/>
        </p:nvSpPr>
        <p:spPr>
          <a:xfrm>
            <a:off x="5943600" y="3429000"/>
            <a:ext cx="20116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能耗分析精度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1" name="TextBox 26"/>
          <p:cNvSpPr txBox="1"/>
          <p:nvPr/>
        </p:nvSpPr>
        <p:spPr>
          <a:xfrm>
            <a:off x="8046720" y="3429000"/>
            <a:ext cx="22860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分项计量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2" name="TextBox 27"/>
          <p:cNvSpPr txBox="1"/>
          <p:nvPr/>
        </p:nvSpPr>
        <p:spPr>
          <a:xfrm>
            <a:off x="5943600" y="3721608"/>
            <a:ext cx="5029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电力/水/气/热量分项计量与能耗看板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3" name="Rectangle 28"/>
          <p:cNvSpPr/>
          <p:nvPr/>
        </p:nvSpPr>
        <p:spPr>
          <a:xfrm>
            <a:off x="5943600" y="40690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TextBox 29"/>
          <p:cNvSpPr txBox="1"/>
          <p:nvPr/>
        </p:nvSpPr>
        <p:spPr>
          <a:xfrm>
            <a:off x="5943600" y="4114800"/>
            <a:ext cx="20116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协议转换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5" name="TextBox 30"/>
          <p:cNvSpPr txBox="1"/>
          <p:nvPr/>
        </p:nvSpPr>
        <p:spPr>
          <a:xfrm>
            <a:off x="8046720" y="4114800"/>
            <a:ext cx="22860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多协议网关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6" name="TextBox 31"/>
          <p:cNvSpPr txBox="1"/>
          <p:nvPr/>
        </p:nvSpPr>
        <p:spPr>
          <a:xfrm>
            <a:off x="5943600" y="4407408"/>
            <a:ext cx="5029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BACnet/KNXnet/Modbus 统一接入与转换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7" name="Rectangle 32"/>
          <p:cNvSpPr/>
          <p:nvPr/>
        </p:nvSpPr>
        <p:spPr>
          <a:xfrm>
            <a:off x="5943600" y="47548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TextBox 33"/>
          <p:cNvSpPr txBox="1"/>
          <p:nvPr/>
        </p:nvSpPr>
        <p:spPr>
          <a:xfrm>
            <a:off x="5943600" y="4800600"/>
            <a:ext cx="20116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数据采集点数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59" name="TextBox 34"/>
          <p:cNvSpPr txBox="1"/>
          <p:nvPr/>
        </p:nvSpPr>
        <p:spPr>
          <a:xfrm>
            <a:off x="8046720" y="4800600"/>
            <a:ext cx="22860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500+ Tag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0" name="TextBox 35"/>
          <p:cNvSpPr txBox="1"/>
          <p:nvPr/>
        </p:nvSpPr>
        <p:spPr>
          <a:xfrm>
            <a:off x="5943600" y="5093208"/>
            <a:ext cx="5029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楼宇+能源全量点位覆盖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1" name="Rectangle 36"/>
          <p:cNvSpPr/>
          <p:nvPr/>
        </p:nvSpPr>
        <p:spPr>
          <a:xfrm>
            <a:off x="5943600" y="5440680"/>
            <a:ext cx="5303520" cy="9144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TextBox 37"/>
          <p:cNvSpPr txBox="1"/>
          <p:nvPr/>
        </p:nvSpPr>
        <p:spPr>
          <a:xfrm>
            <a:off x="5943600" y="5486400"/>
            <a:ext cx="201168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部署成本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3" name="TextBox 38"/>
          <p:cNvSpPr txBox="1"/>
          <p:nvPr/>
        </p:nvSpPr>
        <p:spPr>
          <a:xfrm>
            <a:off x="8046720" y="5486400"/>
            <a:ext cx="22860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单网关替代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4" name="TextBox 39"/>
          <p:cNvSpPr txBox="1"/>
          <p:nvPr/>
        </p:nvSpPr>
        <p:spPr>
          <a:xfrm>
            <a:off x="5943600" y="5779008"/>
            <a:ext cx="50292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单台 EdgeCore 替代多台协议转换网关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65" name="TextBox 40"/>
          <p:cNvSpPr txBox="1"/>
          <p:nvPr/>
        </p:nvSpPr>
        <p:spPr>
          <a:xfrm>
            <a:off x="10515600" y="6400800"/>
            <a:ext cx="13716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22 / 29</a:t>
            </a: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4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468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更多场景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469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More Scenarios · 更多工厂场景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471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更多工厂应用场景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472" name="Rounded Rectangle 6"/>
          <p:cNvSpPr/>
          <p:nvPr/>
        </p:nvSpPr>
        <p:spPr>
          <a:xfrm>
            <a:off x="45720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TextBox 7"/>
          <p:cNvSpPr txBox="1"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CNC 加工中心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74" name="Rounded Rectangle 8"/>
          <p:cNvSpPr/>
          <p:nvPr/>
        </p:nvSpPr>
        <p:spPr>
          <a:xfrm>
            <a:off x="640080" y="2286000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Modbus / OPC UA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75" name="TextBox 9"/>
          <p:cNvSpPr txBox="1"/>
          <p:nvPr/>
        </p:nvSpPr>
        <p:spPr>
          <a:xfrm>
            <a:off x="640080" y="269748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主轴负载监控、刀具寿命管理、加工节拍统计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76" name="Rounded Rectangle 10"/>
          <p:cNvSpPr/>
          <p:nvPr/>
        </p:nvSpPr>
        <p:spPr>
          <a:xfrm>
            <a:off x="329184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TextBox 11"/>
          <p:cNvSpPr txBox="1"/>
          <p:nvPr/>
        </p:nvSpPr>
        <p:spPr>
          <a:xfrm>
            <a:off x="347472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冲压机产线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78" name="Rounded Rectangle 12"/>
          <p:cNvSpPr/>
          <p:nvPr/>
        </p:nvSpPr>
        <p:spPr>
          <a:xfrm>
            <a:off x="3474720" y="2286000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Modbus TCP / RTU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79" name="TextBox 13"/>
          <p:cNvSpPr txBox="1"/>
          <p:nvPr/>
        </p:nvSpPr>
        <p:spPr>
          <a:xfrm>
            <a:off x="3474720" y="269748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冲程计数、模具磨损监测、安全联锁控制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0" name="Rounded Rectangle 14"/>
          <p:cNvSpPr/>
          <p:nvPr/>
        </p:nvSpPr>
        <p:spPr>
          <a:xfrm>
            <a:off x="612648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TextBox 15"/>
          <p:cNvSpPr txBox="1"/>
          <p:nvPr/>
        </p:nvSpPr>
        <p:spPr>
          <a:xfrm>
            <a:off x="63093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热处理炉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2" name="Rounded Rectangle 16"/>
          <p:cNvSpPr/>
          <p:nvPr/>
        </p:nvSpPr>
        <p:spPr>
          <a:xfrm>
            <a:off x="6309360" y="2286000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Modbus RTU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483" name="TextBox 17"/>
          <p:cNvSpPr txBox="1"/>
          <p:nvPr/>
        </p:nvSpPr>
        <p:spPr>
          <a:xfrm>
            <a:off x="6309360" y="269748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炉温曲线记录、区段温度控制、能耗分析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4" name="Rounded Rectangle 18"/>
          <p:cNvSpPr/>
          <p:nvPr/>
        </p:nvSpPr>
        <p:spPr>
          <a:xfrm>
            <a:off x="8961120" y="173736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TextBox 19"/>
          <p:cNvSpPr txBox="1"/>
          <p:nvPr/>
        </p:nvSpPr>
        <p:spPr>
          <a:xfrm>
            <a:off x="914400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空压机站房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6" name="Rounded Rectangle 20"/>
          <p:cNvSpPr/>
          <p:nvPr/>
        </p:nvSpPr>
        <p:spPr>
          <a:xfrm>
            <a:off x="9144000" y="2286000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Modbus TCP / SNMP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87" name="TextBox 21"/>
          <p:cNvSpPr txBox="1"/>
          <p:nvPr/>
        </p:nvSpPr>
        <p:spPr>
          <a:xfrm>
            <a:off x="9144000" y="269748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排气压力监控、能效优化、联动启停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88" name="Rounded Rectangle 22"/>
          <p:cNvSpPr/>
          <p:nvPr/>
        </p:nvSpPr>
        <p:spPr>
          <a:xfrm>
            <a:off x="45720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TextBox 23"/>
          <p:cNvSpPr txBox="1"/>
          <p:nvPr/>
        </p:nvSpPr>
        <p:spPr>
          <a:xfrm>
            <a:off x="640080" y="4251959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AGV / RGV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90" name="Rounded Rectangle 24"/>
          <p:cNvSpPr/>
          <p:nvPr/>
        </p:nvSpPr>
        <p:spPr>
          <a:xfrm>
            <a:off x="640080" y="4617719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TCP / Modbus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91" name="TextBox 25"/>
          <p:cNvSpPr txBox="1"/>
          <p:nvPr/>
        </p:nvSpPr>
        <p:spPr>
          <a:xfrm>
            <a:off x="640080" y="5029199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位置追踪、任务状态、电量监控、路径优化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92" name="Rounded Rectangle 26"/>
          <p:cNvSpPr/>
          <p:nvPr/>
        </p:nvSpPr>
        <p:spPr>
          <a:xfrm>
            <a:off x="329184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27"/>
          <p:cNvSpPr txBox="1"/>
          <p:nvPr/>
        </p:nvSpPr>
        <p:spPr>
          <a:xfrm>
            <a:off x="3474720" y="4251959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环境监控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94" name="Rounded Rectangle 28"/>
          <p:cNvSpPr/>
          <p:nvPr/>
        </p:nvSpPr>
        <p:spPr>
          <a:xfrm>
            <a:off x="3474720" y="4617719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BACnet / Modbus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95" name="TextBox 29"/>
          <p:cNvSpPr txBox="1"/>
          <p:nvPr/>
        </p:nvSpPr>
        <p:spPr>
          <a:xfrm>
            <a:off x="3474720" y="5029199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温湿度、粉尘、噪音、VOC 实时监测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96" name="Rounded Rectangle 30"/>
          <p:cNvSpPr/>
          <p:nvPr/>
        </p:nvSpPr>
        <p:spPr>
          <a:xfrm>
            <a:off x="612648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TextBox 31"/>
          <p:cNvSpPr txBox="1"/>
          <p:nvPr/>
        </p:nvSpPr>
        <p:spPr>
          <a:xfrm>
            <a:off x="6309360" y="4251959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能源计量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498" name="Rounded Rectangle 32"/>
          <p:cNvSpPr/>
          <p:nvPr/>
        </p:nvSpPr>
        <p:spPr>
          <a:xfrm>
            <a:off x="6309360" y="4617719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chemeClr val="bg1"/>
                </a:solidFill>
              </a:rPr>
              <a:t>DL/T645 / IEC 104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499" name="TextBox 33"/>
          <p:cNvSpPr txBox="1"/>
          <p:nvPr/>
        </p:nvSpPr>
        <p:spPr>
          <a:xfrm>
            <a:off x="6309360" y="5029199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电力分项计量、水电气热量、能耗看板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00" name="Rounded Rectangle 34"/>
          <p:cNvSpPr/>
          <p:nvPr/>
        </p:nvSpPr>
        <p:spPr>
          <a:xfrm>
            <a:off x="8961120" y="4069079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TextBox 35"/>
          <p:cNvSpPr txBox="1"/>
          <p:nvPr/>
        </p:nvSpPr>
        <p:spPr>
          <a:xfrm>
            <a:off x="9144000" y="4251959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网络设备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02" name="Rounded Rectangle 36"/>
          <p:cNvSpPr/>
          <p:nvPr/>
        </p:nvSpPr>
        <p:spPr>
          <a:xfrm>
            <a:off x="9144000" y="4617719"/>
            <a:ext cx="1828800" cy="256032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800" b="0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SNMP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503" name="TextBox 37"/>
          <p:cNvSpPr txBox="1"/>
          <p:nvPr/>
        </p:nvSpPr>
        <p:spPr>
          <a:xfrm>
            <a:off x="9144000" y="5029199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9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交换机/路由器端口流量与电源状态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04" name="TextBox 38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23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5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图片 380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3556000"/>
            <a:ext cx="3471007" cy="2374900"/>
          </a:xfrm>
          <a:prstGeom prst="rect">
            <a:avLst/>
          </a:prstGeom>
        </p:spPr>
      </p:pic>
      <p:sp>
        <p:nvSpPr>
          <p:cNvPr id="507" name="矩形 381"/>
          <p:cNvSpPr/>
          <p:nvPr/>
        </p:nvSpPr>
        <p:spPr>
          <a:xfrm>
            <a:off x="457200" y="533400"/>
            <a:ext cx="11277600" cy="127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508" name="矩形 382"/>
          <p:cNvSpPr/>
          <p:nvPr/>
        </p:nvSpPr>
        <p:spPr>
          <a:xfrm>
            <a:off x="457200" y="228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2563EB"/>
                </a:solidFill>
              </a:rPr>
              <a:t>Landing Scenarios · 落地场景全景</a:t>
            </a:r>
            <a:endParaRPr lang="zh-CN" sz="1300">
              <a:solidFill>
                <a:srgbClr val="2563EB"/>
              </a:solidFill>
            </a:endParaRPr>
          </a:p>
        </p:txBody>
      </p:sp>
      <p:sp>
        <p:nvSpPr>
          <p:cNvPr id="509" name="矩形 383"/>
          <p:cNvSpPr/>
          <p:nvPr/>
        </p:nvSpPr>
        <p:spPr>
          <a:xfrm>
            <a:off x="457200" y="635000"/>
            <a:ext cx="88900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E293B"/>
                </a:solidFill>
              </a:rPr>
              <a:t>20 类工业现场应用，覆盖五大领域</a:t>
            </a:r>
            <a:endParaRPr lang="zh-CN" sz="2600">
              <a:solidFill>
                <a:srgbClr val="1E293B"/>
              </a:solidFill>
            </a:endParaRPr>
          </a:p>
        </p:txBody>
      </p:sp>
      <p:sp>
        <p:nvSpPr>
          <p:cNvPr id="510" name="矩形 384"/>
          <p:cNvSpPr/>
          <p:nvPr/>
        </p:nvSpPr>
        <p:spPr>
          <a:xfrm>
            <a:off x="457200" y="1219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64748B"/>
                </a:solidFill>
              </a:rPr>
              <a:t>从设备连接到智能协同，已在压铸、注塑、加工、能源、楼宇等场景完成实机验证</a:t>
            </a:r>
            <a:endParaRPr lang="zh-CN" sz="1200">
              <a:solidFill>
                <a:srgbClr val="64748B"/>
              </a:solidFill>
            </a:endParaRPr>
          </a:p>
        </p:txBody>
      </p:sp>
      <p:sp>
        <p:nvSpPr>
          <p:cNvPr id="511" name="圆角矩形 385"/>
          <p:cNvSpPr/>
          <p:nvPr/>
        </p:nvSpPr>
        <p:spPr>
          <a:xfrm>
            <a:off x="457200" y="1651000"/>
            <a:ext cx="2092960" cy="4318000"/>
          </a:xfrm>
          <a:prstGeom prst="roundRect">
            <a:avLst>
              <a:gd name="adj" fmla="val 437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2" name="圆角矩形 386"/>
          <p:cNvSpPr/>
          <p:nvPr/>
        </p:nvSpPr>
        <p:spPr>
          <a:xfrm>
            <a:off x="457200" y="1651000"/>
            <a:ext cx="2092960" cy="533400"/>
          </a:xfrm>
          <a:prstGeom prst="roundRect">
            <a:avLst>
              <a:gd name="adj" fmla="val 4376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3" name="矩形 387"/>
          <p:cNvSpPr/>
          <p:nvPr/>
        </p:nvSpPr>
        <p:spPr>
          <a:xfrm>
            <a:off x="609600" y="1778000"/>
            <a:ext cx="178816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</a:rPr>
              <a:t>工业能源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514" name="矩形 388"/>
          <p:cNvSpPr/>
          <p:nvPr/>
        </p:nvSpPr>
        <p:spPr>
          <a:xfrm>
            <a:off x="584200" y="231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电力自动化（IEC 104 / DL/T645）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15" name="矩形 389"/>
          <p:cNvSpPr/>
          <p:nvPr/>
        </p:nvSpPr>
        <p:spPr>
          <a:xfrm>
            <a:off x="584200" y="294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光伏电站逆变器聚合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16" name="矩形 390"/>
          <p:cNvSpPr/>
          <p:nvPr/>
        </p:nvSpPr>
        <p:spPr>
          <a:xfrm>
            <a:off x="584200" y="358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冷链物流监控与断点续传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17" name="矩形 391"/>
          <p:cNvSpPr/>
          <p:nvPr/>
        </p:nvSpPr>
        <p:spPr>
          <a:xfrm>
            <a:off x="584200" y="421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电能表联合抄表 / 能耗统计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18" name="矩形 392"/>
          <p:cNvSpPr/>
          <p:nvPr/>
        </p:nvSpPr>
        <p:spPr>
          <a:xfrm>
            <a:off x="584200" y="485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变电站总召唤与遥控操作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19" name="圆角矩形 393"/>
          <p:cNvSpPr/>
          <p:nvPr/>
        </p:nvSpPr>
        <p:spPr>
          <a:xfrm>
            <a:off x="2753360" y="1651000"/>
            <a:ext cx="2092960" cy="4318000"/>
          </a:xfrm>
          <a:prstGeom prst="roundRect">
            <a:avLst>
              <a:gd name="adj" fmla="val 437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0" name="圆角矩形 394"/>
          <p:cNvSpPr/>
          <p:nvPr/>
        </p:nvSpPr>
        <p:spPr>
          <a:xfrm>
            <a:off x="2753360" y="1651000"/>
            <a:ext cx="2092960" cy="533400"/>
          </a:xfrm>
          <a:prstGeom prst="roundRect">
            <a:avLst>
              <a:gd name="adj" fmla="val 4376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1" name="矩形 395"/>
          <p:cNvSpPr/>
          <p:nvPr/>
        </p:nvSpPr>
        <p:spPr>
          <a:xfrm>
            <a:off x="2905760" y="1778000"/>
            <a:ext cx="178816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</a:rPr>
              <a:t>智能制造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522" name="矩形 396"/>
          <p:cNvSpPr/>
          <p:nvPr/>
        </p:nvSpPr>
        <p:spPr>
          <a:xfrm>
            <a:off x="2880360" y="231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PLC 读写控制（Modbus / S7）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23" name="矩形 397"/>
          <p:cNvSpPr/>
          <p:nvPr/>
        </p:nvSpPr>
        <p:spPr>
          <a:xfrm>
            <a:off x="2880360" y="294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多设备跨协议联动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24" name="矩形 398"/>
          <p:cNvSpPr/>
          <p:nvPr/>
        </p:nvSpPr>
        <p:spPr>
          <a:xfrm>
            <a:off x="2880360" y="358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预测性维护与振动分析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25" name="矩形 399"/>
          <p:cNvSpPr/>
          <p:nvPr/>
        </p:nvSpPr>
        <p:spPr>
          <a:xfrm>
            <a:off x="2880360" y="421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产线节拍 / OEE 统计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26" name="矩形 400"/>
          <p:cNvSpPr/>
          <p:nvPr/>
        </p:nvSpPr>
        <p:spPr>
          <a:xfrm>
            <a:off x="2880360" y="485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Modbus 设备透传桥接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27" name="圆角矩形 401"/>
          <p:cNvSpPr/>
          <p:nvPr/>
        </p:nvSpPr>
        <p:spPr>
          <a:xfrm>
            <a:off x="5049520" y="1651000"/>
            <a:ext cx="2092960" cy="4318000"/>
          </a:xfrm>
          <a:prstGeom prst="roundRect">
            <a:avLst>
              <a:gd name="adj" fmla="val 437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8" name="圆角矩形 402"/>
          <p:cNvSpPr/>
          <p:nvPr/>
        </p:nvSpPr>
        <p:spPr>
          <a:xfrm>
            <a:off x="5049520" y="1651000"/>
            <a:ext cx="2092960" cy="533400"/>
          </a:xfrm>
          <a:prstGeom prst="roundRect">
            <a:avLst>
              <a:gd name="adj" fmla="val 4376"/>
            </a:avLst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9" name="矩形 403"/>
          <p:cNvSpPr/>
          <p:nvPr/>
        </p:nvSpPr>
        <p:spPr>
          <a:xfrm>
            <a:off x="5201920" y="1778000"/>
            <a:ext cx="178816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</a:rPr>
              <a:t>楼宇自动化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530" name="矩形 404"/>
          <p:cNvSpPr/>
          <p:nvPr/>
        </p:nvSpPr>
        <p:spPr>
          <a:xfrm>
            <a:off x="5176520" y="231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暖通 / 照明 / 安防子系统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1" name="矩形 405"/>
          <p:cNvSpPr/>
          <p:nvPr/>
        </p:nvSpPr>
        <p:spPr>
          <a:xfrm>
            <a:off x="5176520" y="294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BACnet / KNX 统一接入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2" name="矩形 406"/>
          <p:cNvSpPr/>
          <p:nvPr/>
        </p:nvSpPr>
        <p:spPr>
          <a:xfrm>
            <a:off x="5176520" y="358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温度越限毫秒级告警联动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3" name="矩形 407"/>
          <p:cNvSpPr/>
          <p:nvPr/>
        </p:nvSpPr>
        <p:spPr>
          <a:xfrm>
            <a:off x="5176520" y="421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能耗分项计量与看板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4" name="矩形 408"/>
          <p:cNvSpPr/>
          <p:nvPr/>
        </p:nvSpPr>
        <p:spPr>
          <a:xfrm>
            <a:off x="5176520" y="485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多协议网关转换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5" name="圆角矩形 409"/>
          <p:cNvSpPr/>
          <p:nvPr/>
        </p:nvSpPr>
        <p:spPr>
          <a:xfrm>
            <a:off x="7345680" y="1651000"/>
            <a:ext cx="2092960" cy="4318000"/>
          </a:xfrm>
          <a:prstGeom prst="roundRect">
            <a:avLst>
              <a:gd name="adj" fmla="val 4376"/>
            </a:avLst>
          </a:prstGeom>
          <a:solidFill>
            <a:srgbClr val="E0E7FF"/>
          </a:solidFill>
          <a:ln w="12700">
            <a:solidFill>
              <a:srgbClr val="A5B4FC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6" name="圆角矩形 410"/>
          <p:cNvSpPr/>
          <p:nvPr/>
        </p:nvSpPr>
        <p:spPr>
          <a:xfrm>
            <a:off x="7345680" y="1651000"/>
            <a:ext cx="2092960" cy="533400"/>
          </a:xfrm>
          <a:prstGeom prst="roundRect">
            <a:avLst>
              <a:gd name="adj" fmla="val 4376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7" name="矩形 411"/>
          <p:cNvSpPr/>
          <p:nvPr/>
        </p:nvSpPr>
        <p:spPr>
          <a:xfrm>
            <a:off x="7498080" y="1778000"/>
            <a:ext cx="178816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</a:rPr>
              <a:t>无人值守站点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538" name="矩形 412"/>
          <p:cNvSpPr/>
          <p:nvPr/>
        </p:nvSpPr>
        <p:spPr>
          <a:xfrm>
            <a:off x="7472680" y="231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通信基站 / 泵站 / 变电站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39" name="矩形 413"/>
          <p:cNvSpPr/>
          <p:nvPr/>
        </p:nvSpPr>
        <p:spPr>
          <a:xfrm>
            <a:off x="7472680" y="294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128 MB 内存长期稳定运行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0" name="矩形 414"/>
          <p:cNvSpPr/>
          <p:nvPr/>
        </p:nvSpPr>
        <p:spPr>
          <a:xfrm>
            <a:off x="7472680" y="358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弱网 / 断网数据断点续传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1" name="矩形 415"/>
          <p:cNvSpPr/>
          <p:nvPr/>
        </p:nvSpPr>
        <p:spPr>
          <a:xfrm>
            <a:off x="7472680" y="421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环境温湿度监控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2" name="矩形 416"/>
          <p:cNvSpPr/>
          <p:nvPr/>
        </p:nvSpPr>
        <p:spPr>
          <a:xfrm>
            <a:off x="7472680" y="485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机房 / 洁净室实时监测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3" name="圆角矩形 417"/>
          <p:cNvSpPr/>
          <p:nvPr/>
        </p:nvSpPr>
        <p:spPr>
          <a:xfrm>
            <a:off x="9641840" y="1651000"/>
            <a:ext cx="2092960" cy="4318000"/>
          </a:xfrm>
          <a:prstGeom prst="roundRect">
            <a:avLst>
              <a:gd name="adj" fmla="val 4376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4" name="圆角矩形 418"/>
          <p:cNvSpPr/>
          <p:nvPr/>
        </p:nvSpPr>
        <p:spPr>
          <a:xfrm>
            <a:off x="9641840" y="1651000"/>
            <a:ext cx="2092960" cy="533400"/>
          </a:xfrm>
          <a:prstGeom prst="roundRect">
            <a:avLst>
              <a:gd name="adj" fmla="val 4376"/>
            </a:avLst>
          </a:prstGeom>
          <a:solidFill>
            <a:srgbClr val="D8B4FE"/>
          </a:solidFill>
          <a:ln w="12700">
            <a:solidFill>
              <a:srgbClr val="D8B4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5" name="矩形 419"/>
          <p:cNvSpPr/>
          <p:nvPr/>
        </p:nvSpPr>
        <p:spPr>
          <a:xfrm>
            <a:off x="9794240" y="1778000"/>
            <a:ext cx="178816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</a:rPr>
              <a:t>网络 &amp; ICT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546" name="矩形 420"/>
          <p:cNvSpPr/>
          <p:nvPr/>
        </p:nvSpPr>
        <p:spPr>
          <a:xfrm>
            <a:off x="9768840" y="231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交换机 / 路由器 SNMP 监控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7" name="矩形 421"/>
          <p:cNvSpPr/>
          <p:nvPr/>
        </p:nvSpPr>
        <p:spPr>
          <a:xfrm>
            <a:off x="9768840" y="294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端口流量 / 温度 / 电源状态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8" name="矩形 422"/>
          <p:cNvSpPr/>
          <p:nvPr/>
        </p:nvSpPr>
        <p:spPr>
          <a:xfrm>
            <a:off x="9768840" y="358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工业网络健康度预警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49" name="矩形 423"/>
          <p:cNvSpPr/>
          <p:nvPr/>
        </p:nvSpPr>
        <p:spPr>
          <a:xfrm>
            <a:off x="9768840" y="4216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ICT 设备统一可观测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50" name="矩形 424"/>
          <p:cNvSpPr/>
          <p:nvPr/>
        </p:nvSpPr>
        <p:spPr>
          <a:xfrm>
            <a:off x="9768840" y="4851400"/>
            <a:ext cx="1838960" cy="660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334155"/>
                </a:solidFill>
              </a:rPr>
              <a:t>• OT + 网络一体化底座</a:t>
            </a:r>
            <a:endParaRPr lang="zh-CN" sz="1000">
              <a:solidFill>
                <a:srgbClr val="334155"/>
              </a:solidFill>
            </a:endParaRPr>
          </a:p>
        </p:txBody>
      </p:sp>
      <p:sp>
        <p:nvSpPr>
          <p:cNvPr id="551" name="矩形 425"/>
          <p:cNvSpPr/>
          <p:nvPr/>
        </p:nvSpPr>
        <p:spPr>
          <a:xfrm>
            <a:off x="457200" y="6146800"/>
            <a:ext cx="112776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实际部署中可按产线、车间、站点自由组合，延伸出数百种具体落地方案</a:t>
            </a:r>
            <a:endParaRPr lang="zh-CN" sz="1000">
              <a:solidFill>
                <a:srgbClr val="94A3B8"/>
              </a:solidFill>
            </a:endParaRPr>
          </a:p>
        </p:txBody>
      </p:sp>
      <p:sp>
        <p:nvSpPr>
          <p:cNvPr id="552" name="矩形 426"/>
          <p:cNvSpPr/>
          <p:nvPr/>
        </p:nvSpPr>
        <p:spPr>
          <a:xfrm>
            <a:off x="10515600" y="6400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94A3B8"/>
                </a:solidFill>
              </a:rPr>
              <a:t>24 / 29</a:t>
            </a:r>
            <a:endParaRPr lang="zh-C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5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Box 1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0" b="1">
                <a:solidFill>
                  <a:srgbClr val="1A2238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chemeClr val="accent1">
                    <a:lumMod val="20000"/>
                    <a:lumOff val="80000"/>
                  </a:schemeClr>
                </a:solidFill>
              </a:rPr>
              <a:t>05</a:t>
            </a:r>
            <a:endParaRPr lang="zh-CN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55" name="TextBox 2"/>
          <p:cNvSpPr txBox="1"/>
          <p:nvPr/>
        </p:nvSpPr>
        <p:spPr>
          <a:xfrm>
            <a:off x="731520" y="20116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Section · 05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56" name="TextBox 3"/>
          <p:cNvSpPr txBox="1"/>
          <p:nvPr/>
        </p:nvSpPr>
        <p:spPr>
          <a:xfrm>
            <a:off x="731520" y="2520315"/>
            <a:ext cx="7315200" cy="86296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4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EdgeStark</a:t>
            </a:r>
            <a:r>
              <a:rPr lang="en-US" altLang="zh-CN" b="1">
                <a:solidFill>
                  <a:srgbClr val="1E293B"/>
                </a:solidFill>
              </a:rPr>
              <a:t> </a:t>
            </a:r>
            <a:r>
              <a:rPr lang="zh-CN" b="1">
                <a:solidFill>
                  <a:srgbClr val="1E293B"/>
                </a:solidFill>
              </a:rPr>
              <a:t>未来展望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557" name="TextBox 4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Future Outlook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558" name="Rectangle 5"/>
          <p:cNvSpPr/>
          <p:nvPr/>
        </p:nvSpPr>
        <p:spPr>
          <a:xfrm>
            <a:off x="731520" y="3931920"/>
            <a:ext cx="2743200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工业数字孪生可视化平台与全息影像系统——连接、状态、智能的可视化延伸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60" name="TextBox 7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25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63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数字孪生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64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EdgeStark · 数字孪生平台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66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EdgeStark 工业数字孪生可视化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567" name="Rounded Rectangle 6"/>
          <p:cNvSpPr/>
          <p:nvPr/>
        </p:nvSpPr>
        <p:spPr>
          <a:xfrm>
            <a:off x="457200" y="173736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TextBox 7"/>
          <p:cNvSpPr txBox="1"/>
          <p:nvPr/>
        </p:nvSpPr>
        <p:spPr>
          <a:xfrm>
            <a:off x="64008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闭源授权 · 桌面端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569" name="TextBox 8"/>
          <p:cNvSpPr txBox="1"/>
          <p:nvPr/>
        </p:nvSpPr>
        <p:spPr>
          <a:xfrm>
            <a:off x="640080" y="2194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0F172A"/>
                </a:solidFill>
              </a:rPr>
              <a:t>四端渲染与全息影像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570" name="TextBox 9"/>
          <p:cNvSpPr txBox="1"/>
          <p:nvPr/>
        </p:nvSpPr>
        <p:spPr>
          <a:xfrm>
            <a:off x="640080" y="2743200"/>
            <a:ext cx="5029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EdgeStark 以虚拟化引擎为核心，订阅 100+ EdgeCore 网关、1000+ 设备、10 万+ 元数据点，构建工业数字孪生场景。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1" name="TextBox 10"/>
          <p:cNvSpPr txBox="1"/>
          <p:nvPr/>
        </p:nvSpPr>
        <p:spPr>
          <a:xfrm>
            <a:off x="777240" y="347472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72" name="TextBox 11"/>
          <p:cNvSpPr txBox="1"/>
          <p:nvPr/>
        </p:nvSpPr>
        <p:spPr>
          <a:xfrm>
            <a:off x="1005840" y="3474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桌面端渲染：60 FPS / 10K 组件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3" name="TextBox 12"/>
          <p:cNvSpPr txBox="1"/>
          <p:nvPr/>
        </p:nvSpPr>
        <p:spPr>
          <a:xfrm>
            <a:off x="777240" y="3977639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74" name="TextBox 13"/>
          <p:cNvSpPr txBox="1"/>
          <p:nvPr/>
        </p:nvSpPr>
        <p:spPr>
          <a:xfrm>
            <a:off x="1005840" y="3977639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VR 沉浸式：90 FPS / 5K 组件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5" name="TextBox 14"/>
          <p:cNvSpPr txBox="1"/>
          <p:nvPr/>
        </p:nvSpPr>
        <p:spPr>
          <a:xfrm>
            <a:off x="777240" y="448056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76" name="TextBox 15"/>
          <p:cNvSpPr txBox="1"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AR 辅助：虚实叠加巡检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7" name="TextBox 16"/>
          <p:cNvSpPr txBox="1"/>
          <p:nvPr/>
        </p:nvSpPr>
        <p:spPr>
          <a:xfrm>
            <a:off x="777240" y="4983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78" name="TextBox 17"/>
          <p:cNvSpPr txBox="1"/>
          <p:nvPr/>
        </p:nvSpPr>
        <p:spPr>
          <a:xfrm>
            <a:off x="1005840" y="498348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全息投影：沉浸式指挥座舱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79" name="Rounded Rectangle 18"/>
          <p:cNvSpPr/>
          <p:nvPr/>
        </p:nvSpPr>
        <p:spPr>
          <a:xfrm>
            <a:off x="6126480" y="173736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1F5F9">
              <a:alpha val="100000"/>
            </a:srgbClr>
          </a:solidFill>
          <a:ln w="1270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19"/>
          <p:cNvSpPr txBox="1"/>
          <p:nvPr/>
        </p:nvSpPr>
        <p:spPr>
          <a:xfrm>
            <a:off x="6309360" y="1874519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2563EB"/>
                </a:solidFill>
              </a:rPr>
              <a:t>五层架构</a:t>
            </a:r>
            <a:endParaRPr lang="zh-CN" b="1">
              <a:solidFill>
                <a:srgbClr val="2563EB"/>
              </a:solidFill>
            </a:endParaRPr>
          </a:p>
        </p:txBody>
      </p:sp>
      <p:sp>
        <p:nvSpPr>
          <p:cNvPr id="581" name="TextBox 20"/>
          <p:cNvSpPr txBox="1"/>
          <p:nvPr/>
        </p:nvSpPr>
        <p:spPr>
          <a:xfrm>
            <a:off x="6309360" y="2194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0F172A"/>
                </a:solidFill>
              </a:rPr>
              <a:t>分层运行时设计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582" name="TextBox 21"/>
          <p:cNvSpPr txBox="1"/>
          <p:nvPr/>
        </p:nvSpPr>
        <p:spPr>
          <a:xfrm>
            <a:off x="6309360" y="2743200"/>
            <a:ext cx="5029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从元数据缓存到全息输出，五层分离确保性能与可扩展性。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83" name="TextBox 22"/>
          <p:cNvSpPr txBox="1"/>
          <p:nvPr/>
        </p:nvSpPr>
        <p:spPr>
          <a:xfrm>
            <a:off x="6446520" y="347472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84" name="TextBox 23"/>
          <p:cNvSpPr txBox="1"/>
          <p:nvPr/>
        </p:nvSpPr>
        <p:spPr>
          <a:xfrm>
            <a:off x="6675120" y="347472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Metadata Cache：10 万+ 点位元数据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85" name="TextBox 24"/>
          <p:cNvSpPr txBox="1"/>
          <p:nvPr/>
        </p:nvSpPr>
        <p:spPr>
          <a:xfrm>
            <a:off x="6446520" y="3977639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86" name="TextBox 25"/>
          <p:cNvSpPr txBox="1"/>
          <p:nvPr/>
        </p:nvSpPr>
        <p:spPr>
          <a:xfrm>
            <a:off x="6675120" y="3977639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Twin Runtime：实时遥测融合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87" name="TextBox 26"/>
          <p:cNvSpPr txBox="1"/>
          <p:nvPr/>
        </p:nvSpPr>
        <p:spPr>
          <a:xfrm>
            <a:off x="6446520" y="448056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88" name="TextBox 27"/>
          <p:cNvSpPr txBox="1"/>
          <p:nvPr/>
        </p:nvSpPr>
        <p:spPr>
          <a:xfrm>
            <a:off x="6675120" y="448056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Scene Runtime：6 种绑定类型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89" name="TextBox 28"/>
          <p:cNvSpPr txBox="1"/>
          <p:nvPr/>
        </p:nvSpPr>
        <p:spPr>
          <a:xfrm>
            <a:off x="6446520" y="4983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90" name="TextBox 29"/>
          <p:cNvSpPr txBox="1"/>
          <p:nvPr/>
        </p:nvSpPr>
        <p:spPr>
          <a:xfrm>
            <a:off x="6675120" y="498348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Render Runtime：Rapier 物理引擎 (WASM)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91" name="TextBox 30"/>
          <p:cNvSpPr txBox="1"/>
          <p:nvPr/>
        </p:nvSpPr>
        <p:spPr>
          <a:xfrm>
            <a:off x="6446520" y="548640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92" name="TextBox 31"/>
          <p:cNvSpPr txBox="1"/>
          <p:nvPr/>
        </p:nvSpPr>
        <p:spPr>
          <a:xfrm>
            <a:off x="6675120" y="5486400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Holographic Runtime：统一场景模型输出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593" name="TextBox 32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26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96" name="TextBox 2"/>
          <p:cNvSpPr txBox="1"/>
          <p:nvPr/>
        </p:nvSpPr>
        <p:spPr>
          <a:xfrm>
            <a:off x="59436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路线图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597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extBox 4"/>
          <p:cNvSpPr txBox="1"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Roadmap · 生态路线图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599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发展与演进路线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600" name="Rounded Rectangle 6"/>
          <p:cNvSpPr/>
          <p:nvPr/>
        </p:nvSpPr>
        <p:spPr>
          <a:xfrm>
            <a:off x="45720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EFF6FF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Rounded Rectangle 7"/>
          <p:cNvSpPr/>
          <p:nvPr/>
        </p:nvSpPr>
        <p:spPr>
          <a:xfrm>
            <a:off x="64008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0A0E1A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NOW · 2026 Q3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02" name="TextBox 8"/>
          <p:cNvSpPr txBox="1"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EdgeCore 稳定落地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03" name="TextBox 9"/>
          <p:cNvSpPr txBox="1"/>
          <p:nvPr/>
        </p:nvSpPr>
        <p:spPr>
          <a:xfrm>
            <a:off x="68580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04" name="TextBox 10"/>
          <p:cNvSpPr txBox="1"/>
          <p:nvPr/>
        </p:nvSpPr>
        <p:spPr>
          <a:xfrm>
            <a:off x="868680" y="269748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ScanEngine 调度稳定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05" name="TextBox 11"/>
          <p:cNvSpPr txBox="1"/>
          <p:nvPr/>
        </p:nvSpPr>
        <p:spPr>
          <a:xfrm>
            <a:off x="68580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06" name="TextBox 12"/>
          <p:cNvSpPr txBox="1"/>
          <p:nvPr/>
        </p:nvSpPr>
        <p:spPr>
          <a:xfrm>
            <a:off x="868680" y="320040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13 协议全量验证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07" name="TextBox 13"/>
          <p:cNvSpPr txBox="1"/>
          <p:nvPr/>
        </p:nvSpPr>
        <p:spPr>
          <a:xfrm>
            <a:off x="68580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08" name="TextBox 14"/>
          <p:cNvSpPr txBox="1"/>
          <p:nvPr/>
        </p:nvSpPr>
        <p:spPr>
          <a:xfrm>
            <a:off x="86868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EAN 2.0 协议落地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09" name="TextBox 15"/>
          <p:cNvSpPr txBox="1"/>
          <p:nvPr/>
        </p:nvSpPr>
        <p:spPr>
          <a:xfrm>
            <a:off x="68580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10" name="TextBox 16"/>
          <p:cNvSpPr txBox="1"/>
          <p:nvPr/>
        </p:nvSpPr>
        <p:spPr>
          <a:xfrm>
            <a:off x="868680" y="420624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四道发布门禁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11" name="TextBox 17"/>
          <p:cNvSpPr txBox="1"/>
          <p:nvPr/>
        </p:nvSpPr>
        <p:spPr>
          <a:xfrm>
            <a:off x="68580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12" name="TextBox 18"/>
          <p:cNvSpPr txBox="1"/>
          <p:nvPr/>
        </p:nvSpPr>
        <p:spPr>
          <a:xfrm>
            <a:off x="868680" y="470916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MCP 33 工具上线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13" name="Rounded Rectangle 19"/>
          <p:cNvSpPr/>
          <p:nvPr/>
        </p:nvSpPr>
        <p:spPr>
          <a:xfrm>
            <a:off x="329184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Rounded Rectangle 20"/>
          <p:cNvSpPr/>
          <p:nvPr/>
        </p:nvSpPr>
        <p:spPr>
          <a:xfrm>
            <a:off x="347472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NEXT · 2026 Q4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15" name="TextBox 21"/>
          <p:cNvSpPr txBox="1"/>
          <p:nvPr/>
        </p:nvSpPr>
        <p:spPr>
          <a:xfrm>
            <a:off x="347472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EdgeOS 平台增强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16" name="TextBox 22"/>
          <p:cNvSpPr txBox="1"/>
          <p:nvPr/>
        </p:nvSpPr>
        <p:spPr>
          <a:xfrm>
            <a:off x="352044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17" name="TextBox 23"/>
          <p:cNvSpPr txBox="1"/>
          <p:nvPr/>
        </p:nvSpPr>
        <p:spPr>
          <a:xfrm>
            <a:off x="3703320" y="269748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 EdgeOS 集群联邦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18" name="TextBox 24"/>
          <p:cNvSpPr txBox="1"/>
          <p:nvPr/>
        </p:nvSpPr>
        <p:spPr>
          <a:xfrm>
            <a:off x="352044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19" name="TextBox 25"/>
          <p:cNvSpPr txBox="1"/>
          <p:nvPr/>
        </p:nvSpPr>
        <p:spPr>
          <a:xfrm>
            <a:off x="3703320" y="320040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跨域 Agent 编排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0" name="TextBox 26"/>
          <p:cNvSpPr txBox="1"/>
          <p:nvPr/>
        </p:nvSpPr>
        <p:spPr>
          <a:xfrm>
            <a:off x="352044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21" name="TextBox 27"/>
          <p:cNvSpPr txBox="1"/>
          <p:nvPr/>
        </p:nvSpPr>
        <p:spPr>
          <a:xfrm>
            <a:off x="370332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72h Soak 自动化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2" name="TextBox 28"/>
          <p:cNvSpPr txBox="1"/>
          <p:nvPr/>
        </p:nvSpPr>
        <p:spPr>
          <a:xfrm>
            <a:off x="352044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23" name="TextBox 29"/>
          <p:cNvSpPr txBox="1"/>
          <p:nvPr/>
        </p:nvSpPr>
        <p:spPr>
          <a:xfrm>
            <a:off x="3703320" y="420624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工业验证报告归档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4" name="TextBox 30"/>
          <p:cNvSpPr txBox="1"/>
          <p:nvPr/>
        </p:nvSpPr>
        <p:spPr>
          <a:xfrm>
            <a:off x="352044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25" name="TextBox 31"/>
          <p:cNvSpPr txBox="1"/>
          <p:nvPr/>
        </p:nvSpPr>
        <p:spPr>
          <a:xfrm>
            <a:off x="3703320" y="470916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自主处置试点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6" name="Rounded Rectangle 32"/>
          <p:cNvSpPr/>
          <p:nvPr/>
        </p:nvSpPr>
        <p:spPr>
          <a:xfrm>
            <a:off x="612648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ounded Rectangle 33"/>
          <p:cNvSpPr/>
          <p:nvPr/>
        </p:nvSpPr>
        <p:spPr>
          <a:xfrm>
            <a:off x="630936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LATER · 2027 H1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28" name="TextBox 34"/>
          <p:cNvSpPr txBox="1"/>
          <p:nvPr/>
        </p:nvSpPr>
        <p:spPr>
          <a:xfrm>
            <a:off x="630936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EdgeStark 量产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29" name="TextBox 35"/>
          <p:cNvSpPr txBox="1"/>
          <p:nvPr/>
        </p:nvSpPr>
        <p:spPr>
          <a:xfrm>
            <a:off x="635508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0" name="TextBox 36"/>
          <p:cNvSpPr txBox="1"/>
          <p:nvPr/>
        </p:nvSpPr>
        <p:spPr>
          <a:xfrm>
            <a:off x="6537960" y="269748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数字孪生场景模板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31" name="TextBox 37"/>
          <p:cNvSpPr txBox="1"/>
          <p:nvPr/>
        </p:nvSpPr>
        <p:spPr>
          <a:xfrm>
            <a:off x="635508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2" name="TextBox 38"/>
          <p:cNvSpPr txBox="1"/>
          <p:nvPr/>
        </p:nvSpPr>
        <p:spPr>
          <a:xfrm>
            <a:off x="6537960" y="320040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VR/AR 产线验证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33" name="TextBox 39"/>
          <p:cNvSpPr txBox="1"/>
          <p:nvPr/>
        </p:nvSpPr>
        <p:spPr>
          <a:xfrm>
            <a:off x="635508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4" name="TextBox 40"/>
          <p:cNvSpPr txBox="1"/>
          <p:nvPr/>
        </p:nvSpPr>
        <p:spPr>
          <a:xfrm>
            <a:off x="653796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全息投影指挥座舱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35" name="TextBox 41"/>
          <p:cNvSpPr txBox="1"/>
          <p:nvPr/>
        </p:nvSpPr>
        <p:spPr>
          <a:xfrm>
            <a:off x="635508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6" name="TextBox 42"/>
          <p:cNvSpPr txBox="1"/>
          <p:nvPr/>
        </p:nvSpPr>
        <p:spPr>
          <a:xfrm>
            <a:off x="6537960" y="420624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物理引擎产线拆解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37" name="TextBox 43"/>
          <p:cNvSpPr txBox="1"/>
          <p:nvPr/>
        </p:nvSpPr>
        <p:spPr>
          <a:xfrm>
            <a:off x="635508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38" name="TextBox 44"/>
          <p:cNvSpPr txBox="1"/>
          <p:nvPr/>
        </p:nvSpPr>
        <p:spPr>
          <a:xfrm>
            <a:off x="6537960" y="470916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多终端协同交互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39" name="Rounded Rectangle 45"/>
          <p:cNvSpPr/>
          <p:nvPr/>
        </p:nvSpPr>
        <p:spPr>
          <a:xfrm>
            <a:off x="896112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Rounded Rectangle 46"/>
          <p:cNvSpPr/>
          <p:nvPr/>
        </p:nvSpPr>
        <p:spPr>
          <a:xfrm>
            <a:off x="914400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VISION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41" name="TextBox 47"/>
          <p:cNvSpPr txBox="1"/>
          <p:nvPr/>
        </p:nvSpPr>
        <p:spPr>
          <a:xfrm>
            <a:off x="914400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 AI 助手生态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42" name="TextBox 48"/>
          <p:cNvSpPr txBox="1"/>
          <p:nvPr/>
        </p:nvSpPr>
        <p:spPr>
          <a:xfrm>
            <a:off x="918972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43" name="TextBox 49"/>
          <p:cNvSpPr txBox="1"/>
          <p:nvPr/>
        </p:nvSpPr>
        <p:spPr>
          <a:xfrm>
            <a:off x="9372600" y="269748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多 Agent 协同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44" name="TextBox 50"/>
          <p:cNvSpPr txBox="1"/>
          <p:nvPr/>
        </p:nvSpPr>
        <p:spPr>
          <a:xfrm>
            <a:off x="918972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45" name="TextBox 51"/>
          <p:cNvSpPr txBox="1"/>
          <p:nvPr/>
        </p:nvSpPr>
        <p:spPr>
          <a:xfrm>
            <a:off x="9372600" y="320040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自愈与自主运维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46" name="TextBox 52"/>
          <p:cNvSpPr txBox="1"/>
          <p:nvPr/>
        </p:nvSpPr>
        <p:spPr>
          <a:xfrm>
            <a:off x="918972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47" name="TextBox 53"/>
          <p:cNvSpPr txBox="1"/>
          <p:nvPr/>
        </p:nvSpPr>
        <p:spPr>
          <a:xfrm>
            <a:off x="937260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跨站点联邦学习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48" name="TextBox 54"/>
          <p:cNvSpPr txBox="1"/>
          <p:nvPr/>
        </p:nvSpPr>
        <p:spPr>
          <a:xfrm>
            <a:off x="918972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49" name="TextBox 55"/>
          <p:cNvSpPr txBox="1"/>
          <p:nvPr/>
        </p:nvSpPr>
        <p:spPr>
          <a:xfrm>
            <a:off x="9372600" y="420624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工业知识图谱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50" name="TextBox 56"/>
          <p:cNvSpPr txBox="1"/>
          <p:nvPr/>
        </p:nvSpPr>
        <p:spPr>
          <a:xfrm>
            <a:off x="918972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51" name="TextBox 57"/>
          <p:cNvSpPr txBox="1"/>
          <p:nvPr/>
        </p:nvSpPr>
        <p:spPr>
          <a:xfrm>
            <a:off x="9372600" y="470916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开放能力市场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52" name="TextBox 58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27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6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Box 1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EdgeCore 生态系统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655" name="TextBox 2"/>
          <p:cNvSpPr txBox="1"/>
          <p:nvPr/>
        </p:nvSpPr>
        <p:spPr>
          <a:xfrm>
            <a:off x="5943600" y="13716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475569"/>
                </a:solidFill>
              </a:rPr>
              <a:t>总结</a:t>
            </a:r>
            <a:endParaRPr lang="zh-CN">
              <a:solidFill>
                <a:srgbClr val="475569"/>
              </a:solidFill>
            </a:endParaRPr>
          </a:p>
        </p:txBody>
      </p:sp>
      <p:sp>
        <p:nvSpPr>
          <p:cNvPr id="656" name="Rectangle 3"/>
          <p:cNvSpPr/>
          <p:nvPr/>
        </p:nvSpPr>
        <p:spPr>
          <a:xfrm>
            <a:off x="457200" y="384048"/>
            <a:ext cx="11274552" cy="13716"/>
          </a:xfrm>
          <a:prstGeom prst="rect">
            <a:avLst/>
          </a:prstGeom>
          <a:solidFill>
            <a:srgbClr val="93C5F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TextBox 4"/>
          <p:cNvSpPr txBox="1"/>
          <p:nvPr/>
        </p:nvSpPr>
        <p:spPr>
          <a:xfrm>
            <a:off x="457200" y="640080"/>
            <a:ext cx="54864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Summary · 总结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58" name="TextBox 5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F0F2F8"/>
                </a:solidFill>
                <a:latin typeface="宋体" panose="02010600030101010101" pitchFamily="2" charset="-122"/>
              </a:defRPr>
            </a:pPr>
            <a:r>
              <a:rPr lang="zh-CN" b="1">
                <a:solidFill>
                  <a:srgbClr val="1E293B"/>
                </a:solidFill>
              </a:rPr>
              <a:t>EdgeCore 解决方案总结</a:t>
            </a:r>
            <a:endParaRPr lang="zh-CN" b="1">
              <a:solidFill>
                <a:srgbClr val="1E293B"/>
              </a:solidFill>
            </a:endParaRPr>
          </a:p>
        </p:txBody>
      </p:sp>
      <p:sp>
        <p:nvSpPr>
          <p:cNvPr id="659" name="Rounded Rectangle 6"/>
          <p:cNvSpPr/>
          <p:nvPr/>
        </p:nvSpPr>
        <p:spPr>
          <a:xfrm>
            <a:off x="45720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EFF6FF">
              <a:alpha val="100000"/>
            </a:srgbClr>
          </a:solidFill>
          <a:ln w="12700">
            <a:solidFill>
              <a:srgbClr val="F59E0B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ounded Rectangle 7"/>
          <p:cNvSpPr/>
          <p:nvPr/>
        </p:nvSpPr>
        <p:spPr>
          <a:xfrm>
            <a:off x="64008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0A0E1A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01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61" name="TextBox 8"/>
          <p:cNvSpPr txBox="1"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设备连接 · 实时状态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62" name="TextBox 9"/>
          <p:cNvSpPr txBox="1"/>
          <p:nvPr/>
        </p:nvSpPr>
        <p:spPr>
          <a:xfrm>
            <a:off x="68580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63" name="TextBox 10"/>
          <p:cNvSpPr txBox="1"/>
          <p:nvPr/>
        </p:nvSpPr>
        <p:spPr>
          <a:xfrm>
            <a:off x="868680" y="2697480"/>
            <a:ext cx="248539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13 种工业协议统一接入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64" name="TextBox 11"/>
          <p:cNvSpPr txBox="1"/>
          <p:nvPr/>
        </p:nvSpPr>
        <p:spPr>
          <a:xfrm>
            <a:off x="68580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65" name="TextBox 12"/>
          <p:cNvSpPr txBox="1"/>
          <p:nvPr/>
        </p:nvSpPr>
        <p:spPr>
          <a:xfrm>
            <a:off x="868680" y="3200400"/>
            <a:ext cx="7594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Modbus / OPC UA / BACnet / S7 / EtherCAT / IEC 104 / DL/T645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66" name="TextBox 13"/>
          <p:cNvSpPr txBox="1"/>
          <p:nvPr/>
        </p:nvSpPr>
        <p:spPr>
          <a:xfrm>
            <a:off x="68580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67" name="TextBox 14"/>
          <p:cNvSpPr txBox="1"/>
          <p:nvPr/>
        </p:nvSpPr>
        <p:spPr>
          <a:xfrm>
            <a:off x="868680" y="3703320"/>
            <a:ext cx="280543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ShadowCore 内存状态模型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68" name="TextBox 15"/>
          <p:cNvSpPr txBox="1"/>
          <p:nvPr/>
        </p:nvSpPr>
        <p:spPr>
          <a:xfrm>
            <a:off x="68580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69" name="TextBox 16"/>
          <p:cNvSpPr txBox="1"/>
          <p:nvPr/>
        </p:nvSpPr>
        <p:spPr>
          <a:xfrm>
            <a:off x="868680" y="4206240"/>
            <a:ext cx="419989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COW 快照 + 无锁读路径，读延迟 &lt; 5ms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70" name="TextBox 17"/>
          <p:cNvSpPr txBox="1"/>
          <p:nvPr/>
        </p:nvSpPr>
        <p:spPr>
          <a:xfrm>
            <a:off x="68580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71" name="TextBox 18"/>
          <p:cNvSpPr txBox="1"/>
          <p:nvPr/>
        </p:nvSpPr>
        <p:spPr>
          <a:xfrm>
            <a:off x="868680" y="4709160"/>
            <a:ext cx="241681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万 Tag P95 = 1.56ms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72" name="Rounded Rectangle 19"/>
          <p:cNvSpPr/>
          <p:nvPr/>
        </p:nvSpPr>
        <p:spPr>
          <a:xfrm>
            <a:off x="329184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Rounded Rectangle 20"/>
          <p:cNvSpPr/>
          <p:nvPr/>
        </p:nvSpPr>
        <p:spPr>
          <a:xfrm>
            <a:off x="347472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02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74" name="TextBox 21"/>
          <p:cNvSpPr txBox="1"/>
          <p:nvPr/>
        </p:nvSpPr>
        <p:spPr>
          <a:xfrm>
            <a:off x="3474720" y="2240280"/>
            <a:ext cx="248539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智能协同 · 多网关协调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75" name="TextBox 22"/>
          <p:cNvSpPr txBox="1"/>
          <p:nvPr/>
        </p:nvSpPr>
        <p:spPr>
          <a:xfrm>
            <a:off x="352044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76" name="TextBox 23"/>
          <p:cNvSpPr txBox="1"/>
          <p:nvPr/>
        </p:nvSpPr>
        <p:spPr>
          <a:xfrm>
            <a:off x="3703320" y="2697480"/>
            <a:ext cx="253111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AI MCP 标准化能力开放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77" name="TextBox 24"/>
          <p:cNvSpPr txBox="1"/>
          <p:nvPr/>
        </p:nvSpPr>
        <p:spPr>
          <a:xfrm>
            <a:off x="352044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78" name="TextBox 25"/>
          <p:cNvSpPr txBox="1"/>
          <p:nvPr/>
        </p:nvSpPr>
        <p:spPr>
          <a:xfrm>
            <a:off x="3703320" y="3200400"/>
            <a:ext cx="40741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33 Tool + 6 Resource + 13 Prompt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79" name="TextBox 26"/>
          <p:cNvSpPr txBox="1"/>
          <p:nvPr/>
        </p:nvSpPr>
        <p:spPr>
          <a:xfrm>
            <a:off x="352044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80" name="TextBox 27"/>
          <p:cNvSpPr txBox="1"/>
          <p:nvPr/>
        </p:nvSpPr>
        <p:spPr>
          <a:xfrm>
            <a:off x="370332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EdgeOS + EAN 2.0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81" name="TextBox 28"/>
          <p:cNvSpPr txBox="1"/>
          <p:nvPr/>
        </p:nvSpPr>
        <p:spPr>
          <a:xfrm>
            <a:off x="352044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82" name="TextBox 29"/>
          <p:cNvSpPr txBox="1"/>
          <p:nvPr/>
        </p:nvSpPr>
        <p:spPr>
          <a:xfrm>
            <a:off x="3703320" y="4206240"/>
            <a:ext cx="351409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12 台网关 7.5 万 Tag 实机验证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83" name="TextBox 30"/>
          <p:cNvSpPr txBox="1"/>
          <p:nvPr/>
        </p:nvSpPr>
        <p:spPr>
          <a:xfrm>
            <a:off x="352044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84" name="TextBox 31"/>
          <p:cNvSpPr txBox="1"/>
          <p:nvPr/>
        </p:nvSpPr>
        <p:spPr>
          <a:xfrm>
            <a:off x="3703320" y="4709160"/>
            <a:ext cx="45542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Discovery P99=48ms，Invoke P99=112ms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85" name="Rounded Rectangle 32"/>
          <p:cNvSpPr/>
          <p:nvPr/>
        </p:nvSpPr>
        <p:spPr>
          <a:xfrm>
            <a:off x="612648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Rounded Rectangle 33"/>
          <p:cNvSpPr/>
          <p:nvPr/>
        </p:nvSpPr>
        <p:spPr>
          <a:xfrm>
            <a:off x="630936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03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687" name="TextBox 34"/>
          <p:cNvSpPr txBox="1"/>
          <p:nvPr/>
        </p:nvSpPr>
        <p:spPr>
          <a:xfrm>
            <a:off x="630936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工厂落地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88" name="TextBox 35"/>
          <p:cNvSpPr txBox="1"/>
          <p:nvPr/>
        </p:nvSpPr>
        <p:spPr>
          <a:xfrm>
            <a:off x="635508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89" name="TextBox 36"/>
          <p:cNvSpPr txBox="1"/>
          <p:nvPr/>
        </p:nvSpPr>
        <p:spPr>
          <a:xfrm>
            <a:off x="6537960" y="2697480"/>
            <a:ext cx="2336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压铸机：模具寿命预测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0" name="TextBox 37"/>
          <p:cNvSpPr txBox="1"/>
          <p:nvPr/>
        </p:nvSpPr>
        <p:spPr>
          <a:xfrm>
            <a:off x="635508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91" name="TextBox 38"/>
          <p:cNvSpPr txBox="1"/>
          <p:nvPr/>
        </p:nvSpPr>
        <p:spPr>
          <a:xfrm>
            <a:off x="6537960" y="3200400"/>
            <a:ext cx="2382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注塑机：OEE 实时统计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2" name="TextBox 39"/>
          <p:cNvSpPr txBox="1"/>
          <p:nvPr/>
        </p:nvSpPr>
        <p:spPr>
          <a:xfrm>
            <a:off x="635508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93" name="TextBox 40"/>
          <p:cNvSpPr txBox="1"/>
          <p:nvPr/>
        </p:nvSpPr>
        <p:spPr>
          <a:xfrm>
            <a:off x="653796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五轴加工：刀具管理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4" name="TextBox 41"/>
          <p:cNvSpPr txBox="1"/>
          <p:nvPr/>
        </p:nvSpPr>
        <p:spPr>
          <a:xfrm>
            <a:off x="635508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95" name="TextBox 42"/>
          <p:cNvSpPr txBox="1"/>
          <p:nvPr/>
        </p:nvSpPr>
        <p:spPr>
          <a:xfrm>
            <a:off x="6537960" y="4206240"/>
            <a:ext cx="305689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楼宇自动化：BACnet/KNXnet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6" name="TextBox 43"/>
          <p:cNvSpPr txBox="1"/>
          <p:nvPr/>
        </p:nvSpPr>
        <p:spPr>
          <a:xfrm>
            <a:off x="635508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697" name="TextBox 44"/>
          <p:cNvSpPr txBox="1"/>
          <p:nvPr/>
        </p:nvSpPr>
        <p:spPr>
          <a:xfrm>
            <a:off x="6537960" y="4709160"/>
            <a:ext cx="333121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能源管理：DL/T645 + IEC 104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698" name="Rounded Rectangle 45"/>
          <p:cNvSpPr/>
          <p:nvPr/>
        </p:nvSpPr>
        <p:spPr>
          <a:xfrm>
            <a:off x="8961120" y="1645920"/>
            <a:ext cx="2743200" cy="4754880"/>
          </a:xfrm>
          <a:prstGeom prst="roundRect">
            <a:avLst>
              <a:gd name="adj" fmla="val 3000"/>
            </a:avLst>
          </a:prstGeom>
          <a:solidFill>
            <a:srgbClr val="F1F5F9">
              <a:alpha val="100000"/>
            </a:srgbClr>
          </a:solidFill>
          <a:ln w="6350">
            <a:solidFill>
              <a:srgbClr val="CBD5E1">
                <a:alpha val="100000"/>
              </a:srgbClr>
            </a:solidFill>
          </a:ln>
          <a:effectLst>
            <a:outerShdw blurRad="400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9" name="Rounded Rectangle 46"/>
          <p:cNvSpPr/>
          <p:nvPr/>
        </p:nvSpPr>
        <p:spPr>
          <a:xfrm>
            <a:off x="9144000" y="1828800"/>
            <a:ext cx="2377440" cy="27432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900" b="1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04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00" name="TextBox 47"/>
          <p:cNvSpPr txBox="1"/>
          <p:nvPr/>
        </p:nvSpPr>
        <p:spPr>
          <a:xfrm>
            <a:off x="9144000" y="2240280"/>
            <a:ext cx="23774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F0F2F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未来延伸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01" name="TextBox 48"/>
          <p:cNvSpPr txBox="1"/>
          <p:nvPr/>
        </p:nvSpPr>
        <p:spPr>
          <a:xfrm>
            <a:off x="9189720" y="269748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02" name="TextBox 49"/>
          <p:cNvSpPr txBox="1"/>
          <p:nvPr/>
        </p:nvSpPr>
        <p:spPr>
          <a:xfrm>
            <a:off x="9372600" y="2697480"/>
            <a:ext cx="22225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EdgeStark 数字孪生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03" name="TextBox 50"/>
          <p:cNvSpPr txBox="1"/>
          <p:nvPr/>
        </p:nvSpPr>
        <p:spPr>
          <a:xfrm>
            <a:off x="9189720" y="320040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04" name="TextBox 51"/>
          <p:cNvSpPr txBox="1"/>
          <p:nvPr/>
        </p:nvSpPr>
        <p:spPr>
          <a:xfrm>
            <a:off x="9372600" y="320040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VR/AR/全息影像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05" name="TextBox 52"/>
          <p:cNvSpPr txBox="1"/>
          <p:nvPr/>
        </p:nvSpPr>
        <p:spPr>
          <a:xfrm>
            <a:off x="9189720" y="370332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06" name="TextBox 53"/>
          <p:cNvSpPr txBox="1"/>
          <p:nvPr/>
        </p:nvSpPr>
        <p:spPr>
          <a:xfrm>
            <a:off x="9372600" y="370332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10 万+ 点位元数据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07" name="TextBox 54"/>
          <p:cNvSpPr txBox="1"/>
          <p:nvPr/>
        </p:nvSpPr>
        <p:spPr>
          <a:xfrm>
            <a:off x="9189720" y="420624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08" name="TextBox 55"/>
          <p:cNvSpPr txBox="1"/>
          <p:nvPr/>
        </p:nvSpPr>
        <p:spPr>
          <a:xfrm>
            <a:off x="9372600" y="4206240"/>
            <a:ext cx="2148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60 FPS 桌面渲染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09" name="TextBox 56"/>
          <p:cNvSpPr txBox="1"/>
          <p:nvPr/>
        </p:nvSpPr>
        <p:spPr>
          <a:xfrm>
            <a:off x="9189720" y="4709160"/>
            <a:ext cx="137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2563EB"/>
                </a:solidFill>
              </a:rPr>
              <a:t>·</a:t>
            </a:r>
            <a:endParaRPr lang="zh-CN">
              <a:solidFill>
                <a:srgbClr val="2563EB"/>
              </a:solidFill>
            </a:endParaRPr>
          </a:p>
        </p:txBody>
      </p:sp>
      <p:sp>
        <p:nvSpPr>
          <p:cNvPr id="710" name="TextBox 57"/>
          <p:cNvSpPr txBox="1"/>
          <p:nvPr/>
        </p:nvSpPr>
        <p:spPr>
          <a:xfrm>
            <a:off x="9372600" y="4709160"/>
            <a:ext cx="27254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Rapier 物理引擎 (WASM)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11" name="TextBox 58"/>
          <p:cNvSpPr txBox="1"/>
          <p:nvPr/>
        </p:nvSpPr>
        <p:spPr>
          <a:xfrm>
            <a:off x="10515600" y="6400800"/>
            <a:ext cx="1371600" cy="325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28 / 29</a:t>
            </a: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7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Rectangle 1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Rectangle 2"/>
          <p:cNvSpPr/>
          <p:nvPr/>
        </p:nvSpPr>
        <p:spPr>
          <a:xfrm>
            <a:off x="0" y="4389120"/>
            <a:ext cx="12188952" cy="36576"/>
          </a:xfrm>
          <a:prstGeom prst="rect">
            <a:avLst/>
          </a:prstGeom>
          <a:solidFill>
            <a:srgbClr val="F59E0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TextBox 3"/>
          <p:cNvSpPr txBox="1"/>
          <p:nvPr/>
        </p:nvSpPr>
        <p:spPr>
          <a:xfrm>
            <a:off x="0" y="2926080"/>
            <a:ext cx="12188952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7200" b="1">
                <a:solidFill>
                  <a:srgbClr val="D4AF37"/>
                </a:solidFill>
                <a:latin typeface="宋体" panose="02010600030101010101" pitchFamily="2" charset="-122"/>
              </a:defRPr>
            </a:pPr>
            <a:r>
              <a:rPr lang="zh-CN">
                <a:solidFill>
                  <a:srgbClr val="1E293B"/>
                </a:solidFill>
              </a:rPr>
              <a:t>谢 谢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16" name="TextBox 4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600" b="0">
                <a:solidFill>
                  <a:srgbClr val="B8BCC8"/>
                </a:solidFill>
                <a:latin typeface="微软雅黑" panose="020B0503020204020204" charset="-122"/>
              </a:defRPr>
            </a:pPr>
            <a:r>
              <a:rPr lang="zh-CN" b="1">
                <a:solidFill>
                  <a:srgbClr val="0F172A"/>
                </a:solidFill>
              </a:rPr>
              <a:t>连接 · 状态 · 智能 —— 构建工业边缘计算的新范式</a:t>
            </a:r>
            <a:endParaRPr lang="zh-CN" b="1">
              <a:solidFill>
                <a:srgbClr val="0F172A"/>
              </a:solidFill>
            </a:endParaRPr>
          </a:p>
        </p:txBody>
      </p:sp>
      <p:sp>
        <p:nvSpPr>
          <p:cNvPr id="717" name="Rounded Rectangle 5"/>
          <p:cNvSpPr/>
          <p:nvPr/>
        </p:nvSpPr>
        <p:spPr>
          <a:xfrm>
            <a:off x="4114800" y="5303520"/>
            <a:ext cx="128016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EdgeCore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18" name="Rounded Rectangle 6"/>
          <p:cNvSpPr/>
          <p:nvPr/>
        </p:nvSpPr>
        <p:spPr>
          <a:xfrm>
            <a:off x="5577840" y="5303520"/>
            <a:ext cx="128016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EdgeOS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19" name="Rounded Rectangle 7"/>
          <p:cNvSpPr/>
          <p:nvPr/>
        </p:nvSpPr>
        <p:spPr>
          <a:xfrm>
            <a:off x="7040880" y="5303520"/>
            <a:ext cx="1280160" cy="320040"/>
          </a:xfrm>
          <a:prstGeom prst="roundRect">
            <a:avLst>
              <a:gd name="adj" fmla="val 30000"/>
            </a:avLst>
          </a:prstGeom>
          <a:solidFill>
            <a:srgbClr val="2563EB">
              <a:alpha val="100000"/>
            </a:srgbClr>
          </a:solidFill>
          <a:ln w="9525">
            <a:solidFill>
              <a:srgbClr val="CBD5E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lnSpc>
                <a:spcPct val="115000"/>
              </a:lnSpc>
              <a:defRPr sz="1000" b="1">
                <a:solidFill>
                  <a:srgbClr val="D4AF37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FFFFFF"/>
                </a:solidFill>
              </a:rPr>
              <a:t>EdgeStark</a:t>
            </a:r>
            <a:endParaRPr lang="zh-CN">
              <a:solidFill>
                <a:srgbClr val="FFFFFF"/>
              </a:solidFill>
            </a:endParaRPr>
          </a:p>
        </p:txBody>
      </p:sp>
      <p:sp>
        <p:nvSpPr>
          <p:cNvPr id="720" name="TextBox 8"/>
          <p:cNvSpPr txBox="1"/>
          <p:nvPr/>
        </p:nvSpPr>
        <p:spPr>
          <a:xfrm>
            <a:off x="914400" y="6035040"/>
            <a:ext cx="10360152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1E293B"/>
                </a:solidFill>
              </a:rPr>
              <a:t>anviod · 2026-08 · 工业互联网边缘计算研究室</a:t>
            </a:r>
            <a:endParaRPr lang="zh-CN">
              <a:solidFill>
                <a:srgbClr val="1E293B"/>
              </a:solidFill>
            </a:endParaRPr>
          </a:p>
        </p:txBody>
      </p:sp>
      <p:sp>
        <p:nvSpPr>
          <p:cNvPr id="721" name="TextBox 9"/>
          <p:cNvSpPr txBox="1"/>
          <p:nvPr/>
        </p:nvSpPr>
        <p:spPr>
          <a:xfrm>
            <a:off x="10515600" y="6400800"/>
            <a:ext cx="1371600" cy="599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r>
              <a:rPr lang="zh-CN">
                <a:solidFill>
                  <a:srgbClr val="64748B"/>
                </a:solidFill>
              </a:rPr>
              <a:t>29 / 29</a:t>
            </a:r>
            <a:endParaRPr lang="zh-CN">
              <a:solidFill>
                <a:srgbClr val="64748B"/>
              </a:solidFill>
            </a:endParaRPr>
          </a:p>
          <a:p>
            <a:pPr algn="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6E7280"/>
                </a:solidFill>
                <a:latin typeface="微软雅黑" panose="020B0503020204020204" charset="-122"/>
              </a:defRPr>
            </a:pPr>
            <a:endParaRPr lang="zh-CN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2026-08-18T16:10:20Z</dcterms:created>
  <dcterms:modified xsi:type="dcterms:W3CDTF">2026-08-18T16:10:20Z</dcterms:modified>
</cp:coreProperties>
</file>